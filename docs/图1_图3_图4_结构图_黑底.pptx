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协议：控制信号  ·  数据类型  ·  端口连接  ·  执行反馈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" y="475488"/>
            <a:ext cx="5532120" cy="4096512"/>
          </a:xfrm>
          <a:prstGeom prst="rect">
            <a:avLst/>
          </a:prstGeom>
          <a:solidFill>
            <a:srgbClr val="E8D7F0"/>
          </a:solidFill>
          <a:ln w="2222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7B5BA6"/>
                </a:solidFill>
                <a:latin typeface="微软雅黑"/>
                <a:ea typeface="微软雅黑"/>
              </a:rPr>
              <a:t>流程层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914400"/>
            <a:ext cx="1554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上一节点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8840" y="914400"/>
            <a:ext cx="1554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当前节点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0208" y="914400"/>
            <a:ext cx="1554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下一节点</a:t>
            </a:r>
          </a:p>
        </p:txBody>
      </p:sp>
      <p:cxnSp>
        <p:nvCxnSpPr>
          <p:cNvPr id="7" name="Connector 6"/>
          <p:cNvCxnSpPr>
            <a:stCxn id="4" idx="3"/>
            <a:endCxn id="5" idx="1"/>
          </p:cNvCxnSpPr>
          <p:nvPr/>
        </p:nvCxnSpPr>
        <p:spPr>
          <a:xfrm flipV="1">
            <a:off x="1901952" y="1197864"/>
            <a:ext cx="246888" cy="0"/>
          </a:xfrm>
          <a:prstGeom prst="line">
            <a:avLst/>
          </a:prstGeom>
          <a:ln w="19050">
            <a:solidFill>
              <a:srgbClr val="7B5B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5" idx="3"/>
            <a:endCxn id="6" idx="1"/>
          </p:cNvCxnSpPr>
          <p:nvPr/>
        </p:nvCxnSpPr>
        <p:spPr>
          <a:xfrm flipV="1">
            <a:off x="3703320" y="1197864"/>
            <a:ext cx="246888" cy="0"/>
          </a:xfrm>
          <a:prstGeom prst="line">
            <a:avLst/>
          </a:prstGeom>
          <a:ln w="19050">
            <a:solidFill>
              <a:srgbClr val="7B5B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7472" y="1554480"/>
            <a:ext cx="5166360" cy="292608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7B5BA6"/>
                </a:solidFill>
                <a:latin typeface="微软雅黑"/>
                <a:ea typeface="微软雅黑"/>
              </a:rPr>
              <a:t>工作流节点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901952"/>
            <a:ext cx="256032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变量空间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任务变量 · 属性映射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99232" y="1901952"/>
            <a:ext cx="25146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节点生命周期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执行阶段与结果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3200400"/>
            <a:ext cx="256032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控制接口 / 数据端口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控制信号 · 输入输出数据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3200400"/>
            <a:ext cx="25146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触发器：条件 → 动作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更新变量 / 状态 · 发送信号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75488"/>
            <a:ext cx="5532120" cy="4096512"/>
          </a:xfrm>
          <a:prstGeom prst="rect">
            <a:avLst/>
          </a:prstGeom>
          <a:solidFill>
            <a:srgbClr val="E4F0D8"/>
          </a:solidFill>
          <a:ln w="2222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6B8E4E"/>
                </a:solidFill>
                <a:latin typeface="微软雅黑"/>
                <a:ea typeface="微软雅黑"/>
              </a:rPr>
              <a:t>资源层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987552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841248"/>
            <a:ext cx="402336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6B8E4E"/>
                </a:solidFill>
                <a:latin typeface="微软雅黑"/>
                <a:ea typeface="微软雅黑"/>
              </a:rPr>
              <a:t>设备对象模型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99248" y="1280160"/>
            <a:ext cx="3712463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能力模型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属性与能力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操作参数与接口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Adapter 映射契约 · 内在约束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99248" y="2761488"/>
            <a:ext cx="3712463" cy="1325880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状态机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请求处理与状态检查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转移与指令输出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按反馈更新状态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713232"/>
            <a:ext cx="868680" cy="36576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FC3F7"/>
                </a:solidFill>
                <a:latin typeface="微软雅黑"/>
                <a:ea typeface="微软雅黑"/>
              </a:rPr>
              <a:t>能力绑定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15000" y="1554480"/>
            <a:ext cx="758952" cy="0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77840" y="1783080"/>
            <a:ext cx="1005840" cy="64008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FC3F7"/>
                </a:solidFill>
                <a:latin typeface="微软雅黑"/>
                <a:ea typeface="微软雅黑"/>
              </a:rPr>
              <a:t>执行请求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FC3F7"/>
                </a:solidFill>
                <a:latin typeface="微软雅黑"/>
                <a:ea typeface="微软雅黑"/>
              </a:rPr>
              <a:t>控制信号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715000" y="2606040"/>
            <a:ext cx="758952" cy="0"/>
          </a:xfrm>
          <a:prstGeom prst="line">
            <a:avLst/>
          </a:prstGeom>
          <a:ln w="22225">
            <a:solidFill>
              <a:srgbClr val="8BC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577840" y="2743200"/>
            <a:ext cx="1005840" cy="50292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BC34A"/>
                </a:solidFill>
                <a:latin typeface="微软雅黑"/>
                <a:ea typeface="微软雅黑"/>
              </a:rPr>
              <a:t>状态与数据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BC34A"/>
                </a:solidFill>
                <a:latin typeface="微软雅黑"/>
                <a:ea typeface="微软雅黑"/>
              </a:rPr>
              <a:t>反馈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4681728"/>
            <a:ext cx="11859768" cy="1645920"/>
          </a:xfrm>
          <a:prstGeom prst="rect">
            <a:avLst/>
          </a:prstGeom>
          <a:solidFill>
            <a:srgbClr val="F5E6D3"/>
          </a:solidFill>
          <a:ln w="2222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C48A4A"/>
                </a:solidFill>
                <a:latin typeface="微软雅黑"/>
                <a:ea typeface="微软雅黑"/>
              </a:rPr>
              <a:t>约束层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5074920"/>
            <a:ext cx="36118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观测空间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设备状态与属性  /  工作流上下文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5074920"/>
            <a:ext cx="3749039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约束规则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实验室级约束  /  任务约束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0727" y="5074920"/>
            <a:ext cx="370332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响应动作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设备动作  /  警告  /  告警  /  中止</a:t>
            </a:r>
          </a:p>
        </p:txBody>
      </p:sp>
      <p:cxnSp>
        <p:nvCxnSpPr>
          <p:cNvPr id="29" name="Connector 28"/>
          <p:cNvCxnSpPr>
            <a:stCxn id="26" idx="3"/>
            <a:endCxn id="27" idx="1"/>
          </p:cNvCxnSpPr>
          <p:nvPr/>
        </p:nvCxnSpPr>
        <p:spPr>
          <a:xfrm flipV="1">
            <a:off x="3959352" y="5614416"/>
            <a:ext cx="201168" cy="0"/>
          </a:xfrm>
          <a:prstGeom prst="line">
            <a:avLst/>
          </a:prstGeom>
          <a:ln w="22225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27" idx="3"/>
            <a:endCxn id="28" idx="1"/>
          </p:cNvCxnSpPr>
          <p:nvPr/>
        </p:nvCxnSpPr>
        <p:spPr>
          <a:xfrm flipV="1">
            <a:off x="7909559" y="5614416"/>
            <a:ext cx="201168" cy="0"/>
          </a:xfrm>
          <a:prstGeom prst="line">
            <a:avLst/>
          </a:prstGeom>
          <a:ln w="22225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645920" y="4572000"/>
            <a:ext cx="0" cy="109728"/>
          </a:xfrm>
          <a:prstGeom prst="line">
            <a:avLst/>
          </a:prstGeom>
          <a:ln w="22225">
            <a:solidFill>
              <a:srgbClr val="B39DDB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8600" y="4315968"/>
            <a:ext cx="1554480" cy="34747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B39DDB"/>
                </a:solidFill>
                <a:latin typeface="微软雅黑"/>
                <a:ea typeface="微软雅黑"/>
              </a:rPr>
              <a:t>节点变量 / 执行上下文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95360" y="4572000"/>
            <a:ext cx="0" cy="109728"/>
          </a:xfrm>
          <a:prstGeom prst="line">
            <a:avLst/>
          </a:prstGeom>
          <a:ln w="22225">
            <a:solidFill>
              <a:srgbClr val="8BC34A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0" y="4315968"/>
            <a:ext cx="1737360" cy="34747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8BC34A"/>
                </a:solidFill>
                <a:latin typeface="微软雅黑"/>
                <a:ea typeface="微软雅黑"/>
              </a:rPr>
              <a:t>设备状态 / 测量值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5760720" y="4160520"/>
            <a:ext cx="731520" cy="594360"/>
          </a:xfrm>
          <a:prstGeom prst="line">
            <a:avLst/>
          </a:prstGeom>
          <a:ln w="22225">
            <a:solidFill>
              <a:srgbClr val="FF9800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892040" y="4160520"/>
            <a:ext cx="1645920" cy="34747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9800"/>
                </a:solidFill>
                <a:latin typeface="微软雅黑"/>
                <a:ea typeface="微软雅黑"/>
              </a:rPr>
              <a:t>动作经节点 / 状态机接口返回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统一执行路径：请求下行，反馈上行，没有特权旁路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2331720" y="530352"/>
            <a:ext cx="1965960" cy="640080"/>
          </a:xfrm>
          <a:prstGeom prst="rect">
            <a:avLst/>
          </a:prstGeom>
          <a:solidFill>
            <a:srgbClr val="EEEEEE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研究人员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530352"/>
            <a:ext cx="2331720" cy="640080"/>
          </a:xfrm>
          <a:prstGeom prst="rect">
            <a:avLst/>
          </a:prstGeom>
          <a:solidFill>
            <a:srgbClr val="E8D7F0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工作流节点（可选）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530352"/>
            <a:ext cx="19659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大模型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1417320"/>
            <a:ext cx="6995160" cy="2148840"/>
          </a:xfrm>
          <a:prstGeom prst="rect">
            <a:avLst/>
          </a:prstGeom>
          <a:solidFill>
            <a:srgbClr val="E4F0D8"/>
          </a:solidFill>
          <a:ln w="2222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6B8E4E"/>
                </a:solidFill>
                <a:latin typeface="微软雅黑"/>
                <a:ea typeface="微软雅黑"/>
              </a:rPr>
              <a:t>设备模型（能力模型 + 状态机）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828800"/>
            <a:ext cx="2057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请求检查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能力与参数 · 当前状态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828800"/>
            <a:ext cx="2057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状态转移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执行转移动作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1828800"/>
            <a:ext cx="210312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指令输出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按映射契约生成指令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2834640"/>
            <a:ext cx="65836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反馈更新：事件与遥测  →  更新设备状态与属性</a:t>
            </a:r>
          </a:p>
        </p:txBody>
      </p:sp>
      <p:cxnSp>
        <p:nvCxnSpPr>
          <p:cNvPr id="11" name="Connector 10"/>
          <p:cNvCxnSpPr>
            <a:stCxn id="7" idx="3"/>
            <a:endCxn id="8" idx="1"/>
          </p:cNvCxnSpPr>
          <p:nvPr/>
        </p:nvCxnSpPr>
        <p:spPr>
          <a:xfrm flipV="1">
            <a:off x="4572000" y="2286000"/>
            <a:ext cx="182880" cy="0"/>
          </a:xfrm>
          <a:prstGeom prst="line">
            <a:avLst/>
          </a:prstGeom>
          <a:ln w="19050">
            <a:solidFill>
              <a:srgbClr val="6B8E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8" idx="3"/>
            <a:endCxn id="9" idx="1"/>
          </p:cNvCxnSpPr>
          <p:nvPr/>
        </p:nvCxnSpPr>
        <p:spPr>
          <a:xfrm flipV="1">
            <a:off x="6812280" y="2286000"/>
            <a:ext cx="182880" cy="0"/>
          </a:xfrm>
          <a:prstGeom prst="line">
            <a:avLst/>
          </a:prstGeom>
          <a:ln w="19050">
            <a:solidFill>
              <a:srgbClr val="6B8E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331720" y="3767328"/>
            <a:ext cx="6995160" cy="1325880"/>
          </a:xfrm>
          <a:prstGeom prst="rect">
            <a:avLst/>
          </a:prstGeom>
          <a:solidFill>
            <a:srgbClr val="FFF4C2"/>
          </a:solidFill>
          <a:ln w="2222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C4A035"/>
                </a:solidFill>
                <a:latin typeface="微软雅黑"/>
                <a:ea typeface="微软雅黑"/>
              </a:rPr>
              <a:t>Adapter（同一出口，两种模式）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4187952"/>
            <a:ext cx="320040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仿真模式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指令不发往真机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4187952"/>
            <a:ext cx="320040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硬件模式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指令映射为设备协议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5303520"/>
            <a:ext cx="32004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虚拟设备实例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数据模型 / 机理模型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5303520"/>
            <a:ext cx="3200400" cy="777240"/>
          </a:xfrm>
          <a:prstGeom prst="rect">
            <a:avLst/>
          </a:prstGeom>
          <a:solidFill>
            <a:srgbClr val="EEEEEE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真实设备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执行操作 · 返回实测数据</a:t>
            </a:r>
          </a:p>
        </p:txBody>
      </p:sp>
      <p:cxnSp>
        <p:nvCxnSpPr>
          <p:cNvPr id="18" name="Connector 17"/>
          <p:cNvCxnSpPr>
            <a:stCxn id="14" idx="2"/>
            <a:endCxn id="16" idx="0"/>
          </p:cNvCxnSpPr>
          <p:nvPr/>
        </p:nvCxnSpPr>
        <p:spPr>
          <a:xfrm flipH="1">
            <a:off x="4114800" y="4919472"/>
            <a:ext cx="0" cy="384048"/>
          </a:xfrm>
          <a:prstGeom prst="line">
            <a:avLst/>
          </a:prstGeom>
          <a:ln w="22225">
            <a:solidFill>
              <a:srgbClr val="4FC3F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5" idx="2"/>
            <a:endCxn id="17" idx="0"/>
          </p:cNvCxnSpPr>
          <p:nvPr/>
        </p:nvCxnSpPr>
        <p:spPr>
          <a:xfrm flipH="1">
            <a:off x="7498080" y="4919472"/>
            <a:ext cx="0" cy="384048"/>
          </a:xfrm>
          <a:prstGeom prst="line">
            <a:avLst/>
          </a:prstGeom>
          <a:ln w="22225">
            <a:solidFill>
              <a:srgbClr val="FF98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310128" y="1170432"/>
            <a:ext cx="0" cy="246888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41848" y="1170432"/>
            <a:ext cx="0" cy="246888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39328" y="1170432"/>
            <a:ext cx="0" cy="246888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24728" y="3566160"/>
            <a:ext cx="0" cy="201168"/>
          </a:xfrm>
          <a:prstGeom prst="line">
            <a:avLst/>
          </a:prstGeom>
          <a:ln w="22225">
            <a:solidFill>
              <a:srgbClr val="4FC3F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601200" y="1417320"/>
            <a:ext cx="2359152" cy="2011680"/>
          </a:xfrm>
          <a:prstGeom prst="rect">
            <a:avLst/>
          </a:prstGeom>
          <a:solidFill>
            <a:srgbClr val="F5E6D3"/>
          </a:solidFill>
          <a:ln w="1587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约束层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持续观测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设备状态与测量值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违规即响应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警告 · 告警 · 中止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26880" y="2331720"/>
            <a:ext cx="274320" cy="0"/>
          </a:xfrm>
          <a:prstGeom prst="line">
            <a:avLst/>
          </a:prstGeom>
          <a:ln w="22225">
            <a:solidFill>
              <a:srgbClr val="FF9800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17320" y="1234440"/>
            <a:ext cx="0" cy="4526280"/>
          </a:xfrm>
          <a:prstGeom prst="line">
            <a:avLst/>
          </a:prstGeom>
          <a:ln w="31750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0040" y="2926080"/>
            <a:ext cx="1051560" cy="100584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4FC3F7"/>
                </a:solidFill>
                <a:latin typeface="微软雅黑"/>
                <a:ea typeface="微软雅黑"/>
              </a:rPr>
              <a:t>请求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4FC3F7"/>
                </a:solidFill>
                <a:latin typeface="微软雅黑"/>
                <a:ea typeface="微软雅黑"/>
              </a:rPr>
              <a:t>下行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9400032" y="1234440"/>
            <a:ext cx="0" cy="4526280"/>
          </a:xfrm>
          <a:prstGeom prst="line">
            <a:avLst/>
          </a:prstGeom>
          <a:ln w="31750">
            <a:solidFill>
              <a:srgbClr val="8BC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555480" y="4892040"/>
            <a:ext cx="1051560" cy="64008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8BC34A"/>
                </a:solidFill>
                <a:latin typeface="微软雅黑"/>
                <a:ea typeface="微软雅黑"/>
              </a:rPr>
              <a:t>反馈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8BC34A"/>
                </a:solidFill>
                <a:latin typeface="微软雅黑"/>
                <a:ea typeface="微软雅黑"/>
              </a:rPr>
              <a:t>上行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566928"/>
            <a:ext cx="2011680" cy="54864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B0B0B0"/>
                </a:solidFill>
                <a:latin typeface="微软雅黑"/>
                <a:ea typeface="微软雅黑"/>
              </a:rPr>
              <a:t>请求来源不同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B0B0B0"/>
                </a:solidFill>
                <a:latin typeface="微软雅黑"/>
                <a:ea typeface="微软雅黑"/>
              </a:rPr>
              <a:t>入口只有一个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6446520"/>
            <a:ext cx="11795760" cy="34747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B0B0B0"/>
                </a:solidFill>
                <a:latin typeface="微软雅黑"/>
                <a:ea typeface="微软雅黑"/>
              </a:rPr>
              <a:t>无论请求来自谁、无论仿真还是真机，都必须经过设备模型；上层对两种模式的反馈一视同仁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先仿真，后执行：仿真反馈闭环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554480"/>
            <a:ext cx="242316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4FC3F7"/>
                </a:solidFill>
                <a:latin typeface="微软雅黑"/>
                <a:ea typeface="微软雅黑"/>
              </a:rPr>
              <a:t>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993392"/>
            <a:ext cx="2130552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生成或修改方案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工作流模型 / 设备请求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3611880"/>
            <a:ext cx="2130552" cy="1261872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分析反馈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修正步骤、参数、请求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389888" y="3227832"/>
            <a:ext cx="0" cy="384048"/>
          </a:xfrm>
          <a:prstGeom prst="line">
            <a:avLst/>
          </a:prstGeom>
          <a:ln w="22225">
            <a:solidFill>
              <a:srgbClr val="8BC34A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9184" y="3218688"/>
            <a:ext cx="2130552" cy="36576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8BC34A"/>
                </a:solidFill>
                <a:latin typeface="微软雅黑"/>
                <a:ea typeface="微软雅黑"/>
              </a:rPr>
              <a:t>反馈改进方案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502920"/>
            <a:ext cx="3200400" cy="1170432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工作流模型（可选）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组织步骤与数据依赖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工作流节点发出请求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993392"/>
            <a:ext cx="3200400" cy="2468880"/>
          </a:xfrm>
          <a:prstGeom prst="rect">
            <a:avLst/>
          </a:prstGeom>
          <a:solidFill>
            <a:srgbClr val="E4F0D8"/>
          </a:solidFill>
          <a:ln w="2222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6B8E4E"/>
                </a:solidFill>
                <a:latin typeface="微软雅黑"/>
                <a:ea typeface="微软雅黑"/>
              </a:rPr>
              <a:t>设备模型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72384" y="2395728"/>
            <a:ext cx="2907792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处理请求并下发指令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状态检查 / 转移动作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72384" y="3364992"/>
            <a:ext cx="2907792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处理反馈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更新设备状态与属性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502920"/>
            <a:ext cx="5440680" cy="2331720"/>
          </a:xfrm>
          <a:prstGeom prst="rect">
            <a:avLst/>
          </a:prstGeom>
          <a:solidFill>
            <a:srgbClr val="FFF4C2"/>
          </a:solidFill>
          <a:ln w="2222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C4A035"/>
                </a:solidFill>
                <a:latin typeface="微软雅黑"/>
                <a:ea typeface="微软雅黑"/>
              </a:rPr>
              <a:t>仿真模式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512064"/>
            <a:ext cx="2880360" cy="25603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E9E9E"/>
                </a:solidFill>
                <a:latin typeface="微软雅黑"/>
                <a:ea typeface="微软雅黑"/>
              </a:rPr>
              <a:t>Adapter  按所选模式接收指令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02552" y="914400"/>
            <a:ext cx="5111496" cy="1719072"/>
          </a:xfrm>
          <a:prstGeom prst="rect">
            <a:avLst/>
          </a:prstGeom>
          <a:solidFill>
            <a:srgbClr val="FFFFFF"/>
          </a:solidFill>
          <a:ln w="1587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虚拟设备实例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运行开始时按设备创建实例，全程同一实例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响应指令 · 演化状态 · 返回模拟测量值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999232"/>
            <a:ext cx="5440680" cy="1261872"/>
          </a:xfrm>
          <a:prstGeom prst="rect">
            <a:avLst/>
          </a:prstGeom>
          <a:solidFill>
            <a:srgbClr val="F5E6D3"/>
          </a:solidFill>
          <a:ln w="2222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C48A4A"/>
                </a:solidFill>
                <a:latin typeface="微软雅黑"/>
                <a:ea typeface="微软雅黑"/>
              </a:rPr>
              <a:t>硬件模式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2552" y="3401568"/>
            <a:ext cx="5111496" cy="694944"/>
          </a:xfrm>
          <a:prstGeom prst="rect">
            <a:avLst/>
          </a:prstGeom>
          <a:solidFill>
            <a:srgbClr val="FFFFFF"/>
          </a:solidFill>
          <a:ln w="1587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映射指令 / 转换真实反馈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上层指令 → 设备协议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462272"/>
            <a:ext cx="5440680" cy="1024128"/>
          </a:xfrm>
          <a:prstGeom prst="rect">
            <a:avLst/>
          </a:prstGeom>
          <a:solidFill>
            <a:srgbClr val="EEEEEE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真实设备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执行操作，返回实测数据与运行状态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389888" y="1088136"/>
            <a:ext cx="0" cy="905256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89888" y="1088136"/>
            <a:ext cx="1536192" cy="0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4480" y="804672"/>
            <a:ext cx="1280160" cy="27432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FC3F7"/>
                </a:solidFill>
                <a:latin typeface="微软雅黑"/>
                <a:ea typeface="微软雅黑"/>
              </a:rPr>
              <a:t>生成工作流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26280" y="1673352"/>
            <a:ext cx="0" cy="320040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17720" y="1691640"/>
            <a:ext cx="1417320" cy="27432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FC3F7"/>
                </a:solidFill>
                <a:latin typeface="微软雅黑"/>
                <a:ea typeface="微软雅黑"/>
              </a:rPr>
              <a:t>调用设备能力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59736" y="2606040"/>
            <a:ext cx="612648" cy="0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31720" y="2267712"/>
            <a:ext cx="777240" cy="34747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FC3F7"/>
                </a:solidFill>
                <a:latin typeface="微软雅黑"/>
                <a:ea typeface="微软雅黑"/>
              </a:rPr>
              <a:t>直接设备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FC3F7"/>
                </a:solidFill>
                <a:latin typeface="微软雅黑"/>
                <a:ea typeface="微软雅黑"/>
              </a:rPr>
              <a:t>控制请求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80176" y="2834640"/>
            <a:ext cx="557784" cy="0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537960" y="1773936"/>
            <a:ext cx="0" cy="1060704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37960" y="1773936"/>
            <a:ext cx="164592" cy="0"/>
          </a:xfrm>
          <a:prstGeom prst="line">
            <a:avLst/>
          </a:prstGeom>
          <a:ln w="22225">
            <a:solidFill>
              <a:srgbClr val="4FC3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16752" y="2331720"/>
            <a:ext cx="502920" cy="25603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4FC3F7"/>
                </a:solidFill>
                <a:latin typeface="微软雅黑"/>
                <a:ea typeface="微软雅黑"/>
              </a:rPr>
              <a:t>指令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5980176" y="2148840"/>
            <a:ext cx="722376" cy="0"/>
          </a:xfrm>
          <a:prstGeom prst="line">
            <a:avLst/>
          </a:prstGeom>
          <a:ln w="22225">
            <a:solidFill>
              <a:srgbClr val="8BC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3600" y="1874519"/>
            <a:ext cx="640080" cy="27432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8BC34A"/>
                </a:solidFill>
                <a:latin typeface="微软雅黑"/>
                <a:ea typeface="微软雅黑"/>
              </a:rPr>
              <a:t>状态/数据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2459736" y="3813048"/>
            <a:ext cx="612648" cy="0"/>
          </a:xfrm>
          <a:prstGeom prst="line">
            <a:avLst/>
          </a:prstGeom>
          <a:ln w="22225">
            <a:solidFill>
              <a:srgbClr val="8BC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67712" y="4434840"/>
            <a:ext cx="1051560" cy="50292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BC34A"/>
                </a:solidFill>
                <a:latin typeface="微软雅黑"/>
                <a:ea typeface="微软雅黑"/>
              </a:rPr>
              <a:t>仿真反馈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8BC34A"/>
                </a:solidFill>
                <a:latin typeface="微软雅黑"/>
                <a:ea typeface="微软雅黑"/>
              </a:rPr>
              <a:t>状态、数据与约束结果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53728" y="4261104"/>
            <a:ext cx="0" cy="201168"/>
          </a:xfrm>
          <a:prstGeom prst="line">
            <a:avLst/>
          </a:prstGeom>
          <a:ln w="22225">
            <a:solidFill>
              <a:srgbClr val="FF9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680960" y="4187952"/>
            <a:ext cx="1097280" cy="201168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9800"/>
                </a:solidFill>
                <a:latin typeface="微软雅黑"/>
                <a:ea typeface="微软雅黑"/>
              </a:rPr>
              <a:t>设备指令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1338560" y="4261104"/>
            <a:ext cx="0" cy="201168"/>
          </a:xfrm>
          <a:prstGeom prst="line">
            <a:avLst/>
          </a:prstGeom>
          <a:ln w="22225">
            <a:solidFill>
              <a:srgbClr val="8BC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149840" y="4187952"/>
            <a:ext cx="1280160" cy="201168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8BC34A"/>
                </a:solidFill>
                <a:latin typeface="微软雅黑"/>
                <a:ea typeface="微软雅黑"/>
              </a:rPr>
              <a:t>数据 / 状态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" y="6446520"/>
            <a:ext cx="11795760" cy="34747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B0B0B0"/>
                </a:solidFill>
                <a:latin typeface="微软雅黑"/>
                <a:ea typeface="微软雅黑"/>
              </a:rPr>
              <a:t>模拟反馈走同一套模型更新与约束检查  ·  仿真并修正 → 确认可接受 → 上位机发起真机执行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