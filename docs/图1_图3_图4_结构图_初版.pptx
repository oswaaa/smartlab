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2000" b="1">
                <a:solidFill>
                  <a:srgbClr val="1F4E79"/>
                </a:solidFill>
                <a:latin typeface="微软雅黑"/>
                <a:ea typeface="微软雅黑"/>
              </a:rPr>
              <a:t>SmartLab 统一建模框架：三层模型 + Adapter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777240"/>
            <a:ext cx="1828800" cy="5486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905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262626"/>
                </a:solidFill>
                <a:latin typeface="微软雅黑"/>
                <a:ea typeface="微软雅黑"/>
              </a:rPr>
              <a:t>研究人员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777240"/>
            <a:ext cx="1828800" cy="54864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 w="19050">
            <a:solidFill>
              <a:srgbClr val="3F33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大模型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777240"/>
            <a:ext cx="1828800" cy="5486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905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262626"/>
                </a:solidFill>
                <a:latin typeface="微软雅黑"/>
                <a:ea typeface="微软雅黑"/>
              </a:rPr>
              <a:t>预编排工作流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00200"/>
            <a:ext cx="7680960" cy="1325880"/>
          </a:xfrm>
          <a:prstGeom prst="roundRect">
            <a:avLst>
              <a:gd name="adj" fmla="val 5000"/>
            </a:avLst>
          </a:prstGeom>
          <a:solidFill>
            <a:srgbClr val="F5F9FD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645920"/>
            <a:ext cx="7461504" cy="2926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2E75B6"/>
                </a:solidFill>
                <a:latin typeface="微软雅黑"/>
                <a:ea typeface="微软雅黑"/>
              </a:rPr>
              <a:t>流程层：组织任务  ·  工作流模型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1737360" cy="731520"/>
          </a:xfrm>
          <a:prstGeom prst="roundRect">
            <a:avLst>
              <a:gd name="adj" fmla="val 12000"/>
            </a:avLst>
          </a:prstGeom>
          <a:solidFill>
            <a:srgbClr val="DEEBF7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变量空间</a:t>
            </a:r>
          </a:p>
          <a:p>
            <a:pPr algn="ctr"/>
            <a:r>
              <a:rPr sz="900" b="0">
                <a:solidFill>
                  <a:srgbClr val="1F4E79"/>
                </a:solidFill>
                <a:latin typeface="微软雅黑"/>
                <a:ea typeface="微软雅黑"/>
              </a:rPr>
              <a:t>任务变量 · 属性映射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2011680"/>
            <a:ext cx="1737360" cy="731520"/>
          </a:xfrm>
          <a:prstGeom prst="roundRect">
            <a:avLst>
              <a:gd name="adj" fmla="val 12000"/>
            </a:avLst>
          </a:prstGeom>
          <a:solidFill>
            <a:srgbClr val="DEEBF7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节点生命周期</a:t>
            </a:r>
          </a:p>
          <a:p>
            <a:pPr algn="ctr"/>
            <a:r>
              <a:rPr sz="900" b="0">
                <a:solidFill>
                  <a:srgbClr val="1F4E79"/>
                </a:solidFill>
                <a:latin typeface="微软雅黑"/>
                <a:ea typeface="微软雅黑"/>
              </a:rPr>
              <a:t>执行阶段与结果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2011680"/>
            <a:ext cx="1737360" cy="731520"/>
          </a:xfrm>
          <a:prstGeom prst="roundRect">
            <a:avLst>
              <a:gd name="adj" fmla="val 12000"/>
            </a:avLst>
          </a:prstGeom>
          <a:solidFill>
            <a:srgbClr val="DEEBF7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控制接口 · 数据端口</a:t>
            </a:r>
          </a:p>
          <a:p>
            <a:pPr algn="ctr"/>
            <a:r>
              <a:rPr sz="900" b="0">
                <a:solidFill>
                  <a:srgbClr val="1F4E79"/>
                </a:solidFill>
                <a:latin typeface="微软雅黑"/>
                <a:ea typeface="微软雅黑"/>
              </a:rPr>
              <a:t>控制信号 · 输入输出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011680"/>
            <a:ext cx="1737360" cy="731520"/>
          </a:xfrm>
          <a:prstGeom prst="roundRect">
            <a:avLst>
              <a:gd name="adj" fmla="val 12000"/>
            </a:avLst>
          </a:prstGeom>
          <a:solidFill>
            <a:srgbClr val="DEEBF7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触发器</a:t>
            </a:r>
          </a:p>
          <a:p>
            <a:pPr algn="ctr"/>
            <a:r>
              <a:rPr sz="900" b="0">
                <a:solidFill>
                  <a:srgbClr val="1F4E79"/>
                </a:solidFill>
                <a:latin typeface="微软雅黑"/>
                <a:ea typeface="微软雅黑"/>
              </a:rPr>
              <a:t>条件 → 动作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291840"/>
            <a:ext cx="7680960" cy="1417320"/>
          </a:xfrm>
          <a:prstGeom prst="roundRect">
            <a:avLst>
              <a:gd name="adj" fmla="val 5000"/>
            </a:avLst>
          </a:prstGeom>
          <a:solidFill>
            <a:srgbClr val="F6FAF3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3337560"/>
            <a:ext cx="7461504" cy="2926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548235"/>
                </a:solidFill>
                <a:latin typeface="微软雅黑"/>
                <a:ea typeface="微软雅黑"/>
              </a:rPr>
              <a:t>资源层：定义设备  ·  设备能力模型 + 设备状态机模型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03320"/>
            <a:ext cx="3611880" cy="8229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905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375623"/>
                </a:solidFill>
                <a:latin typeface="微软雅黑"/>
                <a:ea typeface="微软雅黑"/>
              </a:rPr>
              <a:t>能力模型：设备能做什么</a:t>
            </a:r>
          </a:p>
          <a:p>
            <a:pPr algn="ctr"/>
            <a:r>
              <a:rPr sz="900" b="0">
                <a:solidFill>
                  <a:srgbClr val="375623"/>
                </a:solidFill>
                <a:latin typeface="微软雅黑"/>
                <a:ea typeface="微软雅黑"/>
              </a:rPr>
              <a:t>属性 · 能力 · 操作参数 · 接口端口 · Adapter 映射契约 · 内在约束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703320"/>
            <a:ext cx="3566160" cy="8229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905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375623"/>
                </a:solidFill>
                <a:latin typeface="微软雅黑"/>
                <a:ea typeface="微软雅黑"/>
              </a:rPr>
              <a:t>状态机：操作如何执行</a:t>
            </a:r>
          </a:p>
          <a:p>
            <a:pPr algn="ctr"/>
            <a:r>
              <a:rPr sz="900" b="0">
                <a:solidFill>
                  <a:srgbClr val="375623"/>
                </a:solidFill>
                <a:latin typeface="微软雅黑"/>
                <a:ea typeface="微软雅黑"/>
              </a:rPr>
              <a:t>请求检查 · 状态转移 · 指令输出 · 反馈更新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074920"/>
            <a:ext cx="7680960" cy="1143000"/>
          </a:xfrm>
          <a:prstGeom prst="roundRect">
            <a:avLst>
              <a:gd name="adj" fmla="val 5000"/>
            </a:avLst>
          </a:prstGeom>
          <a:solidFill>
            <a:srgbClr val="FFFBEE"/>
          </a:solidFill>
          <a:ln w="1587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5120640"/>
            <a:ext cx="7461504" cy="2926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BF9000"/>
                </a:solidFill>
                <a:latin typeface="微软雅黑"/>
                <a:ea typeface="微软雅黑"/>
              </a:rPr>
              <a:t>Adapter 层：连接设备  ·  协议规范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440680"/>
            <a:ext cx="3611880" cy="64008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905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7F6000"/>
                </a:solidFill>
                <a:latin typeface="微软雅黑"/>
                <a:ea typeface="微软雅黑"/>
              </a:rPr>
              <a:t>硬件模式</a:t>
            </a:r>
          </a:p>
          <a:p>
            <a:pPr algn="ctr"/>
            <a:r>
              <a:rPr sz="900" b="0">
                <a:solidFill>
                  <a:srgbClr val="7F6000"/>
                </a:solidFill>
                <a:latin typeface="微软雅黑"/>
                <a:ea typeface="微软雅黑"/>
              </a:rPr>
              <a:t>指令映射为设备协议 → 真实设备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5440680"/>
            <a:ext cx="3566160" cy="640080"/>
          </a:xfrm>
          <a:prstGeom prst="roundRect">
            <a:avLst>
              <a:gd name="adj" fmla="val 12000"/>
            </a:avLst>
          </a:prstGeom>
          <a:solidFill>
            <a:srgbClr val="DAF0EF"/>
          </a:solidFill>
          <a:ln w="19050">
            <a:solidFill>
              <a:srgbClr val="1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0E4F4F"/>
                </a:solidFill>
                <a:latin typeface="微软雅黑"/>
                <a:ea typeface="微软雅黑"/>
              </a:rPr>
              <a:t>仿真模式</a:t>
            </a:r>
          </a:p>
          <a:p>
            <a:pPr algn="ctr"/>
            <a:r>
              <a:rPr sz="900" b="0">
                <a:solidFill>
                  <a:srgbClr val="0E4F4F"/>
                </a:solidFill>
                <a:latin typeface="微软雅黑"/>
                <a:ea typeface="微软雅黑"/>
              </a:rPr>
              <a:t>虚拟设备实例 · 数据 / 机理模型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1600200"/>
            <a:ext cx="3337560" cy="4617720"/>
          </a:xfrm>
          <a:prstGeom prst="roundRect">
            <a:avLst>
              <a:gd name="adj" fmla="val 5000"/>
            </a:avLst>
          </a:prstGeom>
          <a:solidFill>
            <a:srgbClr val="FEF8F4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13648" y="1645920"/>
            <a:ext cx="3118104" cy="2926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C55A11"/>
                </a:solidFill>
                <a:latin typeface="微软雅黑"/>
                <a:ea typeface="微软雅黑"/>
              </a:rPr>
              <a:t>约束层：划定边界  ·  约束模型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2057400"/>
            <a:ext cx="2971800" cy="11430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90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843C0C"/>
                </a:solidFill>
                <a:latin typeface="微软雅黑"/>
                <a:ea typeface="微软雅黑"/>
              </a:rPr>
              <a:t>观测空间</a:t>
            </a:r>
          </a:p>
          <a:p>
            <a:pPr algn="ctr"/>
            <a:r>
              <a:rPr sz="950" b="0">
                <a:solidFill>
                  <a:srgbClr val="843C0C"/>
                </a:solidFill>
                <a:latin typeface="微软雅黑"/>
                <a:ea typeface="微软雅黑"/>
              </a:rPr>
              <a:t>设备状态 · 属性 · 测量值</a:t>
            </a:r>
          </a:p>
          <a:p>
            <a:pPr algn="ctr"/>
            <a:r>
              <a:rPr sz="950" b="0">
                <a:solidFill>
                  <a:srgbClr val="843C0C"/>
                </a:solidFill>
                <a:latin typeface="微软雅黑"/>
                <a:ea typeface="微软雅黑"/>
              </a:rPr>
              <a:t>工作流上下文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3383280"/>
            <a:ext cx="2971800" cy="123444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90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843C0C"/>
                </a:solidFill>
                <a:latin typeface="微软雅黑"/>
                <a:ea typeface="微软雅黑"/>
              </a:rPr>
              <a:t>约束规则</a:t>
            </a:r>
          </a:p>
          <a:p>
            <a:pPr algn="ctr"/>
            <a:r>
              <a:rPr sz="950" b="0">
                <a:solidFill>
                  <a:srgbClr val="843C0C"/>
                </a:solidFill>
                <a:latin typeface="微软雅黑"/>
                <a:ea typeface="微软雅黑"/>
              </a:rPr>
              <a:t>内在约束（状态机处理）</a:t>
            </a:r>
          </a:p>
          <a:p>
            <a:pPr algn="ctr"/>
            <a:r>
              <a:rPr sz="950" b="0">
                <a:solidFill>
                  <a:srgbClr val="843C0C"/>
                </a:solidFill>
                <a:latin typeface="微软雅黑"/>
                <a:ea typeface="微软雅黑"/>
              </a:rPr>
              <a:t>实验室级约束 · 任务约束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4800600"/>
            <a:ext cx="2971800" cy="123444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90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843C0C"/>
                </a:solidFill>
                <a:latin typeface="微软雅黑"/>
                <a:ea typeface="微软雅黑"/>
              </a:rPr>
              <a:t>响应动作</a:t>
            </a:r>
          </a:p>
          <a:p>
            <a:pPr algn="ctr"/>
            <a:r>
              <a:rPr sz="950" b="0">
                <a:solidFill>
                  <a:srgbClr val="843C0C"/>
                </a:solidFill>
                <a:latin typeface="微软雅黑"/>
                <a:ea typeface="微软雅黑"/>
              </a:rPr>
              <a:t>警告 · 告警 · 设备动作 · 中止</a:t>
            </a:r>
          </a:p>
          <a:p>
            <a:pPr algn="ctr"/>
            <a:r>
              <a:rPr sz="950" b="0">
                <a:solidFill>
                  <a:srgbClr val="843C0C"/>
                </a:solidFill>
                <a:latin typeface="微软雅黑"/>
                <a:ea typeface="微软雅黑"/>
              </a:rPr>
              <a:t>经节点 / 状态机接口返回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011680" y="1325880"/>
            <a:ext cx="0" cy="27432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206240" y="1325880"/>
            <a:ext cx="0" cy="27432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400800" y="1325880"/>
            <a:ext cx="0" cy="27432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406640" y="822960"/>
            <a:ext cx="173736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950" b="0">
                <a:solidFill>
                  <a:srgbClr val="595959"/>
                </a:solidFill>
                <a:latin typeface="微软雅黑"/>
                <a:ea typeface="微软雅黑"/>
              </a:rPr>
              <a:t>流程可选，也可</a:t>
            </a:r>
          </a:p>
          <a:p>
            <a:pPr algn="ctr"/>
            <a:r>
              <a:rPr sz="950" b="0">
                <a:solidFill>
                  <a:srgbClr val="595959"/>
                </a:solidFill>
                <a:latin typeface="微软雅黑"/>
                <a:ea typeface="微软雅黑"/>
              </a:rPr>
              <a:t>直接请求设备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926080" y="2926080"/>
            <a:ext cx="0" cy="365760"/>
          </a:xfrm>
          <a:prstGeom prst="line">
            <a:avLst/>
          </a:prstGeom>
          <a:ln w="22225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5486400" y="2926080"/>
            <a:ext cx="0" cy="365760"/>
          </a:xfrm>
          <a:prstGeom prst="line">
            <a:avLst/>
          </a:prstGeom>
          <a:ln w="22225">
            <a:solidFill>
              <a:srgbClr val="5482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188720" y="2944368"/>
            <a:ext cx="1691640" cy="3200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950" b="0">
                <a:solidFill>
                  <a:srgbClr val="2E75B6"/>
                </a:solidFill>
                <a:latin typeface="微软雅黑"/>
                <a:ea typeface="微软雅黑"/>
              </a:rPr>
              <a:t>执行请求 / 控制信号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2944368"/>
            <a:ext cx="1645920" cy="3200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950" b="0">
                <a:solidFill>
                  <a:srgbClr val="548235"/>
                </a:solidFill>
                <a:latin typeface="微软雅黑"/>
                <a:ea typeface="微软雅黑"/>
              </a:rPr>
              <a:t>状态与数据反馈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26080" y="4709160"/>
            <a:ext cx="0" cy="365760"/>
          </a:xfrm>
          <a:prstGeom prst="line">
            <a:avLst/>
          </a:prstGeom>
          <a:ln w="22225">
            <a:solidFill>
              <a:srgbClr val="BF9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486400" y="4709160"/>
            <a:ext cx="0" cy="365760"/>
          </a:xfrm>
          <a:prstGeom prst="line">
            <a:avLst/>
          </a:prstGeom>
          <a:ln w="22225">
            <a:solidFill>
              <a:srgbClr val="BF9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188720" y="4727448"/>
            <a:ext cx="1691640" cy="3200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950" b="0">
                <a:solidFill>
                  <a:srgbClr val="7F6000"/>
                </a:solidFill>
                <a:latin typeface="微软雅黑"/>
                <a:ea typeface="微软雅黑"/>
              </a:rPr>
              <a:t>设备指令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2120" y="4727448"/>
            <a:ext cx="1645920" cy="3200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950" b="0">
                <a:solidFill>
                  <a:srgbClr val="7F6000"/>
                </a:solidFill>
                <a:latin typeface="微软雅黑"/>
                <a:ea typeface="微软雅黑"/>
              </a:rPr>
              <a:t>事件 / 遥测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046720" y="2240280"/>
            <a:ext cx="457200" cy="0"/>
          </a:xfrm>
          <a:prstGeom prst="line">
            <a:avLst/>
          </a:prstGeom>
          <a:ln w="22225">
            <a:solidFill>
              <a:srgbClr val="C55A11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046720" y="3977639"/>
            <a:ext cx="457200" cy="0"/>
          </a:xfrm>
          <a:prstGeom prst="line">
            <a:avLst/>
          </a:prstGeom>
          <a:ln w="22225">
            <a:solidFill>
              <a:srgbClr val="C55A11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973568" y="2286000"/>
            <a:ext cx="603504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900" b="0">
                <a:solidFill>
                  <a:srgbClr val="C55A11"/>
                </a:solidFill>
                <a:latin typeface="微软雅黑"/>
                <a:ea typeface="微软雅黑"/>
              </a:rPr>
              <a:t>观测</a:t>
            </a:r>
          </a:p>
          <a:p>
            <a:pPr algn="ctr"/>
            <a:r>
              <a:rPr sz="900" b="0">
                <a:solidFill>
                  <a:srgbClr val="C55A11"/>
                </a:solidFill>
                <a:latin typeface="微软雅黑"/>
                <a:ea typeface="微软雅黑"/>
              </a:rPr>
              <a:t>响应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73568" y="4023360"/>
            <a:ext cx="603504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900" b="0">
                <a:solidFill>
                  <a:srgbClr val="C55A11"/>
                </a:solidFill>
                <a:latin typeface="微软雅黑"/>
                <a:ea typeface="微软雅黑"/>
              </a:rPr>
              <a:t>观测</a:t>
            </a:r>
          </a:p>
          <a:p>
            <a:pPr algn="ctr"/>
            <a:r>
              <a:rPr sz="900" b="0">
                <a:solidFill>
                  <a:srgbClr val="C55A11"/>
                </a:solidFill>
                <a:latin typeface="微软雅黑"/>
                <a:ea typeface="微软雅黑"/>
              </a:rPr>
              <a:t>响应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6355080"/>
            <a:ext cx="1161288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微软雅黑"/>
                <a:ea typeface="微软雅黑"/>
              </a:rPr>
              <a:t>资源定义设备，流程组织任务，约束划定边界，Adapter 连接真实世界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2000" b="1">
                <a:solidFill>
                  <a:srgbClr val="1F4E79"/>
                </a:solidFill>
                <a:latin typeface="微软雅黑"/>
                <a:ea typeface="微软雅黑"/>
              </a:rPr>
              <a:t>统一执行路径：请求下行，反馈上行，没有特权旁路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468880" y="822960"/>
            <a:ext cx="2011680" cy="6400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905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262626"/>
                </a:solidFill>
                <a:latin typeface="微软雅黑"/>
                <a:ea typeface="微软雅黑"/>
              </a:rPr>
              <a:t>研究人员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00600" y="822960"/>
            <a:ext cx="2011680" cy="640080"/>
          </a:xfrm>
          <a:prstGeom prst="roundRect">
            <a:avLst>
              <a:gd name="adj" fmla="val 12000"/>
            </a:avLst>
          </a:prstGeom>
          <a:solidFill>
            <a:srgbClr val="DEEBF7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工作流节点（可选）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822960"/>
            <a:ext cx="2011680" cy="64008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 w="19050">
            <a:solidFill>
              <a:srgbClr val="3F33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大模型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1920240"/>
            <a:ext cx="6675120" cy="1783080"/>
          </a:xfrm>
          <a:prstGeom prst="roundRect">
            <a:avLst>
              <a:gd name="adj" fmla="val 5000"/>
            </a:avLst>
          </a:prstGeom>
          <a:solidFill>
            <a:srgbClr val="F6FAF3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78608" y="1965960"/>
            <a:ext cx="6455664" cy="2926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548235"/>
                </a:solidFill>
                <a:latin typeface="微软雅黑"/>
                <a:ea typeface="微软雅黑"/>
              </a:rPr>
              <a:t>设备模型（能力模型 + 状态机）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2331720"/>
            <a:ext cx="1828800" cy="685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905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375623"/>
                </a:solidFill>
                <a:latin typeface="微软雅黑"/>
                <a:ea typeface="微软雅黑"/>
              </a:rPr>
              <a:t>请求检查</a:t>
            </a:r>
          </a:p>
          <a:p>
            <a:pPr algn="ctr"/>
            <a:r>
              <a:rPr sz="950" b="0">
                <a:solidFill>
                  <a:srgbClr val="375623"/>
                </a:solidFill>
                <a:latin typeface="微软雅黑"/>
                <a:ea typeface="微软雅黑"/>
              </a:rPr>
              <a:t>能力与参数 · 当前状态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2331720"/>
            <a:ext cx="1828800" cy="685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905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375623"/>
                </a:solidFill>
                <a:latin typeface="微软雅黑"/>
                <a:ea typeface="微软雅黑"/>
              </a:rPr>
              <a:t>状态转移</a:t>
            </a:r>
          </a:p>
          <a:p>
            <a:pPr algn="ctr"/>
            <a:r>
              <a:rPr sz="950" b="0">
                <a:solidFill>
                  <a:srgbClr val="375623"/>
                </a:solidFill>
                <a:latin typeface="微软雅黑"/>
                <a:ea typeface="微软雅黑"/>
              </a:rPr>
              <a:t>执行转移动作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86600" y="2331720"/>
            <a:ext cx="1828800" cy="685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905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375623"/>
                </a:solidFill>
                <a:latin typeface="微软雅黑"/>
                <a:ea typeface="微软雅黑"/>
              </a:rPr>
              <a:t>指令输出</a:t>
            </a:r>
          </a:p>
          <a:p>
            <a:pPr algn="ctr"/>
            <a:r>
              <a:rPr sz="950" b="0">
                <a:solidFill>
                  <a:srgbClr val="375623"/>
                </a:solidFill>
                <a:latin typeface="微软雅黑"/>
                <a:ea typeface="微软雅黑"/>
              </a:rPr>
              <a:t>按映射契约生成指令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3154680"/>
            <a:ext cx="6217920" cy="4114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905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375623"/>
                </a:solidFill>
                <a:latin typeface="微软雅黑"/>
                <a:ea typeface="微软雅黑"/>
              </a:rPr>
              <a:t>反馈更新：事件与遥测 → 更新设备状态与属性</a:t>
            </a:r>
          </a:p>
        </p:txBody>
      </p:sp>
      <p:cxnSp>
        <p:nvCxnSpPr>
          <p:cNvPr id="12" name="Connector 11"/>
          <p:cNvCxnSpPr>
            <a:stCxn id="8" idx="3"/>
            <a:endCxn id="9" idx="1"/>
          </p:cNvCxnSpPr>
          <p:nvPr/>
        </p:nvCxnSpPr>
        <p:spPr>
          <a:xfrm flipV="1">
            <a:off x="4526280" y="2674620"/>
            <a:ext cx="365760" cy="0"/>
          </a:xfrm>
          <a:prstGeom prst="line">
            <a:avLst/>
          </a:prstGeom>
          <a:ln w="22225">
            <a:solidFill>
              <a:srgbClr val="5482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stCxn id="9" idx="3"/>
            <a:endCxn id="10" idx="1"/>
          </p:cNvCxnSpPr>
          <p:nvPr/>
        </p:nvCxnSpPr>
        <p:spPr>
          <a:xfrm flipV="1">
            <a:off x="6720840" y="2674620"/>
            <a:ext cx="365760" cy="0"/>
          </a:xfrm>
          <a:prstGeom prst="line">
            <a:avLst/>
          </a:prstGeom>
          <a:ln w="22225">
            <a:solidFill>
              <a:srgbClr val="5482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468880" y="4114800"/>
            <a:ext cx="6675120" cy="1143000"/>
          </a:xfrm>
          <a:prstGeom prst="roundRect">
            <a:avLst>
              <a:gd name="adj" fmla="val 5000"/>
            </a:avLst>
          </a:prstGeom>
          <a:solidFill>
            <a:srgbClr val="FFFBEE"/>
          </a:solidFill>
          <a:ln w="1587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78608" y="4160520"/>
            <a:ext cx="6455664" cy="2926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BF9000"/>
                </a:solidFill>
                <a:latin typeface="微软雅黑"/>
                <a:ea typeface="微软雅黑"/>
              </a:rPr>
              <a:t>Adapter（同一出口，两种模式）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97480" y="4480560"/>
            <a:ext cx="2971800" cy="640080"/>
          </a:xfrm>
          <a:prstGeom prst="roundRect">
            <a:avLst>
              <a:gd name="adj" fmla="val 12000"/>
            </a:avLst>
          </a:prstGeom>
          <a:solidFill>
            <a:srgbClr val="DAF0EF"/>
          </a:solidFill>
          <a:ln w="19050">
            <a:solidFill>
              <a:srgbClr val="1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0E4F4F"/>
                </a:solidFill>
                <a:latin typeface="微软雅黑"/>
                <a:ea typeface="微软雅黑"/>
              </a:rPr>
              <a:t>仿真模式</a:t>
            </a:r>
          </a:p>
          <a:p>
            <a:pPr algn="ctr"/>
            <a:r>
              <a:rPr sz="950" b="0">
                <a:solidFill>
                  <a:srgbClr val="0E4F4F"/>
                </a:solidFill>
                <a:latin typeface="微软雅黑"/>
                <a:ea typeface="微软雅黑"/>
              </a:rPr>
              <a:t>指令不发往真机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4480560"/>
            <a:ext cx="2971800" cy="64008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905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7F6000"/>
                </a:solidFill>
                <a:latin typeface="微软雅黑"/>
                <a:ea typeface="微软雅黑"/>
              </a:rPr>
              <a:t>硬件模式</a:t>
            </a:r>
          </a:p>
          <a:p>
            <a:pPr algn="ctr"/>
            <a:r>
              <a:rPr sz="950" b="0">
                <a:solidFill>
                  <a:srgbClr val="7F6000"/>
                </a:solidFill>
                <a:latin typeface="微软雅黑"/>
                <a:ea typeface="微软雅黑"/>
              </a:rPr>
              <a:t>指令映射为设备协议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97480" y="5577840"/>
            <a:ext cx="297180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0E4F4F"/>
                </a:solidFill>
                <a:latin typeface="微软雅黑"/>
                <a:ea typeface="微软雅黑"/>
              </a:rPr>
              <a:t>虚拟设备实例</a:t>
            </a:r>
          </a:p>
          <a:p>
            <a:pPr algn="ctr"/>
            <a:r>
              <a:rPr sz="950" b="0">
                <a:solidFill>
                  <a:srgbClr val="0E4F4F"/>
                </a:solidFill>
                <a:latin typeface="微软雅黑"/>
                <a:ea typeface="微软雅黑"/>
              </a:rPr>
              <a:t>数据模型 / 机理模型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5577840"/>
            <a:ext cx="2971800" cy="640080"/>
          </a:xfrm>
          <a:prstGeom prst="roundRect">
            <a:avLst>
              <a:gd name="adj" fmla="val 12000"/>
            </a:avLst>
          </a:prstGeom>
          <a:solidFill>
            <a:srgbClr val="595959"/>
          </a:solidFill>
          <a:ln w="1905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真实设备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微软雅黑"/>
                <a:ea typeface="微软雅黑"/>
              </a:rPr>
              <a:t>执行操作 · 返回实测数据</a:t>
            </a:r>
          </a:p>
        </p:txBody>
      </p:sp>
      <p:cxnSp>
        <p:nvCxnSpPr>
          <p:cNvPr id="20" name="Connector 19"/>
          <p:cNvCxnSpPr>
            <a:stCxn id="16" idx="2"/>
            <a:endCxn id="18" idx="0"/>
          </p:cNvCxnSpPr>
          <p:nvPr/>
        </p:nvCxnSpPr>
        <p:spPr>
          <a:xfrm flipH="1">
            <a:off x="4183380" y="5120640"/>
            <a:ext cx="0" cy="457200"/>
          </a:xfrm>
          <a:prstGeom prst="line">
            <a:avLst/>
          </a:prstGeom>
          <a:ln w="22225">
            <a:solidFill>
              <a:srgbClr val="1B7A7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stCxn id="17" idx="2"/>
            <a:endCxn id="19" idx="0"/>
          </p:cNvCxnSpPr>
          <p:nvPr/>
        </p:nvCxnSpPr>
        <p:spPr>
          <a:xfrm flipH="1">
            <a:off x="7429500" y="5120640"/>
            <a:ext cx="0" cy="457200"/>
          </a:xfrm>
          <a:prstGeom prst="line">
            <a:avLst/>
          </a:prstGeom>
          <a:ln w="22225">
            <a:solidFill>
              <a:srgbClr val="BF9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474720" y="1463040"/>
            <a:ext cx="0" cy="45720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806440" y="1463040"/>
            <a:ext cx="0" cy="45720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138160" y="1463040"/>
            <a:ext cx="0" cy="45720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737360" y="1600200"/>
            <a:ext cx="0" cy="4297680"/>
          </a:xfrm>
          <a:prstGeom prst="line">
            <a:avLst/>
          </a:prstGeom>
          <a:ln w="38100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4400" y="2926080"/>
            <a:ext cx="731520" cy="10972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300" b="1">
                <a:solidFill>
                  <a:srgbClr val="2E75B6"/>
                </a:solidFill>
                <a:latin typeface="微软雅黑"/>
                <a:ea typeface="微软雅黑"/>
              </a:rPr>
              <a:t>请</a:t>
            </a:r>
          </a:p>
          <a:p>
            <a:pPr algn="ctr"/>
            <a:r>
              <a:rPr sz="1300" b="0">
                <a:solidFill>
                  <a:srgbClr val="2E75B6"/>
                </a:solidFill>
                <a:latin typeface="微软雅黑"/>
                <a:ea typeface="微软雅黑"/>
              </a:rPr>
              <a:t>求</a:t>
            </a:r>
          </a:p>
          <a:p>
            <a:pPr algn="ctr"/>
            <a:r>
              <a:rPr sz="1300" b="0">
                <a:solidFill>
                  <a:srgbClr val="2E75B6"/>
                </a:solidFill>
                <a:latin typeface="微软雅黑"/>
                <a:ea typeface="微软雅黑"/>
              </a:rPr>
              <a:t>下</a:t>
            </a:r>
          </a:p>
          <a:p>
            <a:pPr algn="ctr"/>
            <a:r>
              <a:rPr sz="1300" b="0">
                <a:solidFill>
                  <a:srgbClr val="2E75B6"/>
                </a:solidFill>
                <a:latin typeface="微软雅黑"/>
                <a:ea typeface="微软雅黑"/>
              </a:rPr>
              <a:t>行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9692640" y="1005840"/>
            <a:ext cx="0" cy="4892040"/>
          </a:xfrm>
          <a:prstGeom prst="line">
            <a:avLst/>
          </a:prstGeom>
          <a:ln w="38100">
            <a:solidFill>
              <a:srgbClr val="5482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784080" y="2926080"/>
            <a:ext cx="731520" cy="10972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300" b="1">
                <a:solidFill>
                  <a:srgbClr val="548235"/>
                </a:solidFill>
                <a:latin typeface="微软雅黑"/>
                <a:ea typeface="微软雅黑"/>
              </a:rPr>
              <a:t>反</a:t>
            </a:r>
          </a:p>
          <a:p>
            <a:pPr algn="ctr"/>
            <a:r>
              <a:rPr sz="1300" b="0">
                <a:solidFill>
                  <a:srgbClr val="548235"/>
                </a:solidFill>
                <a:latin typeface="微软雅黑"/>
                <a:ea typeface="微软雅黑"/>
              </a:rPr>
              <a:t>馈</a:t>
            </a:r>
          </a:p>
          <a:p>
            <a:pPr algn="ctr"/>
            <a:r>
              <a:rPr sz="1300" b="0">
                <a:solidFill>
                  <a:srgbClr val="548235"/>
                </a:solidFill>
                <a:latin typeface="微软雅黑"/>
                <a:ea typeface="微软雅黑"/>
              </a:rPr>
              <a:t>上</a:t>
            </a:r>
          </a:p>
          <a:p>
            <a:pPr algn="ctr"/>
            <a:r>
              <a:rPr sz="1300" b="0">
                <a:solidFill>
                  <a:srgbClr val="548235"/>
                </a:solidFill>
                <a:latin typeface="微软雅黑"/>
                <a:ea typeface="微软雅黑"/>
              </a:rPr>
              <a:t>行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806440" y="3703320"/>
            <a:ext cx="0" cy="411480"/>
          </a:xfrm>
          <a:prstGeom prst="line">
            <a:avLst/>
          </a:prstGeom>
          <a:ln w="22225">
            <a:solidFill>
              <a:srgbClr val="BF9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424160" y="1920240"/>
            <a:ext cx="1508760" cy="33375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90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843C0C"/>
                </a:solidFill>
                <a:latin typeface="微软雅黑"/>
                <a:ea typeface="微软雅黑"/>
              </a:rPr>
              <a:t>约束层</a:t>
            </a:r>
          </a:p>
          <a:p>
            <a:pPr algn="ctr"/>
            <a:r>
              <a:rPr sz="1050" b="0">
                <a:solidFill>
                  <a:srgbClr val="843C0C"/>
                </a:solidFill>
                <a:latin typeface="微软雅黑"/>
                <a:ea typeface="微软雅黑"/>
              </a:rPr>
              <a:t>持续观测</a:t>
            </a:r>
          </a:p>
          <a:p>
            <a:pPr algn="ctr"/>
            <a:r>
              <a:rPr sz="1050" b="0">
                <a:solidFill>
                  <a:srgbClr val="843C0C"/>
                </a:solidFill>
                <a:latin typeface="微软雅黑"/>
                <a:ea typeface="微软雅黑"/>
              </a:rPr>
              <a:t>设备状态与测量值</a:t>
            </a:r>
          </a:p>
          <a:p>
            <a:pPr algn="ctr"/>
            <a:r>
              <a:rPr sz="1050" b="0">
                <a:solidFill>
                  <a:srgbClr val="843C0C"/>
                </a:solidFill>
                <a:latin typeface="微软雅黑"/>
                <a:ea typeface="微软雅黑"/>
              </a:rPr>
              <a:t/>
            </a:r>
          </a:p>
          <a:p>
            <a:pPr algn="ctr"/>
            <a:r>
              <a:rPr sz="1050" b="0">
                <a:solidFill>
                  <a:srgbClr val="843C0C"/>
                </a:solidFill>
                <a:latin typeface="微软雅黑"/>
                <a:ea typeface="微软雅黑"/>
              </a:rPr>
              <a:t>违规即响应</a:t>
            </a:r>
          </a:p>
          <a:p>
            <a:pPr algn="ctr"/>
            <a:r>
              <a:rPr sz="1050" b="0">
                <a:solidFill>
                  <a:srgbClr val="843C0C"/>
                </a:solidFill>
                <a:latin typeface="微软雅黑"/>
                <a:ea typeface="微软雅黑"/>
              </a:rPr>
              <a:t>警告 · 告警 · 中止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44000" y="2788920"/>
            <a:ext cx="1280160" cy="0"/>
          </a:xfrm>
          <a:prstGeom prst="line">
            <a:avLst/>
          </a:prstGeom>
          <a:ln w="22225">
            <a:solidFill>
              <a:srgbClr val="C55A11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868680"/>
            <a:ext cx="1783080" cy="5486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微软雅黑"/>
                <a:ea typeface="微软雅黑"/>
              </a:rPr>
              <a:t>请求来源不同</a:t>
            </a:r>
          </a:p>
          <a:p>
            <a:pPr algn="ctr"/>
            <a:r>
              <a:rPr sz="1000" b="0">
                <a:solidFill>
                  <a:srgbClr val="595959"/>
                </a:solidFill>
                <a:latin typeface="微软雅黑"/>
                <a:ea typeface="微软雅黑"/>
              </a:rPr>
              <a:t>入口只有一个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355080"/>
            <a:ext cx="1161288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微软雅黑"/>
                <a:ea typeface="微软雅黑"/>
              </a:rPr>
              <a:t>无论请求来自谁、无论仿真还是真机，都必须经过设备模型；上层对两种模式的反馈一视同仁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2000" b="1">
                <a:solidFill>
                  <a:srgbClr val="1F4E79"/>
                </a:solidFill>
                <a:latin typeface="微软雅黑"/>
                <a:ea typeface="微软雅黑"/>
              </a:rPr>
              <a:t>先仿真，后执行：仿真反馈闭环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60520" y="868680"/>
            <a:ext cx="7680960" cy="685800"/>
          </a:xfrm>
          <a:prstGeom prst="roundRect">
            <a:avLst>
              <a:gd name="adj" fmla="val 12000"/>
            </a:avLst>
          </a:prstGeom>
          <a:solidFill>
            <a:srgbClr val="F7F7F7"/>
          </a:solidFill>
          <a:ln w="1905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404040"/>
                </a:solidFill>
                <a:latin typeface="微软雅黑"/>
                <a:ea typeface="微软雅黑"/>
              </a:rPr>
              <a:t>统一的上层：工作流 · 设备模型 · 状态机 · 约束层（仿真与真机共用，零改动）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2514600"/>
            <a:ext cx="1463040" cy="96012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 w="19050">
            <a:solidFill>
              <a:srgbClr val="3F33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大模型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生成 / 修改方案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03120" y="251460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DEEBF7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流程模型</a:t>
            </a:r>
          </a:p>
          <a:p>
            <a:pPr algn="ctr"/>
            <a:r>
              <a:rPr sz="1000" b="0">
                <a:solidFill>
                  <a:srgbClr val="1F4E79"/>
                </a:solidFill>
                <a:latin typeface="微软雅黑"/>
                <a:ea typeface="微软雅黑"/>
              </a:rPr>
              <a:t>或设备请求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1920240"/>
            <a:ext cx="4069080" cy="2194560"/>
          </a:xfrm>
          <a:prstGeom prst="roundRect">
            <a:avLst>
              <a:gd name="adj" fmla="val 5000"/>
            </a:avLst>
          </a:prstGeom>
          <a:solidFill>
            <a:srgbClr val="F3FAFA"/>
          </a:solidFill>
          <a:ln w="15875">
            <a:solidFill>
              <a:srgbClr val="1B7A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70248" y="1965960"/>
            <a:ext cx="3849624" cy="2926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1B7A7A"/>
                </a:solidFill>
                <a:latin typeface="微软雅黑"/>
                <a:ea typeface="微软雅黑"/>
              </a:rPr>
              <a:t>仿真阶段（Adapter 仿真模式）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514600"/>
            <a:ext cx="1737360" cy="960120"/>
          </a:xfrm>
          <a:prstGeom prst="roundRect">
            <a:avLst>
              <a:gd name="adj" fmla="val 12000"/>
            </a:avLst>
          </a:prstGeom>
          <a:solidFill>
            <a:srgbClr val="DAF0EF"/>
          </a:solidFill>
          <a:ln w="19050">
            <a:solidFill>
              <a:srgbClr val="1B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0E4F4F"/>
                </a:solidFill>
                <a:latin typeface="微软雅黑"/>
                <a:ea typeface="微软雅黑"/>
              </a:rPr>
              <a:t>仿真执行</a:t>
            </a:r>
          </a:p>
          <a:p>
            <a:pPr algn="ctr"/>
            <a:r>
              <a:rPr sz="950" b="0">
                <a:solidFill>
                  <a:srgbClr val="0E4F4F"/>
                </a:solidFill>
                <a:latin typeface="微软雅黑"/>
                <a:ea typeface="微软雅黑"/>
              </a:rPr>
              <a:t>虚拟设备实例响应</a:t>
            </a:r>
          </a:p>
          <a:p>
            <a:pPr algn="ctr"/>
            <a:r>
              <a:rPr sz="950" b="0">
                <a:solidFill>
                  <a:srgbClr val="0E4F4F"/>
                </a:solidFill>
                <a:latin typeface="微软雅黑"/>
                <a:ea typeface="微软雅黑"/>
              </a:rPr>
              <a:t>数据 / 机理模型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51460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90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843C0C"/>
                </a:solidFill>
                <a:latin typeface="微软雅黑"/>
                <a:ea typeface="微软雅黑"/>
              </a:rPr>
              <a:t>仿真反馈</a:t>
            </a:r>
          </a:p>
          <a:p>
            <a:pPr algn="ctr"/>
            <a:r>
              <a:rPr sz="950" b="0">
                <a:solidFill>
                  <a:srgbClr val="843C0C"/>
                </a:solidFill>
                <a:latin typeface="微软雅黑"/>
                <a:ea typeface="微软雅黑"/>
              </a:rPr>
              <a:t>状态 · 数据</a:t>
            </a:r>
          </a:p>
          <a:p>
            <a:pPr algn="ctr"/>
            <a:r>
              <a:rPr sz="950" b="0">
                <a:solidFill>
                  <a:srgbClr val="843C0C"/>
                </a:solidFill>
                <a:latin typeface="微软雅黑"/>
                <a:ea typeface="微软雅黑"/>
              </a:rPr>
              <a:t>约束判定结果</a:t>
            </a:r>
          </a:p>
        </p:txBody>
      </p:sp>
      <p:sp>
        <p:nvSpPr>
          <p:cNvPr id="10" name="Diamond 9"/>
          <p:cNvSpPr/>
          <p:nvPr/>
        </p:nvSpPr>
        <p:spPr>
          <a:xfrm>
            <a:off x="8366760" y="2468880"/>
            <a:ext cx="1417320" cy="1051560"/>
          </a:xfrm>
          <a:prstGeom prst="diamond">
            <a:avLst/>
          </a:prstGeom>
          <a:solidFill>
            <a:srgbClr val="E2F0D9"/>
          </a:solidFill>
          <a:ln w="1905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>
                <a:solidFill>
                  <a:srgbClr val="375623"/>
                </a:solidFill>
                <a:latin typeface="微软雅黑"/>
                <a:ea typeface="微软雅黑"/>
              </a:rPr>
              <a:t>可接受？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12680" y="2514600"/>
            <a:ext cx="1828800" cy="960120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 w="190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真机执行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微软雅黑"/>
                <a:ea typeface="微软雅黑"/>
              </a:rPr>
              <a:t>上位机发起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微软雅黑"/>
                <a:ea typeface="微软雅黑"/>
              </a:rPr>
              <a:t>Adapter 硬件模式</a:t>
            </a:r>
          </a:p>
        </p:txBody>
      </p:sp>
      <p:cxnSp>
        <p:nvCxnSpPr>
          <p:cNvPr id="12" name="Connector 11"/>
          <p:cNvCxnSpPr>
            <a:stCxn id="4" idx="3"/>
            <a:endCxn id="5" idx="1"/>
          </p:cNvCxnSpPr>
          <p:nvPr/>
        </p:nvCxnSpPr>
        <p:spPr>
          <a:xfrm flipV="1">
            <a:off x="1783080" y="2994660"/>
            <a:ext cx="32004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stCxn id="5" idx="3"/>
            <a:endCxn id="8" idx="1"/>
          </p:cNvCxnSpPr>
          <p:nvPr/>
        </p:nvCxnSpPr>
        <p:spPr>
          <a:xfrm flipV="1">
            <a:off x="3794760" y="2994660"/>
            <a:ext cx="54864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stCxn id="8" idx="3"/>
            <a:endCxn id="9" idx="1"/>
          </p:cNvCxnSpPr>
          <p:nvPr/>
        </p:nvCxnSpPr>
        <p:spPr>
          <a:xfrm flipV="1">
            <a:off x="6080760" y="2994660"/>
            <a:ext cx="27432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stCxn id="9" idx="3"/>
            <a:endCxn id="10" idx="1"/>
          </p:cNvCxnSpPr>
          <p:nvPr/>
        </p:nvCxnSpPr>
        <p:spPr>
          <a:xfrm flipV="1">
            <a:off x="8046720" y="2994660"/>
            <a:ext cx="32004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stCxn id="10" idx="3"/>
            <a:endCxn id="11" idx="1"/>
          </p:cNvCxnSpPr>
          <p:nvPr/>
        </p:nvCxnSpPr>
        <p:spPr>
          <a:xfrm flipV="1">
            <a:off x="9784080" y="2994660"/>
            <a:ext cx="228600" cy="0"/>
          </a:xfrm>
          <a:prstGeom prst="line">
            <a:avLst/>
          </a:prstGeom>
          <a:ln w="22225">
            <a:solidFill>
              <a:srgbClr val="5482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710928" y="2606040"/>
            <a:ext cx="32004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548235"/>
                </a:solidFill>
                <a:latin typeface="微软雅黑"/>
                <a:ea typeface="微软雅黑"/>
              </a:rPr>
              <a:t>是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12080" y="1554480"/>
            <a:ext cx="0" cy="365760"/>
          </a:xfrm>
          <a:prstGeom prst="line">
            <a:avLst/>
          </a:prstGeom>
          <a:ln w="15875">
            <a:solidFill>
              <a:srgbClr val="59595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927080" y="1554480"/>
            <a:ext cx="0" cy="960120"/>
          </a:xfrm>
          <a:prstGeom prst="line">
            <a:avLst/>
          </a:prstGeom>
          <a:ln w="15875">
            <a:solidFill>
              <a:srgbClr val="59595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972800" y="1783080"/>
            <a:ext cx="91440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950" b="0">
                <a:solidFill>
                  <a:srgbClr val="595959"/>
                </a:solidFill>
                <a:latin typeface="微软雅黑"/>
                <a:ea typeface="微软雅黑"/>
              </a:rPr>
              <a:t>同一套</a:t>
            </a:r>
          </a:p>
          <a:p>
            <a:pPr algn="ctr"/>
            <a:r>
              <a:rPr sz="950" b="0">
                <a:solidFill>
                  <a:srgbClr val="595959"/>
                </a:solidFill>
                <a:latin typeface="微软雅黑"/>
                <a:ea typeface="微软雅黑"/>
              </a:rPr>
              <a:t>规则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1572768"/>
            <a:ext cx="914400" cy="3200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微软雅黑"/>
                <a:ea typeface="微软雅黑"/>
              </a:rPr>
              <a:t>同一套规则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617720"/>
            <a:ext cx="3703320" cy="82296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90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843C0C"/>
                </a:solidFill>
                <a:latin typeface="微软雅黑"/>
                <a:ea typeface="微软雅黑"/>
              </a:rPr>
              <a:t>分析反馈，修改步骤与参数</a:t>
            </a:r>
          </a:p>
          <a:p>
            <a:pPr algn="ctr"/>
            <a:r>
              <a:rPr sz="950" b="0">
                <a:solidFill>
                  <a:srgbClr val="843C0C"/>
                </a:solidFill>
                <a:latin typeface="微软雅黑"/>
                <a:ea typeface="微软雅黑"/>
              </a:rPr>
              <a:t>例：机理模型预测升温导致压力超限，约束层告警</a:t>
            </a:r>
          </a:p>
        </p:txBody>
      </p:sp>
      <p:cxnSp>
        <p:nvCxnSpPr>
          <p:cNvPr id="23" name="Connector 22"/>
          <p:cNvCxnSpPr>
            <a:stCxn id="22" idx="3"/>
            <a:endCxn id="10" idx="2"/>
          </p:cNvCxnSpPr>
          <p:nvPr/>
        </p:nvCxnSpPr>
        <p:spPr>
          <a:xfrm flipV="1">
            <a:off x="8046720" y="3520440"/>
            <a:ext cx="1028700" cy="1508760"/>
          </a:xfrm>
          <a:prstGeom prst="bentConnector2">
            <a:avLst/>
          </a:prstGeom>
          <a:ln w="22225">
            <a:solidFill>
              <a:srgbClr val="C55A11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stCxn id="22" idx="1"/>
            <a:endCxn id="4" idx="2"/>
          </p:cNvCxnSpPr>
          <p:nvPr/>
        </p:nvCxnSpPr>
        <p:spPr>
          <a:xfrm flipH="1" flipV="1">
            <a:off x="1051560" y="3474720"/>
            <a:ext cx="3291840" cy="1554480"/>
          </a:xfrm>
          <a:prstGeom prst="bentConnector2">
            <a:avLst/>
          </a:prstGeom>
          <a:ln w="22225">
            <a:solidFill>
              <a:srgbClr val="C55A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098280" y="3931920"/>
            <a:ext cx="45720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C55A11"/>
                </a:solidFill>
                <a:latin typeface="微软雅黑"/>
                <a:ea typeface="微软雅黑"/>
              </a:rPr>
              <a:t>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617720"/>
            <a:ext cx="292608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C55A11"/>
                </a:solidFill>
                <a:latin typeface="微软雅黑"/>
                <a:ea typeface="微软雅黑"/>
              </a:rPr>
              <a:t>再次仿真，直到结果可接受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12680" y="4343400"/>
            <a:ext cx="1828800" cy="1097280"/>
          </a:xfrm>
          <a:prstGeom prst="roundRect">
            <a:avLst>
              <a:gd name="adj" fmla="val 12000"/>
            </a:avLst>
          </a:prstGeom>
          <a:solidFill>
            <a:srgbClr val="595959"/>
          </a:solidFill>
          <a:ln w="1905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真实设备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微软雅黑"/>
                <a:ea typeface="微软雅黑"/>
              </a:rPr>
              <a:t>约束层持续守护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927080" y="3474720"/>
            <a:ext cx="0" cy="868680"/>
          </a:xfrm>
          <a:prstGeom prst="line">
            <a:avLst/>
          </a:prstGeom>
          <a:ln w="22225">
            <a:solidFill>
              <a:srgbClr val="548235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74320" y="6355080"/>
            <a:ext cx="1161288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微软雅黑"/>
                <a:ea typeface="微软雅黑"/>
              </a:rPr>
              <a:t>仿真中触发的每一次约束违规，都是真机执行时本会发生的一次意外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