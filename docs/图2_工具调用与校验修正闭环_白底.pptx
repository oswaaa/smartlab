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大模型生成流程的工具调用与校验修正闭环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566928"/>
            <a:ext cx="246888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987552"/>
            <a:ext cx="217627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生成或修改流程稿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自然语言需求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按工作流 Schema 规范生成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3127248"/>
            <a:ext cx="217627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分析校验问题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读取问题清单与修复提示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修正步骤、参数后再次提交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435608" y="2404872"/>
            <a:ext cx="0" cy="722376"/>
          </a:xfrm>
          <a:prstGeom prst="line">
            <a:avLst/>
          </a:prstGeom>
          <a:ln w="22225">
            <a:solidFill>
              <a:srgbClr val="558B2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72" y="2450592"/>
            <a:ext cx="2176272" cy="62179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558B2F"/>
                </a:solidFill>
                <a:latin typeface="微软雅黑"/>
                <a:ea typeface="微软雅黑"/>
              </a:rPr>
              <a:t>反馈改进方案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66928"/>
            <a:ext cx="5074920" cy="1993392"/>
          </a:xfrm>
          <a:prstGeom prst="rect">
            <a:avLst/>
          </a:prstGeom>
          <a:solidFill>
            <a:srgbClr val="E8D7F0"/>
          </a:solidFill>
          <a:ln w="2222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7B5BA6"/>
                </a:solidFill>
                <a:latin typeface="微软雅黑"/>
                <a:ea typeface="微软雅黑"/>
              </a:rPr>
              <a:t>①  受控 Agent 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3824" y="960120"/>
            <a:ext cx="153619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查询设备目录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有哪些设备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有哪些能力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2312" y="960120"/>
            <a:ext cx="153619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读取设备模型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能力模型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状态机模型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960120"/>
            <a:ext cx="153619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查阅工作流规范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节点 · 接口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端口连接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566928"/>
            <a:ext cx="3611880" cy="1993392"/>
          </a:xfrm>
          <a:prstGeom prst="rect">
            <a:avLst/>
          </a:prstGeom>
          <a:solidFill>
            <a:srgbClr val="FFF4C2"/>
          </a:solidFill>
          <a:ln w="2222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C4A035"/>
                </a:solidFill>
                <a:latin typeface="微软雅黑"/>
                <a:ea typeface="微软雅黑"/>
              </a:rPr>
              <a:t>统一模型  JSON 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96012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设备能力模型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属性 · 能力 · 契约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04704" y="96012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设备状态机模型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 · 转移 · 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69164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工作流模型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节点 · 连接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04704" y="1691640"/>
            <a:ext cx="1627632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约束模型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可观测对象 · 规则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852928"/>
            <a:ext cx="5989320" cy="1993392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6B8E4E"/>
                </a:solidFill>
                <a:latin typeface="微软雅黑"/>
                <a:ea typeface="微软雅黑"/>
              </a:rPr>
              <a:t>②  规范与校验约束输出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3824" y="3246120"/>
            <a:ext cx="1691640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校验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字段 · 参数是否合法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引用与连接是否匹配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3246120"/>
            <a:ext cx="1691640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结构走图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状态机能否走通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分支能否到达终点</a:t>
            </a:r>
          </a:p>
        </p:txBody>
      </p:sp>
      <p:sp>
        <p:nvSpPr>
          <p:cNvPr id="20" name="Diamond 19"/>
          <p:cNvSpPr/>
          <p:nvPr/>
        </p:nvSpPr>
        <p:spPr>
          <a:xfrm>
            <a:off x="6876288" y="3310128"/>
            <a:ext cx="1874519" cy="12801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A1A1A"/>
                </a:solidFill>
                <a:latin typeface="微软雅黑"/>
                <a:ea typeface="微软雅黑"/>
              </a:rPr>
              <a:t>通过？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246120"/>
            <a:ext cx="2651760" cy="1389888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保存草稿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交付人工审核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再进入先仿真、后执行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5047488"/>
            <a:ext cx="5989320" cy="1170432"/>
          </a:xfrm>
          <a:prstGeom prst="rect">
            <a:avLst/>
          </a:prstGeom>
          <a:solidFill>
            <a:srgbClr val="F5E6D3"/>
          </a:solidFill>
          <a:ln w="2222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C48A4A"/>
                </a:solidFill>
                <a:latin typeface="微软雅黑"/>
                <a:ea typeface="微软雅黑"/>
              </a:rPr>
              <a:t>结构化问题清单  +  修复提示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3824" y="5440680"/>
            <a:ext cx="569671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指出哪里错、为什么错、怎么改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不放宽规则，不自动把错稿修成对稿</a:t>
            </a:r>
          </a:p>
        </p:txBody>
      </p:sp>
      <p:cxnSp>
        <p:nvCxnSpPr>
          <p:cNvPr id="24" name="Connector 23"/>
          <p:cNvCxnSpPr>
            <a:stCxn id="4" idx="0"/>
            <a:endCxn id="9" idx="1"/>
          </p:cNvCxnSpPr>
          <p:nvPr/>
        </p:nvCxnSpPr>
        <p:spPr>
          <a:xfrm>
            <a:off x="1435608" y="987552"/>
            <a:ext cx="1728216" cy="681228"/>
          </a:xfrm>
          <a:prstGeom prst="bentConnector2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93392" y="603504"/>
            <a:ext cx="932688" cy="329184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277BD"/>
                </a:solidFill>
                <a:latin typeface="微软雅黑"/>
                <a:ea typeface="微软雅黑"/>
              </a:rPr>
              <a:t>调用工具</a:t>
            </a:r>
          </a:p>
        </p:txBody>
      </p:sp>
      <p:cxnSp>
        <p:nvCxnSpPr>
          <p:cNvPr id="26" name="Connector 25"/>
          <p:cNvCxnSpPr>
            <a:stCxn id="11" idx="3"/>
            <a:endCxn id="13" idx="1"/>
          </p:cNvCxnSpPr>
          <p:nvPr/>
        </p:nvCxnSpPr>
        <p:spPr>
          <a:xfrm flipV="1">
            <a:off x="7936992" y="1289304"/>
            <a:ext cx="566928" cy="379476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82127" y="1024128"/>
            <a:ext cx="502920" cy="29260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277BD"/>
                </a:solidFill>
                <a:latin typeface="微软雅黑"/>
                <a:ea typeface="微软雅黑"/>
              </a:rPr>
              <a:t>读取</a:t>
            </a:r>
          </a:p>
        </p:txBody>
      </p:sp>
      <p:cxnSp>
        <p:nvCxnSpPr>
          <p:cNvPr id="28" name="Connector 27"/>
          <p:cNvCxnSpPr>
            <a:stCxn id="4" idx="3"/>
            <a:endCxn id="18" idx="1"/>
          </p:cNvCxnSpPr>
          <p:nvPr/>
        </p:nvCxnSpPr>
        <p:spPr>
          <a:xfrm>
            <a:off x="2523744" y="1696212"/>
            <a:ext cx="640080" cy="2244852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67712" y="2606040"/>
            <a:ext cx="10515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277BD"/>
                </a:solidFill>
                <a:latin typeface="微软雅黑"/>
                <a:ea typeface="微软雅黑"/>
              </a:rPr>
              <a:t>生成流程稿</a:t>
            </a:r>
          </a:p>
        </p:txBody>
      </p:sp>
      <p:cxnSp>
        <p:nvCxnSpPr>
          <p:cNvPr id="30" name="Connector 29"/>
          <p:cNvCxnSpPr>
            <a:stCxn id="18" idx="3"/>
            <a:endCxn id="19" idx="1"/>
          </p:cNvCxnSpPr>
          <p:nvPr/>
        </p:nvCxnSpPr>
        <p:spPr>
          <a:xfrm flipV="1">
            <a:off x="4855464" y="3941064"/>
            <a:ext cx="155448" cy="0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9" idx="3"/>
            <a:endCxn id="20" idx="1"/>
          </p:cNvCxnSpPr>
          <p:nvPr/>
        </p:nvCxnSpPr>
        <p:spPr>
          <a:xfrm>
            <a:off x="6702552" y="3941064"/>
            <a:ext cx="173736" cy="9144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20" idx="3"/>
            <a:endCxn id="21" idx="1"/>
          </p:cNvCxnSpPr>
          <p:nvPr/>
        </p:nvCxnSpPr>
        <p:spPr>
          <a:xfrm flipV="1">
            <a:off x="8750807" y="3941064"/>
            <a:ext cx="576073" cy="9144"/>
          </a:xfrm>
          <a:prstGeom prst="line">
            <a:avLst/>
          </a:prstGeom>
          <a:ln w="22225">
            <a:solidFill>
              <a:srgbClr val="558B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32520" y="3520440"/>
            <a:ext cx="502920" cy="29260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58B2F"/>
                </a:solidFill>
                <a:latin typeface="微软雅黑"/>
                <a:ea typeface="微软雅黑"/>
              </a:rPr>
              <a:t>是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09644" y="4636008"/>
            <a:ext cx="0" cy="411480"/>
          </a:xfrm>
          <a:prstGeom prst="line">
            <a:avLst/>
          </a:prstGeom>
          <a:ln w="22225">
            <a:solidFill>
              <a:srgbClr val="E6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56732" y="4636008"/>
            <a:ext cx="0" cy="411480"/>
          </a:xfrm>
          <a:prstGeom prst="line">
            <a:avLst/>
          </a:prstGeom>
          <a:ln w="22225">
            <a:solidFill>
              <a:srgbClr val="E6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0" idx="2"/>
            <a:endCxn id="22" idx="3"/>
          </p:cNvCxnSpPr>
          <p:nvPr/>
        </p:nvCxnSpPr>
        <p:spPr>
          <a:xfrm>
            <a:off x="7813547" y="4590288"/>
            <a:ext cx="1193293" cy="1042416"/>
          </a:xfrm>
          <a:prstGeom prst="bentConnector2">
            <a:avLst/>
          </a:prstGeom>
          <a:ln w="22225">
            <a:solidFill>
              <a:srgbClr val="E65C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96512" y="4663440"/>
            <a:ext cx="658368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E65C00"/>
                </a:solidFill>
                <a:latin typeface="微软雅黑"/>
                <a:ea typeface="微软雅黑"/>
              </a:rPr>
              <a:t>不通过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63440"/>
            <a:ext cx="658368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E65C00"/>
                </a:solidFill>
                <a:latin typeface="微软雅黑"/>
                <a:ea typeface="微软雅黑"/>
              </a:rPr>
              <a:t>未走通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736592"/>
            <a:ext cx="365760" cy="2743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E65C00"/>
                </a:solidFill>
                <a:latin typeface="微软雅黑"/>
                <a:ea typeface="微软雅黑"/>
              </a:rPr>
              <a:t>否</a:t>
            </a:r>
          </a:p>
        </p:txBody>
      </p:sp>
      <p:cxnSp>
        <p:nvCxnSpPr>
          <p:cNvPr id="40" name="Connector 39"/>
          <p:cNvCxnSpPr>
            <a:stCxn id="22" idx="1"/>
            <a:endCxn id="5" idx="2"/>
          </p:cNvCxnSpPr>
          <p:nvPr/>
        </p:nvCxnSpPr>
        <p:spPr>
          <a:xfrm flipH="1" flipV="1">
            <a:off x="1435608" y="4544568"/>
            <a:ext cx="1581912" cy="1088136"/>
          </a:xfrm>
          <a:prstGeom prst="bentConnector2">
            <a:avLst/>
          </a:prstGeom>
          <a:ln w="22225">
            <a:solidFill>
              <a:srgbClr val="558B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691640" y="5029200"/>
            <a:ext cx="1234440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558B2F"/>
                </a:solidFill>
                <a:latin typeface="微软雅黑"/>
                <a:ea typeface="微软雅黑"/>
              </a:rPr>
              <a:t>依提示修正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" y="6355080"/>
            <a:ext cx="11795760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工具管住输入，规范与校验管住输出；写错就报错，由大模型依据问题清单自行修正，直到通过校验与结构走图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