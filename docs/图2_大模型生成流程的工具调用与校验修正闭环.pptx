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/>
                <a:ea typeface="微软雅黑"/>
              </a:rPr>
              <a:t>大模型生成流程的工具调用与校验修正闭环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77240"/>
            <a:ext cx="5349240" cy="160020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2E75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767328" y="813816"/>
            <a:ext cx="5129783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50" b="1">
                <a:solidFill>
                  <a:srgbClr val="2E75B6"/>
                </a:solidFill>
                <a:latin typeface="微软雅黑"/>
                <a:ea typeface="微软雅黑"/>
              </a:rPr>
              <a:t>① 工具约束输入：受控 Agent 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18872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查询设备目录</a:t>
            </a:r>
          </a:p>
          <a:p>
            <a:pPr algn="ctr"/>
            <a:r>
              <a:rPr sz="950">
                <a:solidFill>
                  <a:srgbClr val="1F4E79"/>
                </a:solidFill>
                <a:latin typeface="微软雅黑"/>
                <a:ea typeface="微软雅黑"/>
              </a:rPr>
              <a:t>有哪些设备与能力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54980" y="118872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读取设备模型</a:t>
            </a:r>
          </a:p>
          <a:p>
            <a:pPr algn="ctr"/>
            <a:r>
              <a:rPr sz="950">
                <a:solidFill>
                  <a:srgbClr val="1F4E79"/>
                </a:solidFill>
                <a:latin typeface="微软雅黑"/>
                <a:ea typeface="微软雅黑"/>
              </a:rPr>
              <a:t>能力模型 + 状态机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188720"/>
            <a:ext cx="1554480" cy="960120"/>
          </a:xfrm>
          <a:prstGeom prst="roundRect">
            <a:avLst>
              <a:gd name="adj" fmla="val 12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查阅工作流规范</a:t>
            </a:r>
          </a:p>
          <a:p>
            <a:pPr algn="ctr"/>
            <a:r>
              <a:rPr sz="950">
                <a:solidFill>
                  <a:srgbClr val="1F4E79"/>
                </a:solidFill>
                <a:latin typeface="微软雅黑"/>
                <a:ea typeface="微软雅黑"/>
              </a:rPr>
              <a:t>节点与连接结构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91440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905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7F6000"/>
                </a:solidFill>
                <a:latin typeface="微软雅黑"/>
                <a:ea typeface="微软雅黑"/>
              </a:rPr>
              <a:t>统一模型（JSON Schema）</a:t>
            </a:r>
          </a:p>
          <a:p>
            <a:pPr algn="ctr"/>
            <a:r>
              <a:rPr sz="950">
                <a:solidFill>
                  <a:srgbClr val="7F6000"/>
                </a:solidFill>
                <a:latin typeface="微软雅黑"/>
                <a:ea typeface="微软雅黑"/>
              </a:rPr>
              <a:t>设备能力模型 · 设备状态机模型</a:t>
            </a:r>
          </a:p>
          <a:p>
            <a:pPr algn="ctr"/>
            <a:r>
              <a:rPr sz="950">
                <a:solidFill>
                  <a:srgbClr val="7F6000"/>
                </a:solidFill>
                <a:latin typeface="微软雅黑"/>
                <a:ea typeface="微软雅黑"/>
              </a:rPr>
              <a:t>工作流模型 · 约束模型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0896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62626"/>
                </a:solidFill>
                <a:latin typeface="微软雅黑"/>
                <a:ea typeface="微软雅黑"/>
              </a:rPr>
              <a:t>用户需求</a:t>
            </a:r>
          </a:p>
          <a:p>
            <a:pPr algn="ctr"/>
            <a:r>
              <a:rPr sz="1000">
                <a:solidFill>
                  <a:srgbClr val="262626"/>
                </a:solidFill>
                <a:latin typeface="微软雅黑"/>
                <a:ea typeface="微软雅黑"/>
              </a:rPr>
              <a:t>自然语言描述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310896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 w="19050">
            <a:solidFill>
              <a:srgbClr val="3F3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大模型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微软雅黑"/>
                <a:ea typeface="微软雅黑"/>
              </a:rPr>
              <a:t>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1089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生成流程稿</a:t>
            </a:r>
          </a:p>
          <a:p>
            <a:pPr algn="ctr"/>
            <a:r>
              <a:rPr sz="950">
                <a:solidFill>
                  <a:srgbClr val="375623"/>
                </a:solidFill>
                <a:latin typeface="微软雅黑"/>
                <a:ea typeface="微软雅黑"/>
              </a:rPr>
              <a:t>按 Schema 规范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606040"/>
            <a:ext cx="4709160" cy="1874519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5482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596128" y="2642616"/>
            <a:ext cx="4489704" cy="29260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150" b="1">
                <a:solidFill>
                  <a:srgbClr val="548235"/>
                </a:solidFill>
                <a:latin typeface="微软雅黑"/>
                <a:ea typeface="微软雅黑"/>
              </a:rPr>
              <a:t>② 规范与校验约束输出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1089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校验</a:t>
            </a:r>
          </a:p>
          <a:p>
            <a:pPr algn="ctr"/>
            <a:r>
              <a:rPr sz="950">
                <a:solidFill>
                  <a:srgbClr val="375623"/>
                </a:solidFill>
                <a:latin typeface="微软雅黑"/>
                <a:ea typeface="微软雅黑"/>
              </a:rPr>
              <a:t>字段 · 参数 · 引用 · 连接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310896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375623"/>
                </a:solidFill>
                <a:latin typeface="微软雅黑"/>
                <a:ea typeface="微软雅黑"/>
              </a:rPr>
              <a:t>结构走图</a:t>
            </a:r>
          </a:p>
          <a:p>
            <a:pPr algn="ctr"/>
            <a:r>
              <a:rPr sz="950">
                <a:solidFill>
                  <a:srgbClr val="375623"/>
                </a:solidFill>
                <a:latin typeface="微软雅黑"/>
                <a:ea typeface="微软雅黑"/>
              </a:rPr>
              <a:t>状态机走通 · 分支可达</a:t>
            </a:r>
          </a:p>
        </p:txBody>
      </p:sp>
      <p:sp>
        <p:nvSpPr>
          <p:cNvPr id="16" name="Diamond 15"/>
          <p:cNvSpPr/>
          <p:nvPr/>
        </p:nvSpPr>
        <p:spPr>
          <a:xfrm>
            <a:off x="9034272" y="3127248"/>
            <a:ext cx="1143000" cy="877824"/>
          </a:xfrm>
          <a:prstGeom prst="diamond">
            <a:avLst/>
          </a:prstGeom>
          <a:solidFill>
            <a:srgbClr val="E2F0D9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375623"/>
                </a:solidFill>
                <a:latin typeface="微软雅黑"/>
                <a:ea typeface="微软雅黑"/>
              </a:rPr>
              <a:t>通过？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1320" y="310896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保存草稿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微软雅黑"/>
                <a:ea typeface="微软雅黑"/>
              </a:rPr>
              <a:t>交付人工审核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5074920"/>
            <a:ext cx="3154680" cy="8686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843C0C"/>
                </a:solidFill>
                <a:latin typeface="微软雅黑"/>
                <a:ea typeface="微软雅黑"/>
              </a:rPr>
              <a:t>结构化问题清单 + 修复提示</a:t>
            </a:r>
          </a:p>
          <a:p>
            <a:pPr algn="ctr"/>
            <a:r>
              <a:rPr sz="950">
                <a:solidFill>
                  <a:srgbClr val="843C0C"/>
                </a:solidFill>
                <a:latin typeface="微软雅黑"/>
                <a:ea typeface="微软雅黑"/>
              </a:rPr>
              <a:t>指出哪里错、为什么错、怎么改</a:t>
            </a:r>
          </a:p>
        </p:txBody>
      </p:sp>
      <p:cxnSp>
        <p:nvCxnSpPr>
          <p:cNvPr id="19" name="Connector 18"/>
          <p:cNvCxnSpPr>
            <a:stCxn id="9" idx="3"/>
            <a:endCxn id="10" idx="1"/>
          </p:cNvCxnSpPr>
          <p:nvPr/>
        </p:nvCxnSpPr>
        <p:spPr>
          <a:xfrm flipV="1">
            <a:off x="1600200" y="356616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3"/>
            <a:endCxn id="11" idx="1"/>
          </p:cNvCxnSpPr>
          <p:nvPr/>
        </p:nvCxnSpPr>
        <p:spPr>
          <a:xfrm flipV="1">
            <a:off x="3383280" y="356616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1" idx="3"/>
            <a:endCxn id="14" idx="1"/>
          </p:cNvCxnSpPr>
          <p:nvPr/>
        </p:nvCxnSpPr>
        <p:spPr>
          <a:xfrm flipV="1">
            <a:off x="5394960" y="3566160"/>
            <a:ext cx="2743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3"/>
            <a:endCxn id="15" idx="1"/>
          </p:cNvCxnSpPr>
          <p:nvPr/>
        </p:nvCxnSpPr>
        <p:spPr>
          <a:xfrm flipV="1">
            <a:off x="7132320" y="3566160"/>
            <a:ext cx="2286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5" idx="3"/>
            <a:endCxn id="16" idx="1"/>
          </p:cNvCxnSpPr>
          <p:nvPr/>
        </p:nvCxnSpPr>
        <p:spPr>
          <a:xfrm flipV="1">
            <a:off x="8823960" y="3566160"/>
            <a:ext cx="210312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6" idx="3"/>
            <a:endCxn id="17" idx="1"/>
          </p:cNvCxnSpPr>
          <p:nvPr/>
        </p:nvCxnSpPr>
        <p:spPr>
          <a:xfrm flipV="1">
            <a:off x="10177272" y="3566160"/>
            <a:ext cx="384048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8" idx="1"/>
            <a:endCxn id="7" idx="3"/>
          </p:cNvCxnSpPr>
          <p:nvPr/>
        </p:nvCxnSpPr>
        <p:spPr>
          <a:xfrm flipH="1">
            <a:off x="8823960" y="1577340"/>
            <a:ext cx="640080" cy="914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5" idx="1"/>
            <a:endCxn id="10" idx="0"/>
          </p:cNvCxnSpPr>
          <p:nvPr/>
        </p:nvCxnSpPr>
        <p:spPr>
          <a:xfrm flipH="1">
            <a:off x="2674620" y="1668780"/>
            <a:ext cx="1165860" cy="1440180"/>
          </a:xfrm>
          <a:prstGeom prst="bentConnector2">
            <a:avLst/>
          </a:prstGeom>
          <a:ln w="22225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18" idx="1"/>
            <a:endCxn id="10" idx="2"/>
          </p:cNvCxnSpPr>
          <p:nvPr/>
        </p:nvCxnSpPr>
        <p:spPr>
          <a:xfrm flipH="1" flipV="1">
            <a:off x="2674620" y="4023360"/>
            <a:ext cx="2994660" cy="1485900"/>
          </a:xfrm>
          <a:prstGeom prst="bentConnector2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8" idx="3"/>
            <a:endCxn id="16" idx="2"/>
          </p:cNvCxnSpPr>
          <p:nvPr/>
        </p:nvCxnSpPr>
        <p:spPr>
          <a:xfrm flipV="1">
            <a:off x="8823960" y="4005072"/>
            <a:ext cx="781812" cy="1504188"/>
          </a:xfrm>
          <a:prstGeom prst="bentConnector2">
            <a:avLst/>
          </a:prstGeom>
          <a:ln w="22225">
            <a:solidFill>
              <a:srgbClr val="C55A11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00800" y="4023360"/>
            <a:ext cx="0" cy="105156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92440" y="4023360"/>
            <a:ext cx="0" cy="1051560"/>
          </a:xfrm>
          <a:prstGeom prst="line">
            <a:avLst/>
          </a:prstGeom>
          <a:ln w="22225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97480" y="1325880"/>
            <a:ext cx="960120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查询 / 返回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1216152"/>
            <a:ext cx="68580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  <a:ea typeface="微软雅黑"/>
              </a:rPr>
              <a:t>读取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31552" y="3200400"/>
            <a:ext cx="4572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375623"/>
                </a:solidFill>
                <a:latin typeface="微软雅黑"/>
                <a:ea typeface="微软雅黑"/>
              </a:rPr>
              <a:t>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617720"/>
            <a:ext cx="4572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1">
                <a:solidFill>
                  <a:srgbClr val="C55A11"/>
                </a:solidFill>
                <a:latin typeface="微软雅黑"/>
                <a:ea typeface="微软雅黑"/>
              </a:rPr>
              <a:t>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26280"/>
            <a:ext cx="6858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C55A11"/>
                </a:solidFill>
                <a:latin typeface="微软雅黑"/>
                <a:ea typeface="微软雅黑"/>
              </a:rPr>
              <a:t>不通过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526280"/>
            <a:ext cx="68580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950" b="0">
                <a:solidFill>
                  <a:srgbClr val="C55A11"/>
                </a:solidFill>
                <a:latin typeface="微软雅黑"/>
                <a:ea typeface="微软雅黑"/>
              </a:rPr>
              <a:t>未走通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029200"/>
            <a:ext cx="283464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50" b="1">
                <a:solidFill>
                  <a:srgbClr val="C55A11"/>
                </a:solidFill>
                <a:latin typeface="微软雅黑"/>
                <a:ea typeface="微软雅黑"/>
              </a:rPr>
              <a:t>依问题清单修正，再次提交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4114800"/>
            <a:ext cx="182880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通过后进入</a:t>
            </a:r>
          </a:p>
          <a:p>
            <a:pPr algn="ctr"/>
            <a:r>
              <a:rPr sz="1000">
                <a:solidFill>
                  <a:srgbClr val="595959"/>
                </a:solidFill>
                <a:latin typeface="微软雅黑"/>
                <a:ea typeface="微软雅黑"/>
              </a:rPr>
              <a:t>“先仿真，后执行”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平台不放宽规则、不自动修稿：写错就报错，由大模型依据问题清单自行修正，直到通过校验与结构走图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