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f926c2be79749db" /><Relationship Type="http://schemas.openxmlformats.org/officeDocument/2006/relationships/extended-properties" Target="/docProps/app.xml" Id="R458eb08370254416" /><Relationship Type="http://schemas.openxmlformats.org/officeDocument/2006/relationships/officeDocument" Target="/ppt/presentation.xml" Id="R5e474c40beb24f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aa55f385bb845f6"/>
  </p:sldMasterIdLst>
  <p:notesMasterIdLst>
    <p:notesMasterId xmlns:r="http://schemas.openxmlformats.org/officeDocument/2006/relationships" r:id="R9a88375d987e4e47"/>
  </p:notesMasterIdLst>
  <p:sldIdLst>
    <p:sldId xmlns:r="http://schemas.openxmlformats.org/officeDocument/2006/relationships" id="256" r:id="R60ea815cfdc043c0"/>
    <p:sldId xmlns:r="http://schemas.openxmlformats.org/officeDocument/2006/relationships" id="257" r:id="Rb5287265dcfb4ee5"/>
    <p:sldId xmlns:r="http://schemas.openxmlformats.org/officeDocument/2006/relationships" id="258" r:id="R4f5e36418c4142e1"/>
    <p:sldId xmlns:r="http://schemas.openxmlformats.org/officeDocument/2006/relationships" id="259" r:id="R5a949bd32d7544d0"/>
    <p:sldId xmlns:r="http://schemas.openxmlformats.org/officeDocument/2006/relationships" id="260" r:id="Rc63d41564971428c"/>
    <p:sldId xmlns:r="http://schemas.openxmlformats.org/officeDocument/2006/relationships" id="261" r:id="Rbe9de35f1c4a48e1"/>
    <p:sldId xmlns:r="http://schemas.openxmlformats.org/officeDocument/2006/relationships" id="262" r:id="Rbfdb6d87471f4381"/>
    <p:sldId xmlns:r="http://schemas.openxmlformats.org/officeDocument/2006/relationships" id="263" r:id="Re86b2d8985be4e3f"/>
    <p:sldId xmlns:r="http://schemas.openxmlformats.org/officeDocument/2006/relationships" id="264" r:id="R94d091d4e0464d48"/>
    <p:sldId xmlns:r="http://schemas.openxmlformats.org/officeDocument/2006/relationships" id="265" r:id="Rfe75bb9964a44e25"/>
    <p:sldId xmlns:r="http://schemas.openxmlformats.org/officeDocument/2006/relationships" id="266" r:id="R14b729252c744954"/>
  </p:sldIdLst>
  <p:sldSz cx="1219136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7b317e8bf0f42ef" /><Relationship Type="http://schemas.openxmlformats.org/officeDocument/2006/relationships/slideMaster" Target="/ppt/slideMasters/slideMaster1.xml" Id="R1aa55f385bb845f6" /><Relationship Type="http://schemas.openxmlformats.org/officeDocument/2006/relationships/notesMaster" Target="/ppt/notesMasters/notesMaster1.xml" Id="R9a88375d987e4e47" /><Relationship Type="http://schemas.openxmlformats.org/officeDocument/2006/relationships/presProps" Target="/ppt/presProps.xml" Id="R48e803de78e7466f" /><Relationship Type="http://schemas.openxmlformats.org/officeDocument/2006/relationships/viewProps" Target="/ppt/viewProps.xml" Id="R7938673086a94c84" /><Relationship Type="http://schemas.openxmlformats.org/officeDocument/2006/relationships/tableStyles" Target="/ppt/tableStyles.xml" Id="R2b2899903bb54433" /><Relationship Type="http://schemas.openxmlformats.org/officeDocument/2006/relationships/slide" Target="/ppt/slides/slide1.xml" Id="R60ea815cfdc043c0" /><Relationship Type="http://schemas.openxmlformats.org/officeDocument/2006/relationships/slide" Target="/ppt/slides/slide2.xml" Id="Rb5287265dcfb4ee5" /><Relationship Type="http://schemas.openxmlformats.org/officeDocument/2006/relationships/slide" Target="/ppt/slides/slide3.xml" Id="R4f5e36418c4142e1" /><Relationship Type="http://schemas.openxmlformats.org/officeDocument/2006/relationships/slide" Target="/ppt/slides/slide4.xml" Id="R5a949bd32d7544d0" /><Relationship Type="http://schemas.openxmlformats.org/officeDocument/2006/relationships/slide" Target="/ppt/slides/slide5.xml" Id="Rc63d41564971428c" /><Relationship Type="http://schemas.openxmlformats.org/officeDocument/2006/relationships/slide" Target="/ppt/slides/slide6.xml" Id="Rbe9de35f1c4a48e1" /><Relationship Type="http://schemas.openxmlformats.org/officeDocument/2006/relationships/slide" Target="/ppt/slides/slide7.xml" Id="Rbfdb6d87471f4381" /><Relationship Type="http://schemas.openxmlformats.org/officeDocument/2006/relationships/slide" Target="/ppt/slides/slide8.xml" Id="Re86b2d8985be4e3f" /><Relationship Type="http://schemas.openxmlformats.org/officeDocument/2006/relationships/slide" Target="/ppt/slides/slide9.xml" Id="R94d091d4e0464d48" /><Relationship Type="http://schemas.openxmlformats.org/officeDocument/2006/relationships/slide" Target="/ppt/slides/slide10.xml" Id="Rfe75bb9964a44e25" /><Relationship Type="http://schemas.openxmlformats.org/officeDocument/2006/relationships/slide" Target="/ppt/slides/slide11.xml" Id="R14b729252c74495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365d329cc6e425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243dbd3850d4e7d" /><Relationship Type="http://schemas.openxmlformats.org/officeDocument/2006/relationships/notesMaster" Target="/ppt/notesMasters/notesMaster1.xml" Id="R14b544823f7a4bc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ff934c761e54664" /><Relationship Type="http://schemas.openxmlformats.org/officeDocument/2006/relationships/notesMaster" Target="/ppt/notesMasters/notesMaster1.xml" Id="R514cfc5e5d4a446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efa2bf92ba24413" /><Relationship Type="http://schemas.openxmlformats.org/officeDocument/2006/relationships/notesMaster" Target="/ppt/notesMasters/notesMaster1.xml" Id="R26c2956e4ad04d7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330c751dd104f90" /><Relationship Type="http://schemas.openxmlformats.org/officeDocument/2006/relationships/notesMaster" Target="/ppt/notesMasters/notesMaster1.xml" Id="Rfd0660cf7bfd4bb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8955d62ac4d45ab" /><Relationship Type="http://schemas.openxmlformats.org/officeDocument/2006/relationships/notesMaster" Target="/ppt/notesMasters/notesMaster1.xml" Id="Re16af48d277447b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d00fcc43bef4a2a" /><Relationship Type="http://schemas.openxmlformats.org/officeDocument/2006/relationships/notesMaster" Target="/ppt/notesMasters/notesMaster1.xml" Id="Rc81c16eab2fa4bb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f07fe38d6e24a01" /><Relationship Type="http://schemas.openxmlformats.org/officeDocument/2006/relationships/notesMaster" Target="/ppt/notesMasters/notesMaster1.xml" Id="Ra60a025239894f5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6589e0fb1c342e0" /><Relationship Type="http://schemas.openxmlformats.org/officeDocument/2006/relationships/notesMaster" Target="/ppt/notesMasters/notesMaster1.xml" Id="R08ec59abfb5a448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a7a3c07601b40b5" /><Relationship Type="http://schemas.openxmlformats.org/officeDocument/2006/relationships/notesMaster" Target="/ppt/notesMasters/notesMaster1.xml" Id="Rbfa8a89276e14cb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dd9eeb612b14966" /><Relationship Type="http://schemas.openxmlformats.org/officeDocument/2006/relationships/notesMaster" Target="/ppt/notesMasters/notesMaster1.xml" Id="R693fa0cdb3144da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477d25102bd453e" /><Relationship Type="http://schemas.openxmlformats.org/officeDocument/2006/relationships/notesMaster" Target="/ppt/notesMasters/notesMaster1.xml" Id="R3013814a5fc4484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0 页 · 封面（20 秒）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各位老师、各位同事，大家好。我是北京信息科技大学的于涛。今天汇报我们的工作：面向智慧化学实验室的任务导向可执行建模框架。通讯作者是赵淳老师。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天的汇报分成四段。先用一页说明自动化与大模型参与之后出现的执行边界问题，再给出资源、工作流、约束组成的统一建模框架。随后把关键机制压缩成一页，说明节点如何通过触发器和接口驱动设备状态机。最后用反应釜加热案例说明跨层执行，并介绍仿真反馈闭环和总体贡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随着大模型发展，智慧化学实验室从自动执行任务流程，进入大模型参与决策与控制的阶段。无论意图来自人工、固定流程还是大模型，一次任务执行都需要说清资源、状态、数据和边界。大模型能够根据目标和反馈动态提出操作与调整方案，所以我们需要明确它的控制请求如何进入设备执行过程，以及它必须遵守什么边界。这一页只提出问题，具体的统一框架放在后面展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统一框架由资源层、工作流层、约束层和跨层协议组成。资源层描述设备能做什么、处于什么状态，以及如何返回数据。工作流层描述任务节点、节点生命周期、触发器、接口、变量和数据端口。约束层描述实验室基线、任务目标、执行边界和处理动作。跨层协议规定这些层之间传递什么信号、什么数据以及怎样反馈。这些层共同构成任务执行模型，不是把代码脚本简单串接起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工作流模型不把节点、接口和触发器拆成三个孤立概念。一个节点就是一个完整的任务语义单元：内部变量保存有业务含义的值，生命周期描述这一步做到哪里，控制接口接收和发出信号，数据端口传递实验数据。触发器读取这些对象，在条件成立时执行更新或发出信号。比如节点收到激活信号后进入运行中，随后通过指定接口发出设备执行请求。这样节点之间的交互具有明确来源、目标和动作，设备模型也能通过同一接口参与流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设备模型有两层含义。能力模型回答设备能做什么，包括设备属性、能力参数、数据端口和必要的内部约束。状态机回答设备请求怎样成为实际行为，包括当前状态、接口、转移条件和反馈事件。工作流发出的控制请求先进入设备模型，状态机依据规则接受、执行并更新状态，再由 Adapter 把指令映射到设备协议，把设备事件和数据带回模型。这样流程调用的是可解释的设备对象，而不是绕过模型直接写物理设备。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束模型观察两类信息：资源侧的设备属性和状态，工作流侧的节点状态和执行上下文。它们进入统一观察空间后，约束可以判断实验室基线是否满足、任务目标是否越界，并采取警告、报警、停止或中止等处理动作。设备内部的局部约束仍由状态机处理，跨设备、跨流程的规则由约束层统一组织。这样约束不再是执行之外的一段说明，而是和资源、工作流使用同一套模型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这页是整套工作的关键机制。人工、任务流程和大模型都只是控制意图的来源，它们先进入统一任务模型。模型中的工作流节点调用资源模型，约束检查共同参与，之后由 Adapter 把设备模型中的请求映射成具体协议，设备执行并返回状态和数据。反馈沿同一条链路回到模型，驱动节点和后续决策。大模型可以改变决策和方案，但不能直接越过模型、状态机和约束去控制物理设备。我们因此把人的设备操作过程建模成了一条可解释、可追溯、无特权旁路的执行链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以反应釜加热为例，加热节点首先通过触发器发出执行请求，设备状态机接收请求并发生状态转移，随后通过 Adapter 把指令映射到设备协议。物理反应釜执行加热并返回数据和事件，Adapter 将反馈带回状态机，状态机更新设备状态，节点再根据反馈推进生命周期并激活后续步骤。这个案例把工作流、资源模型、Adapter 和物理设备放在同一条执行时序中，可以直接说明关键机制怎样落地。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在统一模型和执行机制之上，可以进一步在 Adapter 层接入仿真环境。大模型提出任务和控制请求，统一框架先在仿真 Adapter 中执行，模拟状态、实验数据和约束检查结果返回后，大模型调整方案并再次决策。满足上机条件后，仍由统一框架进入实机 Adapter。仿真和实机只是不同的执行后端，上层模型、接口和约束规则保持一致。这一页作为框架的扩展方向。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我们的工作可以用两句话收束。第一，系统建立了明确的建模语言，资源、工作流、约束、节点、接口和状态都有清晰的语义。第二，系统建立了统一的执行语义，触发器、状态机、Adapter 和约束机制共同决定模型如何产生实际行为。人工、任务流程和大模型提出的控制意图进入同一条设备执行链路，因此可以观察、解释和追溯。框架提供稳定的通用机制，具体实验室和任务通过模型表达。谢谢各位，欢迎交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a62c77a92b49f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747e37435f4bb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c6eaaabe5f4f1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88740fc5a146e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104231262e470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d4e483941b42c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552cc265a54aea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7dcdcc45e8437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11044df9684b30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d24cbaebd04b3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43dd658df549a3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189DC85-54F5-4264-8AA5-ABE2BEACE35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9024B2CF-0C91-4B1A-B97A-0CC6018F683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BE78BEE-BC3B-4897-ACB8-CFC63AB3151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39967F8-2A92-4480-8CDA-C55843F331A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1DD52F7-86F4-4DD3-A691-267C2B81AFD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27E5EC0-8780-4109-9108-856D8C3DBD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D3E7247-3CE2-40CE-BF8E-08E8C9AD6A6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56B25F1-EA49-41A9-B684-C16A359EB2F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D8E4320-B3AD-441E-BBB7-6628A66F2DC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8832057-6783-4296-9C0C-BD3B75AA01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7FD48A6-F7AE-489F-8CDD-48CBB3E65A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9F6350-A668-48E3-BE9D-F70A8F65D29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7CE4BBE-EB84-4807-80A1-400096F096C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1E677CD-B8E8-4609-85A3-441897DC51A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98AEF26-A2A8-4C26-B881-151E6AB2B9B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8F57711-D861-4167-826E-1C699DB5BD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8877F64-A2CA-47A8-925F-0414F58A6AD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1A13105-8F19-43FF-BC40-D6B127493B7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5542793-A3B0-48C3-935B-214D9CF1DCA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BBDC7C5-24A7-4E55-8B8B-1122F6DF5BE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8C7EEDA-57E2-4BFC-AABF-864060C668E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A17BC59-4ECF-4B7D-B29C-02D7A36D57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3D0D23-F9EF-4A9C-9815-8A03DD88996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E237916-E258-4387-8EA3-F69F14BC04D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6C87D74C-3168-4541-8807-92F3DE2CC866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76441DF1-579F-4C84-BB98-4534A167D6B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7C447C8B-3B0E-41D2-88FD-90B37EE31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2FCE6D9C-A3AA-405E-897D-0BB9D664FDB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D3FBF5E5-704F-452F-809E-B84DA758FEB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89E4369-F598-4E50-937D-FF0133C735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B9BFD23B-2EC1-4819-99D4-527B79E01CD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295A2CF0-A4C6-4995-8038-4C1F84E2FED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9E87972B-BAC0-426E-B5FC-DFBA81F220A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7A485BCE-C3BD-4312-909B-D8DA72E9D03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1DB3FD05-5462-42C6-9E2E-856EA1FA6DB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52568220-1FB3-48D3-B54D-D4C021FB50A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25165B9-F882-4E8A-9B85-68433535E1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C1B3653-63CE-4E67-A908-F195C2FD25A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67E8D05-E91E-4E5F-8112-4F3D45873DC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B273C5D9-6D87-4395-98A6-873424B0DC9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C490EFB-AD64-4F37-9C16-342BB5B8221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04AB5C9-AFA5-4894-AE70-5ADC1E8407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15AEC2D-5ADC-4674-B9D5-1E730FDE7E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C670C9F9-4433-4E98-9675-BDACFCE00712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968B74B-892B-444B-9366-02D4553138F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167B799-E31D-4F2E-A98E-C543C1F80E3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610BC3E-3EC2-4F13-85E8-B7713C38AEA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2D4C378-9535-4637-9537-083270BF825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58D4D2C-1F36-438F-B5D7-5C01DD51BD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4BB40A84-02BB-464E-BE83-68596CEA1F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D9442A3-17D4-4A74-9C7C-9F68561DC8D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1DB02E6-6893-454A-99EA-0707FB2821D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F0B1FDF-EF83-4A01-8A9B-EE1DE45BA2C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275978D0-1441-4863-9E69-110EF57F59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9D69BB-D056-43F8-8152-AD90AFDFB83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D6F5B8D-CB17-4F42-81C4-6C1CBD7C309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8C2C652-BD55-45A5-BB10-87D5B91274A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BCF60E3-53D1-4AD3-8FF7-A96CA6E4E6B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65dae6b388d4225" /><Relationship Type="http://schemas.openxmlformats.org/officeDocument/2006/relationships/slideLayout" Target="/ppt/slideLayouts/slideLayout1.xml" Id="R61e55ee674aa4033" /><Relationship Type="http://schemas.openxmlformats.org/officeDocument/2006/relationships/slideLayout" Target="/ppt/slideLayouts/slideLayout2.xml" Id="Rd576cdb66a244fec" /><Relationship Type="http://schemas.openxmlformats.org/officeDocument/2006/relationships/slideLayout" Target="/ppt/slideLayouts/slideLayout3.xml" Id="R3f0a90b2c7bf4469" /><Relationship Type="http://schemas.openxmlformats.org/officeDocument/2006/relationships/slideLayout" Target="/ppt/slideLayouts/slideLayout4.xml" Id="R6b5443c9fe3045b2" /><Relationship Type="http://schemas.openxmlformats.org/officeDocument/2006/relationships/slideLayout" Target="/ppt/slideLayouts/slideLayout5.xml" Id="R08c696660b93474a" /><Relationship Type="http://schemas.openxmlformats.org/officeDocument/2006/relationships/slideLayout" Target="/ppt/slideLayouts/slideLayout6.xml" Id="R30aa2f0cc0574bd1" /><Relationship Type="http://schemas.openxmlformats.org/officeDocument/2006/relationships/slideLayout" Target="/ppt/slideLayouts/slideLayout7.xml" Id="Re24846c055e24d4e" /><Relationship Type="http://schemas.openxmlformats.org/officeDocument/2006/relationships/slideLayout" Target="/ppt/slideLayouts/slideLayout8.xml" Id="Rd2ad4ddd9c6941c2" /><Relationship Type="http://schemas.openxmlformats.org/officeDocument/2006/relationships/slideLayout" Target="/ppt/slideLayouts/slideLayout9.xml" Id="R89b6fc127dc444a8" /><Relationship Type="http://schemas.openxmlformats.org/officeDocument/2006/relationships/slideLayout" Target="/ppt/slideLayouts/slideLayout10.xml" Id="Rbc4ae2ab89e14d3b" /><Relationship Type="http://schemas.openxmlformats.org/officeDocument/2006/relationships/slideLayout" Target="/ppt/slideLayouts/slideLayout11.xml" Id="R5ead4f7ad12e426a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28C0D63-CA9F-404A-B534-B682079DA1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C15D1C-DAAD-4762-9173-03B9AC3FD4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755B65E-F81D-43DB-AF87-01C39EE5D40C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7E08882-3239-4C53-B5B9-C39E631AB8C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E203BF4-0881-41BE-8239-6E0D55CCA83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1e55ee674aa4033"/>
    <p:sldLayoutId xmlns:r="http://schemas.openxmlformats.org/officeDocument/2006/relationships" id="2147483650" r:id="Rd576cdb66a244fec"/>
    <p:sldLayoutId xmlns:r="http://schemas.openxmlformats.org/officeDocument/2006/relationships" id="2147483651" r:id="R3f0a90b2c7bf4469"/>
    <p:sldLayoutId xmlns:r="http://schemas.openxmlformats.org/officeDocument/2006/relationships" id="2147483652" r:id="R6b5443c9fe3045b2"/>
    <p:sldLayoutId xmlns:r="http://schemas.openxmlformats.org/officeDocument/2006/relationships" id="2147483653" r:id="R08c696660b93474a"/>
    <p:sldLayoutId xmlns:r="http://schemas.openxmlformats.org/officeDocument/2006/relationships" id="2147483654" r:id="R30aa2f0cc0574bd1"/>
    <p:sldLayoutId xmlns:r="http://schemas.openxmlformats.org/officeDocument/2006/relationships" id="2147483655" r:id="Re24846c055e24d4e"/>
    <p:sldLayoutId xmlns:r="http://schemas.openxmlformats.org/officeDocument/2006/relationships" id="2147483656" r:id="Rd2ad4ddd9c6941c2"/>
    <p:sldLayoutId xmlns:r="http://schemas.openxmlformats.org/officeDocument/2006/relationships" id="2147483657" r:id="R89b6fc127dc444a8"/>
    <p:sldLayoutId xmlns:r="http://schemas.openxmlformats.org/officeDocument/2006/relationships" id="2147483658" r:id="Rbc4ae2ab89e14d3b"/>
    <p:sldLayoutId xmlns:r="http://schemas.openxmlformats.org/officeDocument/2006/relationships" id="2147483659" r:id="R5ead4f7ad12e426a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c78a566dc324285" /><Relationship Type="http://schemas.openxmlformats.org/officeDocument/2006/relationships/notesSlide" Target="/ppt/notesSlides/notesSlide1.xml" Id="Rab1b9a93a5fe470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e2b97338ef94bd6" /><Relationship Type="http://schemas.openxmlformats.org/officeDocument/2006/relationships/notesSlide" Target="/ppt/notesSlides/notesSlide2.xml" Id="Raa4935d5883b494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d59743e824444de" /><Relationship Type="http://schemas.openxmlformats.org/officeDocument/2006/relationships/notesSlide" Target="/ppt/notesSlides/notesSlide3.xml" Id="R49105d1c22da4fd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4eb14b28e1d48a3" /><Relationship Type="http://schemas.openxmlformats.org/officeDocument/2006/relationships/notesSlide" Target="/ppt/notesSlides/notesSlide4.xml" Id="Rf741db8b82d9481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426c73c5b4648f7" /><Relationship Type="http://schemas.openxmlformats.org/officeDocument/2006/relationships/notesSlide" Target="/ppt/notesSlides/notesSlide5.xml" Id="Rd7f2bf912732454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36b47a4052048cf" /><Relationship Type="http://schemas.openxmlformats.org/officeDocument/2006/relationships/notesSlide" Target="/ppt/notesSlides/notesSlide6.xml" Id="Ra7b66f1a1ec7433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62fa9a2ed4443af" /><Relationship Type="http://schemas.openxmlformats.org/officeDocument/2006/relationships/notesSlide" Target="/ppt/notesSlides/notesSlide7.xml" Id="R3347501c7e174cc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e1bb7cfc40f4681" /><Relationship Type="http://schemas.openxmlformats.org/officeDocument/2006/relationships/notesSlide" Target="/ppt/notesSlides/notesSlide8.xml" Id="R5b1d81cc5ecc4fb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8ca308fa7514975" /><Relationship Type="http://schemas.openxmlformats.org/officeDocument/2006/relationships/notesSlide" Target="/ppt/notesSlides/notesSlide9.xml" Id="R3e941c9ad3704f8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a30ccbe414a45f7" /><Relationship Type="http://schemas.openxmlformats.org/officeDocument/2006/relationships/notesSlide" Target="/ppt/notesSlides/notesSlide10.xml" Id="R044c5dbd852b4d6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7d7a5e15b9d411a" /><Relationship Type="http://schemas.openxmlformats.org/officeDocument/2006/relationships/notesSlide" Target="/ppt/notesSlides/notesSlide11.xml" Id="Rb20cc8f8df484f8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C8D0283-46CC-4865-85BD-F69594B7C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87B968C-3390-4FC4-9F93-F7A4B569C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0352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67AB767-6D28-4088-A11B-2DFEFDE75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28800"/>
            <a:ext cx="1051560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面向智慧化学实验室的任务导向可执行建模框架</a:t>
            </a:r>
            <a:endParaRPr sz="32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E6640F5-7D8A-4CD8-87CC-97BCBBDAF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383280"/>
            <a:ext cx="1051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0">
                <a:solidFill>
                  <a:srgbClr val="B8D0E8"/>
                </a:solidFill>
                <a:latin typeface="微软雅黑"/>
                <a:ea typeface="微软雅黑"/>
                <a:cs typeface="微软雅黑"/>
              </a:rPr>
              <a:t>A Task-Oriented Executable Modeling Framework for Smart Chemical Laboratories</a:t>
            </a:r>
            <a:endParaRPr sz="1600" b="0">
              <a:solidFill>
                <a:srgbClr val="B8D0E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5DF2A41-1F00-4791-AA10-43E22F1B9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206240"/>
            <a:ext cx="105156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报告人：于涛（北京信息科技大学）　　通讯作者：</a:t>
            </a:r>
            <a:r>
              <a:rPr sz="18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赵淳</a:t>
            </a:r>
            <a:endParaRPr sz="1800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E08879E-6C1A-4C5F-8A94-956EF1B12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663440"/>
            <a:ext cx="10515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0">
                <a:solidFill>
                  <a:srgbClr val="B8D0E8"/>
                </a:solidFill>
                <a:latin typeface="微软雅黑"/>
                <a:ea typeface="微软雅黑"/>
                <a:cs typeface="微软雅黑"/>
              </a:rPr>
              <a:t>EUROSIM 2026  ·  Genova, Italy</a:t>
            </a:r>
            <a:endParaRPr sz="1600" b="0">
              <a:solidFill>
                <a:srgbClr val="B8D0E8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76656116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DC6A048-DF1E-4678-BD75-14DF1393A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2C5C94B-88A9-4BC6-A7A1-37135C66A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  目录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3990B9D-1DBD-479C-AB7B-A7B40BA1E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344AD840-496B-4114-AE14-4B0951DFF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1/10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text-1">
            <a:extLst xmlns:a="http://schemas.openxmlformats.org/drawingml/2006/main">
              <a:ext uri="{FF2B5EF4-FFF2-40B4-BE49-F238E27FC236}">
                <a16:creationId xmlns:a16="http://schemas.microsoft.com/office/drawing/2014/main" id="{14A4D5D8-CBE5-44AB-A820-1603ADD1E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81150"/>
            <a:ext cx="42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9" name="text-2">
            <a:extLst xmlns:a="http://schemas.openxmlformats.org/drawingml/2006/main">
              <a:ext uri="{FF2B5EF4-FFF2-40B4-BE49-F238E27FC236}">
                <a16:creationId xmlns:a16="http://schemas.microsoft.com/office/drawing/2014/main" id="{CEA4C9D0-50CC-403C-88A8-658EBC4B6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1581150"/>
            <a:ext cx="2762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背景与问题</a:t>
            </a:r>
          </a:p>
        </p:txBody>
      </p:sp>
      <p:sp>
        <p:nvSpPr>
          <p:cNvPr id="10" name="text-3">
            <a:extLst xmlns:a="http://schemas.openxmlformats.org/drawingml/2006/main">
              <a:ext uri="{FF2B5EF4-FFF2-40B4-BE49-F238E27FC236}">
                <a16:creationId xmlns:a16="http://schemas.microsoft.com/office/drawing/2014/main" id="{67C320AC-2666-4B69-BD15-6D2703974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609725"/>
            <a:ext cx="6953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大模型参与之后，如何建立共同的执行边界</a:t>
            </a:r>
          </a:p>
        </p:txBody>
      </p:sp>
      <p:sp>
        <p:nvSpPr>
          <p:cNvPr id="11" name="anchor-4">
            <a:extLst xmlns:a="http://schemas.openxmlformats.org/drawingml/2006/main">
              <a:ext uri="{FF2B5EF4-FFF2-40B4-BE49-F238E27FC236}">
                <a16:creationId xmlns:a16="http://schemas.microsoft.com/office/drawing/2014/main" id="{980AEACF-2758-404D-BCB0-D636C548C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1812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" name="anchor-5">
            <a:extLst xmlns:a="http://schemas.openxmlformats.org/drawingml/2006/main">
              <a:ext uri="{FF2B5EF4-FFF2-40B4-BE49-F238E27FC236}">
                <a16:creationId xmlns:a16="http://schemas.microsoft.com/office/drawing/2014/main" id="{B6201F35-3236-4357-AC08-33884808D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5725" y="21812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2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1333500" y="2190750"/>
            <a:ext cx="101822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BB7CC"/>
            </a:solidFill>
            <a:prstDash val="solid"/>
            <a:tailEnd type="none" w="med" len="med"/>
          </a:ln>
        </p:spPr>
      </p:cxnSp>
      <p:sp>
        <p:nvSpPr>
          <p:cNvPr id="14" name="text-6">
            <a:extLst xmlns:a="http://schemas.openxmlformats.org/drawingml/2006/main">
              <a:ext uri="{FF2B5EF4-FFF2-40B4-BE49-F238E27FC236}">
                <a16:creationId xmlns:a16="http://schemas.microsoft.com/office/drawing/2014/main" id="{9D9D32F1-64D8-4E55-BCDF-407425039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24125"/>
            <a:ext cx="42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5" name="text-7">
            <a:extLst xmlns:a="http://schemas.openxmlformats.org/drawingml/2006/main">
              <a:ext uri="{FF2B5EF4-FFF2-40B4-BE49-F238E27FC236}">
                <a16:creationId xmlns:a16="http://schemas.microsoft.com/office/drawing/2014/main" id="{96369448-C987-4401-9027-9CC482E45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524125"/>
            <a:ext cx="2762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统一建模框架</a:t>
            </a:r>
          </a:p>
        </p:txBody>
      </p:sp>
      <p:sp>
        <p:nvSpPr>
          <p:cNvPr id="16" name="text-8">
            <a:extLst xmlns:a="http://schemas.openxmlformats.org/drawingml/2006/main">
              <a:ext uri="{FF2B5EF4-FFF2-40B4-BE49-F238E27FC236}">
                <a16:creationId xmlns:a16="http://schemas.microsoft.com/office/drawing/2014/main" id="{06B012B3-873C-4FA0-A5CE-C0AA38D78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52700"/>
            <a:ext cx="6953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资源、工作流、约束如何进入同一模型体系</a:t>
            </a:r>
          </a:p>
        </p:txBody>
      </p:sp>
      <p:sp>
        <p:nvSpPr>
          <p:cNvPr id="17" name="anchor-9">
            <a:extLst xmlns:a="http://schemas.openxmlformats.org/drawingml/2006/main">
              <a:ext uri="{FF2B5EF4-FFF2-40B4-BE49-F238E27FC236}">
                <a16:creationId xmlns:a16="http://schemas.microsoft.com/office/drawing/2014/main" id="{81E7A540-89DB-4623-8C06-DA13D357B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1242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" name="anchor-10">
            <a:extLst xmlns:a="http://schemas.openxmlformats.org/drawingml/2006/main">
              <a:ext uri="{FF2B5EF4-FFF2-40B4-BE49-F238E27FC236}">
                <a16:creationId xmlns:a16="http://schemas.microsoft.com/office/drawing/2014/main" id="{6BD2E61C-4C41-42CA-9551-9147843C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5725" y="31242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8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1333500" y="3133725"/>
            <a:ext cx="101822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BB7CC"/>
            </a:solidFill>
            <a:prstDash val="solid"/>
            <a:tailEnd type="none" w="med" len="med"/>
          </a:ln>
        </p:spPr>
      </p:cxnSp>
      <p:sp>
        <p:nvSpPr>
          <p:cNvPr id="20" name="text-11">
            <a:extLst xmlns:a="http://schemas.openxmlformats.org/drawingml/2006/main">
              <a:ext uri="{FF2B5EF4-FFF2-40B4-BE49-F238E27FC236}">
                <a16:creationId xmlns:a16="http://schemas.microsoft.com/office/drawing/2014/main" id="{B954AB77-FC05-40D0-9728-8DBD0F3C6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67100"/>
            <a:ext cx="42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21" name="text-12">
            <a:extLst xmlns:a="http://schemas.openxmlformats.org/drawingml/2006/main">
              <a:ext uri="{FF2B5EF4-FFF2-40B4-BE49-F238E27FC236}">
                <a16:creationId xmlns:a16="http://schemas.microsoft.com/office/drawing/2014/main" id="{F8B664D8-CDDB-4C24-AD6F-FF3213A00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467100"/>
            <a:ext cx="2762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关键机制与案例</a:t>
            </a:r>
          </a:p>
        </p:txBody>
      </p:sp>
      <p:sp>
        <p:nvSpPr>
          <p:cNvPr id="22" name="text-13">
            <a:extLst xmlns:a="http://schemas.openxmlformats.org/drawingml/2006/main">
              <a:ext uri="{FF2B5EF4-FFF2-40B4-BE49-F238E27FC236}">
                <a16:creationId xmlns:a16="http://schemas.microsoft.com/office/drawing/2014/main" id="{7CA30337-3FEE-40E1-A60D-4BDCDAEDB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495675"/>
            <a:ext cx="6953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一个节点如何触发设备执行并获得反馈</a:t>
            </a:r>
          </a:p>
        </p:txBody>
      </p:sp>
      <p:sp>
        <p:nvSpPr>
          <p:cNvPr id="23" name="anchor-14">
            <a:extLst xmlns:a="http://schemas.openxmlformats.org/drawingml/2006/main">
              <a:ext uri="{FF2B5EF4-FFF2-40B4-BE49-F238E27FC236}">
                <a16:creationId xmlns:a16="http://schemas.microsoft.com/office/drawing/2014/main" id="{962063EE-592A-4D98-AF1F-19BB5E766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671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" name="anchor-15">
            <a:extLst xmlns:a="http://schemas.openxmlformats.org/drawingml/2006/main">
              <a:ext uri="{FF2B5EF4-FFF2-40B4-BE49-F238E27FC236}">
                <a16:creationId xmlns:a16="http://schemas.microsoft.com/office/drawing/2014/main" id="{1BF83ACF-64DE-432C-BB47-D3CA5ACD6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5725" y="40671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4" name=""/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1333500" y="4076700"/>
            <a:ext cx="101822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BB7CC"/>
            </a:solidFill>
            <a:prstDash val="solid"/>
            <a:tailEnd type="none" w="med" len="med"/>
          </a:ln>
        </p:spPr>
      </p:cxnSp>
      <p:sp>
        <p:nvSpPr>
          <p:cNvPr id="26" name="text-16">
            <a:extLst xmlns:a="http://schemas.openxmlformats.org/drawingml/2006/main">
              <a:ext uri="{FF2B5EF4-FFF2-40B4-BE49-F238E27FC236}">
                <a16:creationId xmlns:a16="http://schemas.microsoft.com/office/drawing/2014/main" id="{95DDCFF3-7EEE-4039-8149-B318B2430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10075"/>
            <a:ext cx="42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27" name="text-17">
            <a:extLst xmlns:a="http://schemas.openxmlformats.org/drawingml/2006/main">
              <a:ext uri="{FF2B5EF4-FFF2-40B4-BE49-F238E27FC236}">
                <a16:creationId xmlns:a16="http://schemas.microsoft.com/office/drawing/2014/main" id="{7833F751-3DBB-43D8-A361-5BD4DE81B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410075"/>
            <a:ext cx="2762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扩展与总结</a:t>
            </a:r>
          </a:p>
        </p:txBody>
      </p:sp>
      <p:sp>
        <p:nvSpPr>
          <p:cNvPr id="28" name="text-18">
            <a:extLst xmlns:a="http://schemas.openxmlformats.org/drawingml/2006/main">
              <a:ext uri="{FF2B5EF4-FFF2-40B4-BE49-F238E27FC236}">
                <a16:creationId xmlns:a16="http://schemas.microsoft.com/office/drawing/2014/main" id="{F4449D93-C891-40F6-8267-D0687EA63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438650"/>
            <a:ext cx="6953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仿真反馈闭环，以及模型驱动的框架贡献</a:t>
            </a:r>
          </a:p>
        </p:txBody>
      </p:sp>
      <p:sp>
        <p:nvSpPr>
          <p:cNvPr id="29" name="anchor-19">
            <a:extLst xmlns:a="http://schemas.openxmlformats.org/drawingml/2006/main">
              <a:ext uri="{FF2B5EF4-FFF2-40B4-BE49-F238E27FC236}">
                <a16:creationId xmlns:a16="http://schemas.microsoft.com/office/drawing/2014/main" id="{A7E0332C-70A5-4E27-BF61-EC2E02EB8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0102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" name="anchor-20">
            <a:extLst xmlns:a="http://schemas.openxmlformats.org/drawingml/2006/main">
              <a:ext uri="{FF2B5EF4-FFF2-40B4-BE49-F238E27FC236}">
                <a16:creationId xmlns:a16="http://schemas.microsoft.com/office/drawing/2014/main" id="{7567D90D-2EF5-497D-82E2-B9D052C6F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0025" y="60102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0" name=""/>
          <p:cNvCxnSpPr>
            <a:stCxn xmlns:a="http://schemas.openxmlformats.org/drawingml/2006/main" id="29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561975" y="6019800"/>
            <a:ext cx="110680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BB7CC"/>
            </a:solidFill>
            <a:prstDash val="solid"/>
            <a:tailEnd type="none" w="med" len="med"/>
          </a:ln>
        </p:spPr>
      </p:cxnSp>
      <p:sp>
        <p:nvSpPr>
          <p:cNvPr id="32" name="text-21">
            <a:extLst xmlns:a="http://schemas.openxmlformats.org/drawingml/2006/main">
              <a:ext uri="{FF2B5EF4-FFF2-40B4-BE49-F238E27FC236}">
                <a16:creationId xmlns:a16="http://schemas.microsoft.com/office/drawing/2014/main" id="{9F0ABEBC-418D-4BE8-81E5-6D6F0F2BB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150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主线：模型定义实验室与任务，统一执行语义组织实际运行。</a:t>
            </a:r>
          </a:p>
        </p:txBody>
      </p:sp>
    </p:spTree>
    <p:extLst>
      <p:ext uri="{BB962C8B-B14F-4D97-AF65-F5344CB8AC3E}">
        <p14:creationId xmlns:p14="http://schemas.microsoft.com/office/powerpoint/2010/main" val="65311739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359544A-4150-4003-91A4-7B5981B66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0A0AB52-1B8A-445B-950F-E53A7DCB5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  背景与问题：大模型参与后的执行边界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2D8EC2F-B214-40A0-8781-D913BF30D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8E191EA-4D91-4D29-8980-C3BABE05E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2/10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diagram-22">
            <a:extLst xmlns:a="http://schemas.openxmlformats.org/drawingml/2006/main">
              <a:ext uri="{FF2B5EF4-FFF2-40B4-BE49-F238E27FC236}">
                <a16:creationId xmlns:a16="http://schemas.microsoft.com/office/drawing/2014/main" id="{F6CF6AEE-F181-4264-AAC0-081064749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457325"/>
            <a:ext cx="412432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3335">
            <a:solidFill>
              <a:srgbClr val="9BB7CC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Aft>
                <a:spcPts val="250"/>
              </a:spcAft>
              <a:buNone/>
              <a:defRPr sz="210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自动执行任务流程</a:t>
            </a:r>
          </a:p>
        </p:txBody>
      </p:sp>
      <p:sp>
        <p:nvSpPr>
          <p:cNvPr id="8" name="diagram-23">
            <a:extLst xmlns:a="http://schemas.openxmlformats.org/drawingml/2006/main">
              <a:ext uri="{FF2B5EF4-FFF2-40B4-BE49-F238E27FC236}">
                <a16:creationId xmlns:a16="http://schemas.microsoft.com/office/drawing/2014/main" id="{690600EB-52C5-4B86-B894-9095FB112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457325"/>
            <a:ext cx="412432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9F5F2"/>
          </a:solidFill>
          <a:ln xmlns:a="http://schemas.openxmlformats.org/drawingml/2006/main" w="13335">
            <a:solidFill>
              <a:srgbClr val="178477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Aft>
                <a:spcPts val="250"/>
              </a:spcAft>
              <a:buNone/>
              <a:defRPr sz="210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大模型参与决策与控制</a:t>
            </a:r>
          </a:p>
        </p:txBody>
      </p:sp>
      <p:cxnSp>
        <p:nvCxnSpPr>
          <p:cNvPr id="3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800600" y="1828800"/>
            <a:ext cx="2590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4AC"/>
            </a:solidFill>
            <a:prstDash val="solid"/>
            <a:tailEnd type="triangle" w="med" len="med"/>
          </a:ln>
        </p:spPr>
      </p:cxnSp>
      <p:sp>
        <p:nvSpPr>
          <p:cNvPr id="10" name="text-24">
            <a:extLst xmlns:a="http://schemas.openxmlformats.org/drawingml/2006/main">
              <a:ext uri="{FF2B5EF4-FFF2-40B4-BE49-F238E27FC236}">
                <a16:creationId xmlns:a16="http://schemas.microsoft.com/office/drawing/2014/main" id="{23FDFEDE-1C92-4D88-852B-ED5B7D1EF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1524000"/>
            <a:ext cx="20955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5B6B78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5B6B78"/>
                </a:solidFill>
                <a:latin typeface="微软雅黑"/>
                <a:ea typeface="微软雅黑"/>
                <a:cs typeface="微软雅黑"/>
              </a:rPr>
              <a:t>执行方式扩展</a:t>
            </a:r>
          </a:p>
        </p:txBody>
      </p:sp>
      <p:sp>
        <p:nvSpPr>
          <p:cNvPr id="11" name="text-25">
            <a:extLst xmlns:a="http://schemas.openxmlformats.org/drawingml/2006/main">
              <a:ext uri="{FF2B5EF4-FFF2-40B4-BE49-F238E27FC236}">
                <a16:creationId xmlns:a16="http://schemas.microsoft.com/office/drawing/2014/main" id="{88845076-D856-40B7-AD88-8EB330A52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032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一次任务执行始终要回答四个问题</a:t>
            </a:r>
          </a:p>
        </p:txBody>
      </p:sp>
      <p:sp>
        <p:nvSpPr>
          <p:cNvPr id="12" name="text-26">
            <a:extLst xmlns:a="http://schemas.openxmlformats.org/drawingml/2006/main">
              <a:ext uri="{FF2B5EF4-FFF2-40B4-BE49-F238E27FC236}">
                <a16:creationId xmlns:a16="http://schemas.microsoft.com/office/drawing/2014/main" id="{7982F8A1-1EAE-47B1-B542-8562B670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2766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资源</a:t>
            </a:r>
          </a:p>
        </p:txBody>
      </p:sp>
      <p:sp>
        <p:nvSpPr>
          <p:cNvPr id="13" name="text-27">
            <a:extLst xmlns:a="http://schemas.openxmlformats.org/drawingml/2006/main">
              <a:ext uri="{FF2B5EF4-FFF2-40B4-BE49-F238E27FC236}">
                <a16:creationId xmlns:a16="http://schemas.microsoft.com/office/drawing/2014/main" id="{5B2407E8-B45D-4D17-A6B4-399B2C3EE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800475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如何组织与调用</a:t>
            </a:r>
          </a:p>
        </p:txBody>
      </p:sp>
      <p:sp>
        <p:nvSpPr>
          <p:cNvPr id="14" name="anchor-28">
            <a:extLst xmlns:a="http://schemas.openxmlformats.org/drawingml/2006/main">
              <a:ext uri="{FF2B5EF4-FFF2-40B4-BE49-F238E27FC236}">
                <a16:creationId xmlns:a16="http://schemas.microsoft.com/office/drawing/2014/main" id="{A32D5B98-935B-4478-A988-6E498F357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2480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" name="anchor-29">
            <a:extLst xmlns:a="http://schemas.openxmlformats.org/drawingml/2006/main">
              <a:ext uri="{FF2B5EF4-FFF2-40B4-BE49-F238E27FC236}">
                <a16:creationId xmlns:a16="http://schemas.microsoft.com/office/drawing/2014/main" id="{E52D6238-1C52-4476-875F-C2B5BEDC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4005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3" name=""/>
          <p:cNvCxnSpPr>
            <a:stCxn xmlns:a="http://schemas.openxmlformats.org/drawingml/2006/main" id="14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3219450" y="3267075"/>
            <a:ext cx="0" cy="113347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BB7CC"/>
            </a:solidFill>
            <a:prstDash val="solid"/>
            <a:tailEnd type="none" w="med" len="med"/>
          </a:ln>
        </p:spPr>
      </p:cxnSp>
      <p:sp>
        <p:nvSpPr>
          <p:cNvPr id="17" name="text-30">
            <a:extLst xmlns:a="http://schemas.openxmlformats.org/drawingml/2006/main">
              <a:ext uri="{FF2B5EF4-FFF2-40B4-BE49-F238E27FC236}">
                <a16:creationId xmlns:a16="http://schemas.microsoft.com/office/drawing/2014/main" id="{F147A7A9-A47E-442F-89CF-1E4B5552E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2766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状态</a:t>
            </a:r>
          </a:p>
        </p:txBody>
      </p:sp>
      <p:sp>
        <p:nvSpPr>
          <p:cNvPr id="18" name="text-31">
            <a:extLst xmlns:a="http://schemas.openxmlformats.org/drawingml/2006/main">
              <a:ext uri="{FF2B5EF4-FFF2-40B4-BE49-F238E27FC236}">
                <a16:creationId xmlns:a16="http://schemas.microsoft.com/office/drawing/2014/main" id="{2C31BFA2-E9AC-441A-B091-9A14A4EE3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800475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如何随执行演化</a:t>
            </a:r>
          </a:p>
        </p:txBody>
      </p:sp>
      <p:sp>
        <p:nvSpPr>
          <p:cNvPr id="19" name="anchor-32">
            <a:extLst xmlns:a="http://schemas.openxmlformats.org/drawingml/2006/main">
              <a:ext uri="{FF2B5EF4-FFF2-40B4-BE49-F238E27FC236}">
                <a16:creationId xmlns:a16="http://schemas.microsoft.com/office/drawing/2014/main" id="{E0BCF4DC-727F-47AA-845E-6284A726B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2480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" name="anchor-33">
            <a:extLst xmlns:a="http://schemas.openxmlformats.org/drawingml/2006/main">
              <a:ext uri="{FF2B5EF4-FFF2-40B4-BE49-F238E27FC236}">
                <a16:creationId xmlns:a16="http://schemas.microsoft.com/office/drawing/2014/main" id="{3894A9CF-E908-4D1B-89D2-6EADBED52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4005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8" name=""/>
          <p:cNvCxnSpPr>
            <a:stCxn xmlns:a="http://schemas.openxmlformats.org/drawingml/2006/main" id="19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5991225" y="3267075"/>
            <a:ext cx="0" cy="113347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BB7CC"/>
            </a:solidFill>
            <a:prstDash val="solid"/>
            <a:tailEnd type="none" w="med" len="med"/>
          </a:ln>
        </p:spPr>
      </p:cxnSp>
      <p:sp>
        <p:nvSpPr>
          <p:cNvPr id="22" name="text-34">
            <a:extLst xmlns:a="http://schemas.openxmlformats.org/drawingml/2006/main">
              <a:ext uri="{FF2B5EF4-FFF2-40B4-BE49-F238E27FC236}">
                <a16:creationId xmlns:a16="http://schemas.microsoft.com/office/drawing/2014/main" id="{9A035579-B51B-4B6D-8184-2888AAB7E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2766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数据</a:t>
            </a:r>
          </a:p>
        </p:txBody>
      </p:sp>
      <p:sp>
        <p:nvSpPr>
          <p:cNvPr id="23" name="text-35">
            <a:extLst xmlns:a="http://schemas.openxmlformats.org/drawingml/2006/main">
              <a:ext uri="{FF2B5EF4-FFF2-40B4-BE49-F238E27FC236}">
                <a16:creationId xmlns:a16="http://schemas.microsoft.com/office/drawing/2014/main" id="{4BA07A88-20DC-4E57-8482-71F5EA31B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800475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如何产生与传递</a:t>
            </a:r>
          </a:p>
        </p:txBody>
      </p:sp>
      <p:sp>
        <p:nvSpPr>
          <p:cNvPr id="24" name="anchor-36">
            <a:extLst xmlns:a="http://schemas.openxmlformats.org/drawingml/2006/main">
              <a:ext uri="{FF2B5EF4-FFF2-40B4-BE49-F238E27FC236}">
                <a16:creationId xmlns:a16="http://schemas.microsoft.com/office/drawing/2014/main" id="{35F36A9A-4BFA-402E-A842-7EC5B0372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2480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" name="anchor-37">
            <a:extLst xmlns:a="http://schemas.openxmlformats.org/drawingml/2006/main">
              <a:ext uri="{FF2B5EF4-FFF2-40B4-BE49-F238E27FC236}">
                <a16:creationId xmlns:a16="http://schemas.microsoft.com/office/drawing/2014/main" id="{202FDD41-0E16-4DBA-8344-C4002227B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4005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3" name=""/>
          <p:cNvCxnSpPr>
            <a:stCxn xmlns:a="http://schemas.openxmlformats.org/drawingml/2006/main" id="24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8763000" y="3267075"/>
            <a:ext cx="0" cy="113347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BB7CC"/>
            </a:solidFill>
            <a:prstDash val="solid"/>
            <a:tailEnd type="none" w="med" len="med"/>
          </a:ln>
        </p:spPr>
      </p:cxnSp>
      <p:sp>
        <p:nvSpPr>
          <p:cNvPr id="27" name="text-38">
            <a:extLst xmlns:a="http://schemas.openxmlformats.org/drawingml/2006/main">
              <a:ext uri="{FF2B5EF4-FFF2-40B4-BE49-F238E27FC236}">
                <a16:creationId xmlns:a16="http://schemas.microsoft.com/office/drawing/2014/main" id="{8E00A4F8-59D2-4DD2-96D9-BEB968967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2766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边界</a:t>
            </a:r>
          </a:p>
        </p:txBody>
      </p:sp>
      <p:sp>
        <p:nvSpPr>
          <p:cNvPr id="28" name="text-39">
            <a:extLst xmlns:a="http://schemas.openxmlformats.org/drawingml/2006/main">
              <a:ext uri="{FF2B5EF4-FFF2-40B4-BE49-F238E27FC236}">
                <a16:creationId xmlns:a16="http://schemas.microsoft.com/office/drawing/2014/main" id="{7856AF2B-50F1-4C16-A524-CFD94AA81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800475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执行是否处于允许范围</a:t>
            </a:r>
          </a:p>
        </p:txBody>
      </p:sp>
      <p:sp>
        <p:nvSpPr>
          <p:cNvPr id="29" name="text-40">
            <a:extLst xmlns:a="http://schemas.openxmlformats.org/drawingml/2006/main">
              <a:ext uri="{FF2B5EF4-FFF2-40B4-BE49-F238E27FC236}">
                <a16:creationId xmlns:a16="http://schemas.microsoft.com/office/drawing/2014/main" id="{13C3BFD0-1327-414F-B487-20E8BBFD2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7346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  <a:defRPr sz="210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大模型会动态提出操作与调整方案，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  <a:defRPr sz="210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因此必须明确它进入设备执行的边界。</a:t>
            </a:r>
          </a:p>
        </p:txBody>
      </p:sp>
    </p:spTree>
    <p:extLst>
      <p:ext uri="{BB962C8B-B14F-4D97-AF65-F5344CB8AC3E}">
        <p14:creationId xmlns:p14="http://schemas.microsoft.com/office/powerpoint/2010/main" val="201937635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549AF34-3761-4A6D-937D-530DE446C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C557BCB-0EEA-4C8B-95C6-69204DFD0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  统一建模框架：L = ⟨R, F, C, Π⟩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6A2F7021-A056-490E-854F-D52508AE7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93CA0FFF-DFC4-4A10-9EC5-A1D1CEC17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3/10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text-41">
            <a:extLst xmlns:a="http://schemas.openxmlformats.org/drawingml/2006/main">
              <a:ext uri="{FF2B5EF4-FFF2-40B4-BE49-F238E27FC236}">
                <a16:creationId xmlns:a16="http://schemas.microsoft.com/office/drawing/2014/main" id="{1EC33283-54FE-4A4F-B4A0-43F92EAF6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87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5B6B7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5B6B78"/>
                </a:solidFill>
                <a:latin typeface="微软雅黑"/>
                <a:ea typeface="微软雅黑"/>
                <a:cs typeface="微软雅黑"/>
              </a:rPr>
              <a:t>把实验室任务抽象为资源、工作流与约束，并用跨层协议连接它们</a:t>
            </a:r>
          </a:p>
        </p:txBody>
      </p:sp>
      <p:sp>
        <p:nvSpPr>
          <p:cNvPr id="17" name="diagram-42">
            <a:extLst xmlns:a="http://schemas.openxmlformats.org/drawingml/2006/main">
              <a:ext uri="{FF2B5EF4-FFF2-40B4-BE49-F238E27FC236}">
                <a16:creationId xmlns:a16="http://schemas.microsoft.com/office/drawing/2014/main" id="{E9EACE82-4EBC-40FA-AE7A-9C7147ED9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321945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3335">
            <a:solidFill>
              <a:srgbClr val="2774AC"/>
            </a:solidFill>
          </a:ln>
        </p:spPr>
      </p:sp>
      <p:sp>
        <p:nvSpPr>
          <p:cNvPr id="18" name="text-43">
            <a:extLst xmlns:a="http://schemas.openxmlformats.org/drawingml/2006/main">
              <a:ext uri="{FF2B5EF4-FFF2-40B4-BE49-F238E27FC236}">
                <a16:creationId xmlns:a16="http://schemas.microsoft.com/office/drawing/2014/main" id="{D33DA57C-F84F-4845-A8BA-EDCDF11B7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66950"/>
            <a:ext cx="272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2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R  资源层</a:t>
            </a:r>
          </a:p>
        </p:txBody>
      </p:sp>
      <p:sp>
        <p:nvSpPr>
          <p:cNvPr id="19" name="text-44">
            <a:extLst xmlns:a="http://schemas.openxmlformats.org/drawingml/2006/main">
              <a:ext uri="{FF2B5EF4-FFF2-40B4-BE49-F238E27FC236}">
                <a16:creationId xmlns:a16="http://schemas.microsoft.com/office/drawing/2014/main" id="{C3314B4A-1513-43F9-B6D7-CBD12C594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33700"/>
            <a:ext cx="27051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160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设备能力与属性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160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设备状态机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160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设备数据与执行反馈</a:t>
            </a:r>
          </a:p>
        </p:txBody>
      </p:sp>
      <p:sp>
        <p:nvSpPr>
          <p:cNvPr id="20" name="diagram-45">
            <a:extLst xmlns:a="http://schemas.openxmlformats.org/drawingml/2006/main">
              <a:ext uri="{FF2B5EF4-FFF2-40B4-BE49-F238E27FC236}">
                <a16:creationId xmlns:a16="http://schemas.microsoft.com/office/drawing/2014/main" id="{F5670227-29FA-4348-A61F-9523893D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019300"/>
            <a:ext cx="321945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3335">
            <a:solidFill>
              <a:srgbClr val="2774AC"/>
            </a:solidFill>
          </a:ln>
        </p:spPr>
      </p:sp>
      <p:sp>
        <p:nvSpPr>
          <p:cNvPr id="21" name="text-46">
            <a:extLst xmlns:a="http://schemas.openxmlformats.org/drawingml/2006/main">
              <a:ext uri="{FF2B5EF4-FFF2-40B4-BE49-F238E27FC236}">
                <a16:creationId xmlns:a16="http://schemas.microsoft.com/office/drawing/2014/main" id="{C53D9318-1DD9-4AB1-BF6F-8BC384E91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266950"/>
            <a:ext cx="272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2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F  工作流层</a:t>
            </a:r>
          </a:p>
        </p:txBody>
      </p:sp>
      <p:sp>
        <p:nvSpPr>
          <p:cNvPr id="22" name="text-47">
            <a:extLst xmlns:a="http://schemas.openxmlformats.org/drawingml/2006/main">
              <a:ext uri="{FF2B5EF4-FFF2-40B4-BE49-F238E27FC236}">
                <a16:creationId xmlns:a16="http://schemas.microsoft.com/office/drawing/2014/main" id="{8F5AE213-CF34-4D5A-9436-119CFE885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933700"/>
            <a:ext cx="27051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160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任务节点与生命周期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160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接口、触发器与变量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160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数据端口与执行关系</a:t>
            </a:r>
          </a:p>
        </p:txBody>
      </p:sp>
      <p:sp>
        <p:nvSpPr>
          <p:cNvPr id="23" name="diagram-48">
            <a:extLst xmlns:a="http://schemas.openxmlformats.org/drawingml/2006/main">
              <a:ext uri="{FF2B5EF4-FFF2-40B4-BE49-F238E27FC236}">
                <a16:creationId xmlns:a16="http://schemas.microsoft.com/office/drawing/2014/main" id="{2F1E57D1-40A9-4BBB-BCAC-CF37A1D78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19300"/>
            <a:ext cx="321945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CF2E4"/>
          </a:solidFill>
          <a:ln xmlns:a="http://schemas.openxmlformats.org/drawingml/2006/main" w="13335">
            <a:solidFill>
              <a:srgbClr val="B77623"/>
            </a:solidFill>
          </a:ln>
        </p:spPr>
      </p:sp>
      <p:sp>
        <p:nvSpPr>
          <p:cNvPr id="24" name="text-49">
            <a:extLst xmlns:a="http://schemas.openxmlformats.org/drawingml/2006/main">
              <a:ext uri="{FF2B5EF4-FFF2-40B4-BE49-F238E27FC236}">
                <a16:creationId xmlns:a16="http://schemas.microsoft.com/office/drawing/2014/main" id="{5AC8B393-86E4-4AA0-83E9-336CF664C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266950"/>
            <a:ext cx="272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250" b="1">
                <a:solidFill>
                  <a:srgbClr val="B7762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B77623"/>
                </a:solidFill>
                <a:latin typeface="微软雅黑"/>
                <a:ea typeface="微软雅黑"/>
                <a:cs typeface="微软雅黑"/>
              </a:rPr>
              <a:t>C  约束层</a:t>
            </a:r>
          </a:p>
        </p:txBody>
      </p:sp>
      <p:sp>
        <p:nvSpPr>
          <p:cNvPr id="25" name="text-50">
            <a:extLst xmlns:a="http://schemas.openxmlformats.org/drawingml/2006/main">
              <a:ext uri="{FF2B5EF4-FFF2-40B4-BE49-F238E27FC236}">
                <a16:creationId xmlns:a16="http://schemas.microsoft.com/office/drawing/2014/main" id="{F143D15F-C883-47FC-89ED-C89E5860E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933700"/>
            <a:ext cx="27051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160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实验室基线约束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160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任务目标与执行边界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160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观察条件与处理动作</a:t>
            </a:r>
          </a:p>
        </p:txBody>
      </p:sp>
      <p:sp>
        <p:nvSpPr>
          <p:cNvPr id="26" name="anchor-51">
            <a:extLst xmlns:a="http://schemas.openxmlformats.org/drawingml/2006/main">
              <a:ext uri="{FF2B5EF4-FFF2-40B4-BE49-F238E27FC236}">
                <a16:creationId xmlns:a16="http://schemas.microsoft.com/office/drawing/2014/main" id="{08107113-48D1-4B91-ACE2-1371CC957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813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" name="anchor-52">
            <a:extLst xmlns:a="http://schemas.openxmlformats.org/drawingml/2006/main">
              <a:ext uri="{FF2B5EF4-FFF2-40B4-BE49-F238E27FC236}">
                <a16:creationId xmlns:a16="http://schemas.microsoft.com/office/drawing/2014/main" id="{D4D0DB3B-C405-4BE0-9D84-460433334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33813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3" name=""/>
          <p:cNvCxnSpPr>
            <a:stCxn xmlns:a="http://schemas.openxmlformats.org/drawingml/2006/main" id="26" idx="1"/>
            <a:endCxn xmlns:a="http://schemas.openxmlformats.org/drawingml/2006/main" id="27" idx="3"/>
          </p:cNvCxnSpPr>
          <p:nvPr/>
        </p:nvCxnSpPr>
        <p:spPr>
          <a:xfrm xmlns:a="http://schemas.openxmlformats.org/drawingml/2006/main" flipH="1">
            <a:off x="3914775" y="3390900"/>
            <a:ext cx="5619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4AC"/>
            </a:solidFill>
            <a:prstDash val="solid"/>
            <a:tailEnd type="triangle" w="med" len="med"/>
          </a:ln>
        </p:spPr>
      </p:cxnSp>
      <p:sp>
        <p:nvSpPr>
          <p:cNvPr id="29" name="anchor-53">
            <a:extLst xmlns:a="http://schemas.openxmlformats.org/drawingml/2006/main">
              <a:ext uri="{FF2B5EF4-FFF2-40B4-BE49-F238E27FC236}">
                <a16:creationId xmlns:a16="http://schemas.microsoft.com/office/drawing/2014/main" id="{DB8B7A19-FFDE-4EFF-8736-F19F497D7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3813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" name="anchor-54">
            <a:extLst xmlns:a="http://schemas.openxmlformats.org/drawingml/2006/main">
              <a:ext uri="{FF2B5EF4-FFF2-40B4-BE49-F238E27FC236}">
                <a16:creationId xmlns:a16="http://schemas.microsoft.com/office/drawing/2014/main" id="{85B4F9D2-3641-4BE2-8E5B-4C55FE314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3813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6" name=""/>
          <p:cNvCxnSpPr>
            <a:stCxn xmlns:a="http://schemas.openxmlformats.org/drawingml/2006/main" id="29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7715250" y="3390900"/>
            <a:ext cx="5619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7623"/>
            </a:solidFill>
            <a:prstDash val="solid"/>
            <a:tailEnd type="triangle" w="med" len="med"/>
          </a:ln>
        </p:spPr>
      </p:cxnSp>
      <p:sp>
        <p:nvSpPr>
          <p:cNvPr id="32" name="text-55">
            <a:extLst xmlns:a="http://schemas.openxmlformats.org/drawingml/2006/main">
              <a:ext uri="{FF2B5EF4-FFF2-40B4-BE49-F238E27FC236}">
                <a16:creationId xmlns:a16="http://schemas.microsoft.com/office/drawing/2014/main" id="{CACDF9E7-33D0-4230-BFBE-A2CE04CCA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57525"/>
            <a:ext cx="5810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5B6B78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B6B78"/>
                </a:solidFill>
                <a:latin typeface="微软雅黑"/>
                <a:ea typeface="微软雅黑"/>
                <a:cs typeface="微软雅黑"/>
              </a:rPr>
              <a:t>调用</a:t>
            </a:r>
          </a:p>
        </p:txBody>
      </p:sp>
      <p:sp>
        <p:nvSpPr>
          <p:cNvPr id="33" name="text-56">
            <a:extLst xmlns:a="http://schemas.openxmlformats.org/drawingml/2006/main">
              <a:ext uri="{FF2B5EF4-FFF2-40B4-BE49-F238E27FC236}">
                <a16:creationId xmlns:a16="http://schemas.microsoft.com/office/drawing/2014/main" id="{697FA580-CC3C-48FD-9E7F-6408DFBC5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57525"/>
            <a:ext cx="5810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B7762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B77623"/>
                </a:solidFill>
                <a:latin typeface="微软雅黑"/>
                <a:ea typeface="微软雅黑"/>
                <a:cs typeface="微软雅黑"/>
              </a:rPr>
              <a:t>观察</a:t>
            </a:r>
          </a:p>
        </p:txBody>
      </p:sp>
      <p:sp>
        <p:nvSpPr>
          <p:cNvPr id="34" name="anchor-57">
            <a:extLst xmlns:a="http://schemas.openxmlformats.org/drawingml/2006/main">
              <a:ext uri="{FF2B5EF4-FFF2-40B4-BE49-F238E27FC236}">
                <a16:creationId xmlns:a16="http://schemas.microsoft.com/office/drawing/2014/main" id="{D6C0EDD5-47E4-4ED5-9F0E-DB7047928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7720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anchor-58">
            <a:extLst xmlns:a="http://schemas.openxmlformats.org/drawingml/2006/main">
              <a:ext uri="{FF2B5EF4-FFF2-40B4-BE49-F238E27FC236}">
                <a16:creationId xmlns:a16="http://schemas.microsoft.com/office/drawing/2014/main" id="{0250EE04-A1E3-4875-9415-062E20563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0292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anchor-59">
            <a:extLst xmlns:a="http://schemas.openxmlformats.org/drawingml/2006/main">
              <a:ext uri="{FF2B5EF4-FFF2-40B4-BE49-F238E27FC236}">
                <a16:creationId xmlns:a16="http://schemas.microsoft.com/office/drawing/2014/main" id="{D549C667-0705-4604-9F03-6379CC5A8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50292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" name="anchor-60">
            <a:extLst xmlns:a="http://schemas.openxmlformats.org/drawingml/2006/main">
              <a:ext uri="{FF2B5EF4-FFF2-40B4-BE49-F238E27FC236}">
                <a16:creationId xmlns:a16="http://schemas.microsoft.com/office/drawing/2014/main" id="{59C253A2-9311-4902-88CC-92151AB19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7720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3" name=""/>
          <p:cNvCxnSpPr>
            <a:stCxn xmlns:a="http://schemas.openxmlformats.org/drawingml/2006/main" id="34" idx="2"/>
            <a:endCxn xmlns:a="http://schemas.openxmlformats.org/drawingml/2006/main" id="35" idx="0"/>
          </p:cNvCxnSpPr>
          <p:nvPr/>
        </p:nvCxnSpPr>
        <p:spPr>
          <a:xfrm xmlns:a="http://schemas.openxmlformats.org/drawingml/2006/main">
            <a:off x="2295525" y="4791075"/>
            <a:ext cx="0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7623"/>
            </a:solidFill>
            <a:prstDash val="dash"/>
            <a:tailEnd type="none" w="med" len="med"/>
          </a:ln>
        </p:spPr>
      </p:cxnSp>
      <p:cxnSp>
        <p:nvCxnSpPr>
          <p:cNvPr id="74" name="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2305050" y="5038725"/>
            <a:ext cx="7581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7623"/>
            </a:solidFill>
            <a:prstDash val="dash"/>
            <a:tailEnd type="none" w="med" len="med"/>
          </a:ln>
        </p:spPr>
      </p:cxnSp>
      <p:cxnSp>
        <p:nvCxnSpPr>
          <p:cNvPr id="75" name=""/>
          <p:cNvCxnSpPr>
            <a:stCxn xmlns:a="http://schemas.openxmlformats.org/drawingml/2006/main" id="36" idx="0"/>
            <a:endCxn xmlns:a="http://schemas.openxmlformats.org/drawingml/2006/main" id="37" idx="2"/>
          </p:cNvCxnSpPr>
          <p:nvPr/>
        </p:nvCxnSpPr>
        <p:spPr>
          <a:xfrm xmlns:a="http://schemas.openxmlformats.org/drawingml/2006/main" flipV="1">
            <a:off x="9896475" y="4791075"/>
            <a:ext cx="0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7623"/>
            </a:solidFill>
            <a:prstDash val="dash"/>
            <a:tailEnd type="triangle" w="med" len="med"/>
          </a:ln>
        </p:spPr>
      </p:cxnSp>
      <p:sp>
        <p:nvSpPr>
          <p:cNvPr id="41" name="text-61">
            <a:extLst xmlns:a="http://schemas.openxmlformats.org/drawingml/2006/main">
              <a:ext uri="{FF2B5EF4-FFF2-40B4-BE49-F238E27FC236}">
                <a16:creationId xmlns:a16="http://schemas.microsoft.com/office/drawing/2014/main" id="{8A4F6495-8F9D-4FE9-B87C-DEAF3DB15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810125"/>
            <a:ext cx="3695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B7762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B77623"/>
                </a:solidFill>
                <a:latin typeface="微软雅黑"/>
                <a:ea typeface="微软雅黑"/>
                <a:cs typeface="微软雅黑"/>
              </a:rPr>
              <a:t>资源状态进入约束观察</a:t>
            </a:r>
          </a:p>
        </p:txBody>
      </p:sp>
      <p:sp>
        <p:nvSpPr>
          <p:cNvPr id="42" name="diagram-62">
            <a:extLst xmlns:a="http://schemas.openxmlformats.org/drawingml/2006/main">
              <a:ext uri="{FF2B5EF4-FFF2-40B4-BE49-F238E27FC236}">
                <a16:creationId xmlns:a16="http://schemas.microsoft.com/office/drawing/2014/main" id="{9BB6F13B-C92F-48DD-9E52-7D587F467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67325"/>
            <a:ext cx="108204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3335">
            <a:solidFill>
              <a:srgbClr val="9BB7CC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Aft>
                <a:spcPts val="250"/>
              </a:spcAft>
              <a:buNone/>
              <a:defRPr sz="180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Π  跨层协议：接口类型、允许信号、数据类型与反馈格式</a:t>
            </a:r>
          </a:p>
        </p:txBody>
      </p:sp>
      <p:sp>
        <p:nvSpPr>
          <p:cNvPr id="43" name="anchor-63">
            <a:extLst xmlns:a="http://schemas.openxmlformats.org/drawingml/2006/main">
              <a:ext uri="{FF2B5EF4-FFF2-40B4-BE49-F238E27FC236}">
                <a16:creationId xmlns:a16="http://schemas.microsoft.com/office/drawing/2014/main" id="{B078A90E-4207-476B-B8C4-58912330C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0102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" name="anchor-64">
            <a:extLst xmlns:a="http://schemas.openxmlformats.org/drawingml/2006/main">
              <a:ext uri="{FF2B5EF4-FFF2-40B4-BE49-F238E27FC236}">
                <a16:creationId xmlns:a16="http://schemas.microsoft.com/office/drawing/2014/main" id="{5EDAA1C4-19DB-4B20-896B-F2188AB19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0025" y="60102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0" name=""/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561975" y="6019800"/>
            <a:ext cx="110680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BB7CC"/>
            </a:solidFill>
            <a:prstDash val="solid"/>
            <a:tailEnd type="none" w="med" len="med"/>
          </a:ln>
        </p:spPr>
      </p:cxnSp>
      <p:sp>
        <p:nvSpPr>
          <p:cNvPr id="46" name="text-65">
            <a:extLst xmlns:a="http://schemas.openxmlformats.org/drawingml/2006/main">
              <a:ext uri="{FF2B5EF4-FFF2-40B4-BE49-F238E27FC236}">
                <a16:creationId xmlns:a16="http://schemas.microsoft.com/office/drawing/2014/main" id="{35F2DBDD-6324-4CAF-A0C3-3F739093B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150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三层描述对象与规则，跨层协议保证它们在同一条执行语义中协同。</a:t>
            </a:r>
          </a:p>
        </p:txBody>
      </p:sp>
    </p:spTree>
    <p:extLst>
      <p:ext uri="{BB962C8B-B14F-4D97-AF65-F5344CB8AC3E}">
        <p14:creationId xmlns:p14="http://schemas.microsoft.com/office/powerpoint/2010/main" val="2557203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FE50159-5E8A-4CFE-8EA6-1561CDB4A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A53EDE4-1DF7-4188-9A8A-D19DBF9C4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  工作流模型：节点、接口与触发器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D032FF4-E7AB-4D14-BC4B-D69C6CA5D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5ECC6D0-D22A-4F7B-BA07-10CC7E7E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4/10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text-66">
            <a:extLst xmlns:a="http://schemas.openxmlformats.org/drawingml/2006/main">
              <a:ext uri="{FF2B5EF4-FFF2-40B4-BE49-F238E27FC236}">
                <a16:creationId xmlns:a16="http://schemas.microsoft.com/office/drawing/2014/main" id="{43584549-8CF3-4F74-ADBE-3DD9380AC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87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5B6B7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5B6B78"/>
                </a:solidFill>
                <a:latin typeface="微软雅黑"/>
                <a:ea typeface="微软雅黑"/>
                <a:cs typeface="微软雅黑"/>
              </a:rPr>
              <a:t>节点把任务变量、生命周期、接口和触发条件放在同一个语义单元中</a:t>
            </a:r>
          </a:p>
        </p:txBody>
      </p:sp>
      <p:sp>
        <p:nvSpPr>
          <p:cNvPr id="9" name="diagram-67">
            <a:extLst xmlns:a="http://schemas.openxmlformats.org/drawingml/2006/main">
              <a:ext uri="{FF2B5EF4-FFF2-40B4-BE49-F238E27FC236}">
                <a16:creationId xmlns:a16="http://schemas.microsoft.com/office/drawing/2014/main" id="{AF70D61C-430A-4D35-A985-654C54B41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1857375"/>
            <a:ext cx="7029450" cy="3486150"/>
          </a:xfrm>
          <a:prstGeom xmlns:a="http://schemas.openxmlformats.org/drawingml/2006/main" prst="roundRect">
            <a:avLst>
              <a:gd name="adj" fmla="val 21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774AC"/>
            </a:solidFill>
          </a:ln>
        </p:spPr>
      </p:sp>
      <p:sp>
        <p:nvSpPr>
          <p:cNvPr id="10" name="text-68">
            <a:extLst xmlns:a="http://schemas.openxmlformats.org/drawingml/2006/main">
              <a:ext uri="{FF2B5EF4-FFF2-40B4-BE49-F238E27FC236}">
                <a16:creationId xmlns:a16="http://schemas.microsoft.com/office/drawing/2014/main" id="{65569CD0-50D9-4659-A1D9-F9974FEAE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009775"/>
            <a:ext cx="6572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一个工作流节点</a:t>
            </a:r>
          </a:p>
        </p:txBody>
      </p:sp>
      <p:sp>
        <p:nvSpPr>
          <p:cNvPr id="11" name="anchor-69">
            <a:extLst xmlns:a="http://schemas.openxmlformats.org/drawingml/2006/main">
              <a:ext uri="{FF2B5EF4-FFF2-40B4-BE49-F238E27FC236}">
                <a16:creationId xmlns:a16="http://schemas.microsoft.com/office/drawing/2014/main" id="{EDC72F1C-8B45-4595-81EE-9EE6E6204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4574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" name="anchor-70">
            <a:extLst xmlns:a="http://schemas.openxmlformats.org/drawingml/2006/main">
              <a:ext uri="{FF2B5EF4-FFF2-40B4-BE49-F238E27FC236}">
                <a16:creationId xmlns:a16="http://schemas.microsoft.com/office/drawing/2014/main" id="{B7968785-3FAA-461C-8034-E2E6FDDB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574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4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762250" y="2466975"/>
            <a:ext cx="6667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BB7CC"/>
            </a:solidFill>
            <a:prstDash val="solid"/>
            <a:tailEnd type="none" w="med" len="med"/>
          </a:ln>
        </p:spPr>
      </p:cxnSp>
      <p:sp>
        <p:nvSpPr>
          <p:cNvPr id="14" name="diagram-71">
            <a:extLst xmlns:a="http://schemas.openxmlformats.org/drawingml/2006/main">
              <a:ext uri="{FF2B5EF4-FFF2-40B4-BE49-F238E27FC236}">
                <a16:creationId xmlns:a16="http://schemas.microsoft.com/office/drawing/2014/main" id="{34C3E576-45BD-4CEA-A6ED-F1F1709DE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676525"/>
            <a:ext cx="29146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9F5F2"/>
          </a:solidFill>
          <a:ln xmlns:a="http://schemas.openxmlformats.org/drawingml/2006/main" w="13335">
            <a:solidFill>
              <a:srgbClr val="178477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Aft>
                <a:spcPts val="400"/>
              </a:spcAft>
              <a:buNone/>
              <a:defRPr sz="172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内部变量空间</a:t>
            </a:r>
          </a:p>
          <a:p xmlns:a="http://schemas.openxmlformats.org/drawingml/2006/main">
            <a:pPr algn="ctr">
              <a:lnSpc>
                <a:spcPct val="108000"/>
              </a:lnSpc>
              <a:spcAft>
                <a:spcPts val="400"/>
              </a:spcAft>
              <a:buNone/>
              <a:defRPr sz="172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当前值、目标值、业务标志</a:t>
            </a:r>
          </a:p>
        </p:txBody>
      </p:sp>
      <p:sp>
        <p:nvSpPr>
          <p:cNvPr id="15" name="diagram-72">
            <a:extLst xmlns:a="http://schemas.openxmlformats.org/drawingml/2006/main">
              <a:ext uri="{FF2B5EF4-FFF2-40B4-BE49-F238E27FC236}">
                <a16:creationId xmlns:a16="http://schemas.microsoft.com/office/drawing/2014/main" id="{247AAED0-0540-419D-A1DF-A28C2953F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676525"/>
            <a:ext cx="31242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3335">
            <a:solidFill>
              <a:srgbClr val="2774AC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Aft>
                <a:spcPts val="400"/>
              </a:spcAft>
              <a:buNone/>
              <a:defRPr sz="172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节点生命周期</a:t>
            </a:r>
          </a:p>
          <a:p xmlns:a="http://schemas.openxmlformats.org/drawingml/2006/main">
            <a:pPr algn="ctr">
              <a:lnSpc>
                <a:spcPct val="108000"/>
              </a:lnSpc>
              <a:spcAft>
                <a:spcPts val="400"/>
              </a:spcAft>
              <a:buNone/>
              <a:defRPr sz="172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待执行、运行中、已完成、失败</a:t>
            </a:r>
          </a:p>
        </p:txBody>
      </p:sp>
      <p:sp>
        <p:nvSpPr>
          <p:cNvPr id="16" name="diagram-73">
            <a:extLst xmlns:a="http://schemas.openxmlformats.org/drawingml/2006/main">
              <a:ext uri="{FF2B5EF4-FFF2-40B4-BE49-F238E27FC236}">
                <a16:creationId xmlns:a16="http://schemas.microsoft.com/office/drawing/2014/main" id="{5424ECF3-A95B-46AD-A2A8-A0A34C01B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219575"/>
            <a:ext cx="643890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3335">
            <a:solidFill>
              <a:srgbClr val="9BB7CC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Aft>
                <a:spcPts val="550"/>
              </a:spcAft>
              <a:buNone/>
              <a:defRPr sz="1650" b="0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触发器：条件 + 动作</a:t>
            </a:r>
          </a:p>
          <a:p xmlns:a="http://schemas.openxmlformats.org/drawingml/2006/main">
            <a:pPr algn="ctr">
              <a:lnSpc>
                <a:spcPct val="108000"/>
              </a:lnSpc>
              <a:spcAft>
                <a:spcPts val="550"/>
              </a:spcAft>
              <a:buNone/>
              <a:defRPr sz="1650" b="0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读取变量、接口值和生命周期，驱动 UPDATE / EMIT</a:t>
            </a:r>
          </a:p>
        </p:txBody>
      </p:sp>
      <p:sp>
        <p:nvSpPr>
          <p:cNvPr id="17" name="anchor-74">
            <a:extLst xmlns:a="http://schemas.openxmlformats.org/drawingml/2006/main">
              <a:ext uri="{FF2B5EF4-FFF2-40B4-BE49-F238E27FC236}">
                <a16:creationId xmlns:a16="http://schemas.microsoft.com/office/drawing/2014/main" id="{E8D1D034-B0FC-44E5-9797-E4A476ACB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9243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" name="anchor-75">
            <a:extLst xmlns:a="http://schemas.openxmlformats.org/drawingml/2006/main">
              <a:ext uri="{FF2B5EF4-FFF2-40B4-BE49-F238E27FC236}">
                <a16:creationId xmlns:a16="http://schemas.microsoft.com/office/drawing/2014/main" id="{EC74042C-042E-4231-834D-51CCD8559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42100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0" name=""/>
          <p:cNvCxnSpPr>
            <a:stCxn xmlns:a="http://schemas.openxmlformats.org/drawingml/2006/main" id="17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4362450" y="3943350"/>
            <a:ext cx="0" cy="266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8477"/>
            </a:solidFill>
            <a:prstDash val="solid"/>
            <a:tailEnd type="triangle" w="med" len="med"/>
          </a:ln>
        </p:spPr>
      </p:cxnSp>
      <p:sp>
        <p:nvSpPr>
          <p:cNvPr id="20" name="anchor-76">
            <a:extLst xmlns:a="http://schemas.openxmlformats.org/drawingml/2006/main">
              <a:ext uri="{FF2B5EF4-FFF2-40B4-BE49-F238E27FC236}">
                <a16:creationId xmlns:a16="http://schemas.microsoft.com/office/drawing/2014/main" id="{AA807FFF-6224-4DD5-AD14-F6F677D4A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9243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" name="anchor-77">
            <a:extLst xmlns:a="http://schemas.openxmlformats.org/drawingml/2006/main">
              <a:ext uri="{FF2B5EF4-FFF2-40B4-BE49-F238E27FC236}">
                <a16:creationId xmlns:a16="http://schemas.microsoft.com/office/drawing/2014/main" id="{A422CA64-E68F-4723-8FB1-186D04611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100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3" name=""/>
          <p:cNvCxnSpPr>
            <a:stCxn xmlns:a="http://schemas.openxmlformats.org/drawingml/2006/main" id="20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7781925" y="3943350"/>
            <a:ext cx="0" cy="266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4AC"/>
            </a:solidFill>
            <a:prstDash val="solid"/>
            <a:tailEnd type="triangle" w="med" len="med"/>
          </a:ln>
        </p:spPr>
      </p:cxnSp>
      <p:sp>
        <p:nvSpPr>
          <p:cNvPr id="23" name="diagram-78">
            <a:extLst xmlns:a="http://schemas.openxmlformats.org/drawingml/2006/main">
              <a:ext uri="{FF2B5EF4-FFF2-40B4-BE49-F238E27FC236}">
                <a16:creationId xmlns:a16="http://schemas.microsoft.com/office/drawing/2014/main" id="{58375A74-BCA9-43AB-A5D7-A687DE9BC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09850"/>
            <a:ext cx="16002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9F5F2"/>
          </a:solidFill>
          <a:ln xmlns:a="http://schemas.openxmlformats.org/drawingml/2006/main" w="13335">
            <a:solidFill>
              <a:srgbClr val="178477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Aft>
                <a:spcPts val="500"/>
              </a:spcAft>
              <a:buNone/>
              <a:defRPr sz="157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数据输入端口</a:t>
            </a:r>
          </a:p>
          <a:p xmlns:a="http://schemas.openxmlformats.org/drawingml/2006/main">
            <a:pPr algn="ctr">
              <a:lnSpc>
                <a:spcPct val="108000"/>
              </a:lnSpc>
              <a:spcAft>
                <a:spcPts val="500"/>
              </a:spcAft>
              <a:buNone/>
              <a:defRPr sz="157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设备属性映射</a:t>
            </a:r>
          </a:p>
        </p:txBody>
      </p:sp>
      <p:sp>
        <p:nvSpPr>
          <p:cNvPr id="24" name="anchor-79">
            <a:extLst xmlns:a="http://schemas.openxmlformats.org/drawingml/2006/main">
              <a:ext uri="{FF2B5EF4-FFF2-40B4-BE49-F238E27FC236}">
                <a16:creationId xmlns:a16="http://schemas.microsoft.com/office/drawing/2014/main" id="{FDB46DF4-9A57-4FD7-978B-C8747A2BA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9622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" name="anchor-80">
            <a:extLst xmlns:a="http://schemas.openxmlformats.org/drawingml/2006/main">
              <a:ext uri="{FF2B5EF4-FFF2-40B4-BE49-F238E27FC236}">
                <a16:creationId xmlns:a16="http://schemas.microsoft.com/office/drawing/2014/main" id="{719D3860-D815-4209-BF1C-E2B29E5C4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9622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anchor-81">
            <a:extLst xmlns:a="http://schemas.openxmlformats.org/drawingml/2006/main">
              <a:ext uri="{FF2B5EF4-FFF2-40B4-BE49-F238E27FC236}">
                <a16:creationId xmlns:a16="http://schemas.microsoft.com/office/drawing/2014/main" id="{DA2F835C-28FF-42FE-A063-C2063124B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2956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" name="anchor-82">
            <a:extLst xmlns:a="http://schemas.openxmlformats.org/drawingml/2006/main">
              <a:ext uri="{FF2B5EF4-FFF2-40B4-BE49-F238E27FC236}">
                <a16:creationId xmlns:a16="http://schemas.microsoft.com/office/drawing/2014/main" id="{E80AC5EC-5E72-4570-B866-BA4AAF8EE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2956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9" name=""/>
          <p:cNvCxnSpPr>
            <a:stCxn xmlns:a="http://schemas.openxmlformats.org/drawingml/2006/main" id="24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2190750" y="29718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8477"/>
            </a:solidFill>
            <a:prstDash val="dash"/>
            <a:tailEnd type="none" w="med" len="med"/>
          </a:ln>
        </p:spPr>
      </p:cxnSp>
      <p:cxnSp>
        <p:nvCxnSpPr>
          <p:cNvPr id="80" name=""/>
          <p:cNvCxnSpPr>
            <a:stCxn xmlns:a="http://schemas.openxmlformats.org/drawingml/2006/main" id="25" idx="2"/>
            <a:endCxn xmlns:a="http://schemas.openxmlformats.org/drawingml/2006/main" id="26" idx="0"/>
          </p:cNvCxnSpPr>
          <p:nvPr/>
        </p:nvCxnSpPr>
        <p:spPr>
          <a:xfrm xmlns:a="http://schemas.openxmlformats.org/drawingml/2006/main">
            <a:off x="2581275" y="2981325"/>
            <a:ext cx="0" cy="3143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8477"/>
            </a:solidFill>
            <a:prstDash val="dash"/>
            <a:tailEnd type="none" w="med" len="med"/>
          </a:ln>
        </p:spPr>
      </p:cxnSp>
      <p:cxnSp>
        <p:nvCxnSpPr>
          <p:cNvPr id="81" name=""/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2590800" y="330517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8477"/>
            </a:solidFill>
            <a:prstDash val="dash"/>
            <a:tailEnd type="triangle" w="med" len="med"/>
          </a:ln>
        </p:spPr>
      </p:cxnSp>
      <p:sp>
        <p:nvSpPr>
          <p:cNvPr id="31" name="diagram-83">
            <a:extLst xmlns:a="http://schemas.openxmlformats.org/drawingml/2006/main">
              <a:ext uri="{FF2B5EF4-FFF2-40B4-BE49-F238E27FC236}">
                <a16:creationId xmlns:a16="http://schemas.microsoft.com/office/drawing/2014/main" id="{F30D4B43-1866-42D9-8C8D-685065F78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314825"/>
            <a:ext cx="16002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3335">
            <a:solidFill>
              <a:srgbClr val="9BB7CC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Aft>
                <a:spcPts val="500"/>
              </a:spcAft>
              <a:buNone/>
              <a:defRPr sz="157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控制输入接口</a:t>
            </a:r>
          </a:p>
          <a:p xmlns:a="http://schemas.openxmlformats.org/drawingml/2006/main">
            <a:pPr algn="ctr">
              <a:lnSpc>
                <a:spcPct val="108000"/>
              </a:lnSpc>
              <a:spcAft>
                <a:spcPts val="500"/>
              </a:spcAft>
              <a:buNone/>
              <a:defRPr sz="157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信号及载荷</a:t>
            </a:r>
          </a:p>
        </p:txBody>
      </p:sp>
      <p:sp>
        <p:nvSpPr>
          <p:cNvPr id="32" name="anchor-84">
            <a:extLst xmlns:a="http://schemas.openxmlformats.org/drawingml/2006/main">
              <a:ext uri="{FF2B5EF4-FFF2-40B4-BE49-F238E27FC236}">
                <a16:creationId xmlns:a16="http://schemas.microsoft.com/office/drawing/2014/main" id="{661134E7-8F42-4AED-A29E-81B1CC66A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6672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" name="anchor-85">
            <a:extLst xmlns:a="http://schemas.openxmlformats.org/drawingml/2006/main">
              <a:ext uri="{FF2B5EF4-FFF2-40B4-BE49-F238E27FC236}">
                <a16:creationId xmlns:a16="http://schemas.microsoft.com/office/drawing/2014/main" id="{1D39FEAF-65BC-4199-A616-E8FFE4AD6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6672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5" name=""/>
          <p:cNvCxnSpPr>
            <a:stCxn xmlns:a="http://schemas.openxmlformats.org/drawingml/2006/main" id="32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2190750" y="4676775"/>
            <a:ext cx="704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4AC"/>
            </a:solidFill>
            <a:prstDash val="solid"/>
            <a:tailEnd type="triangle" w="med" len="med"/>
          </a:ln>
        </p:spPr>
      </p:cxnSp>
      <p:sp>
        <p:nvSpPr>
          <p:cNvPr id="35" name="diagram-86">
            <a:extLst xmlns:a="http://schemas.openxmlformats.org/drawingml/2006/main">
              <a:ext uri="{FF2B5EF4-FFF2-40B4-BE49-F238E27FC236}">
                <a16:creationId xmlns:a16="http://schemas.microsoft.com/office/drawing/2014/main" id="{429244C0-97D4-4CC7-8AAE-2A8317095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2609850"/>
            <a:ext cx="16002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9F5F2"/>
          </a:solidFill>
          <a:ln xmlns:a="http://schemas.openxmlformats.org/drawingml/2006/main" w="13335">
            <a:solidFill>
              <a:srgbClr val="178477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Aft>
                <a:spcPts val="500"/>
              </a:spcAft>
              <a:buNone/>
              <a:defRPr sz="1500" b="0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数据输出端口</a:t>
            </a:r>
          </a:p>
          <a:p xmlns:a="http://schemas.openxmlformats.org/drawingml/2006/main">
            <a:pPr algn="ctr">
              <a:lnSpc>
                <a:spcPct val="108000"/>
              </a:lnSpc>
              <a:spcAft>
                <a:spcPts val="500"/>
              </a:spcAft>
              <a:buNone/>
              <a:defRPr sz="1500" b="0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供下游节点使用</a:t>
            </a:r>
          </a:p>
        </p:txBody>
      </p:sp>
      <p:sp>
        <p:nvSpPr>
          <p:cNvPr id="36" name="anchor-87">
            <a:extLst xmlns:a="http://schemas.openxmlformats.org/drawingml/2006/main">
              <a:ext uri="{FF2B5EF4-FFF2-40B4-BE49-F238E27FC236}">
                <a16:creationId xmlns:a16="http://schemas.microsoft.com/office/drawing/2014/main" id="{A56E9F75-F787-43AD-8E1E-3D36E1781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861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" name="anchor-88">
            <a:extLst xmlns:a="http://schemas.openxmlformats.org/drawingml/2006/main">
              <a:ext uri="{FF2B5EF4-FFF2-40B4-BE49-F238E27FC236}">
                <a16:creationId xmlns:a16="http://schemas.microsoft.com/office/drawing/2014/main" id="{650A2549-0D89-4898-9E5E-7D8EF9B8D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2861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" name="anchor-89">
            <a:extLst xmlns:a="http://schemas.openxmlformats.org/drawingml/2006/main">
              <a:ext uri="{FF2B5EF4-FFF2-40B4-BE49-F238E27FC236}">
                <a16:creationId xmlns:a16="http://schemas.microsoft.com/office/drawing/2014/main" id="{E1A742C2-2125-4A4F-97BC-B0BD5D75F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5050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9" name="anchor-90">
            <a:extLst xmlns:a="http://schemas.openxmlformats.org/drawingml/2006/main">
              <a:ext uri="{FF2B5EF4-FFF2-40B4-BE49-F238E27FC236}">
                <a16:creationId xmlns:a16="http://schemas.microsoft.com/office/drawing/2014/main" id="{315F1AF8-ADBB-4A98-B12C-CA5C37972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5050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0" name="anchor-91">
            <a:extLst xmlns:a="http://schemas.openxmlformats.org/drawingml/2006/main">
              <a:ext uri="{FF2B5EF4-FFF2-40B4-BE49-F238E27FC236}">
                <a16:creationId xmlns:a16="http://schemas.microsoft.com/office/drawing/2014/main" id="{FBED8F79-CA89-48AC-BCF7-1DA96BE43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9622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anchor-92">
            <a:extLst xmlns:a="http://schemas.openxmlformats.org/drawingml/2006/main">
              <a:ext uri="{FF2B5EF4-FFF2-40B4-BE49-F238E27FC236}">
                <a16:creationId xmlns:a16="http://schemas.microsoft.com/office/drawing/2014/main" id="{96158484-B6FD-4D80-9421-4AED9A169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9622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3" name=""/>
          <p:cNvCxnSpPr>
            <a:stCxn xmlns:a="http://schemas.openxmlformats.org/drawingml/2006/main" id="36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5829300" y="3295650"/>
            <a:ext cx="219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8477"/>
            </a:solidFill>
            <a:prstDash val="dash"/>
            <a:tailEnd type="none" w="med" len="med"/>
          </a:ln>
        </p:spPr>
      </p:cxnSp>
      <p:cxnSp>
        <p:nvCxnSpPr>
          <p:cNvPr id="94" name=""/>
          <p:cNvCxnSpPr>
            <a:stCxn xmlns:a="http://schemas.openxmlformats.org/drawingml/2006/main" id="37" idx="0"/>
            <a:endCxn xmlns:a="http://schemas.openxmlformats.org/drawingml/2006/main" id="38" idx="2"/>
          </p:cNvCxnSpPr>
          <p:nvPr/>
        </p:nvCxnSpPr>
        <p:spPr>
          <a:xfrm xmlns:a="http://schemas.openxmlformats.org/drawingml/2006/main" flipV="1">
            <a:off x="6057900" y="2524125"/>
            <a:ext cx="0" cy="762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8477"/>
            </a:solidFill>
            <a:prstDash val="dash"/>
            <a:tailEnd type="none" w="med" len="med"/>
          </a:ln>
        </p:spPr>
      </p:cxnSp>
      <p:cxnSp>
        <p:nvCxnSpPr>
          <p:cNvPr id="95" name=""/>
          <p:cNvCxnSpPr>
            <a:stCxn xmlns:a="http://schemas.openxmlformats.org/drawingml/2006/main" id="38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>
            <a:off x="6067425" y="2514600"/>
            <a:ext cx="3648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8477"/>
            </a:solidFill>
            <a:prstDash val="dash"/>
            <a:tailEnd type="none" w="med" len="med"/>
          </a:ln>
        </p:spPr>
      </p:cxnSp>
      <p:cxnSp>
        <p:nvCxnSpPr>
          <p:cNvPr id="96" name=""/>
          <p:cNvCxnSpPr>
            <a:stCxn xmlns:a="http://schemas.openxmlformats.org/drawingml/2006/main" id="39" idx="2"/>
            <a:endCxn xmlns:a="http://schemas.openxmlformats.org/drawingml/2006/main" id="40" idx="0"/>
          </p:cNvCxnSpPr>
          <p:nvPr/>
        </p:nvCxnSpPr>
        <p:spPr>
          <a:xfrm xmlns:a="http://schemas.openxmlformats.org/drawingml/2006/main">
            <a:off x="9725025" y="2524125"/>
            <a:ext cx="0" cy="438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8477"/>
            </a:solidFill>
            <a:prstDash val="dash"/>
            <a:tailEnd type="none" w="med" len="med"/>
          </a:ln>
        </p:spPr>
      </p:cxnSp>
      <p:cxnSp>
        <p:nvCxnSpPr>
          <p:cNvPr id="97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9734550" y="29718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8477"/>
            </a:solidFill>
            <a:prstDash val="dash"/>
            <a:tailEnd type="triangle" w="med" len="med"/>
          </a:ln>
        </p:spPr>
      </p:cxnSp>
      <p:sp>
        <p:nvSpPr>
          <p:cNvPr id="47" name="diagram-93">
            <a:extLst xmlns:a="http://schemas.openxmlformats.org/drawingml/2006/main">
              <a:ext uri="{FF2B5EF4-FFF2-40B4-BE49-F238E27FC236}">
                <a16:creationId xmlns:a16="http://schemas.microsoft.com/office/drawing/2014/main" id="{176DBB6E-87AD-4500-8495-98334FD58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4314825"/>
            <a:ext cx="16002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3335">
            <a:solidFill>
              <a:srgbClr val="9BB7CC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Aft>
                <a:spcPts val="500"/>
              </a:spcAft>
              <a:buNone/>
              <a:defRPr sz="1500" b="0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控制输出接口</a:t>
            </a:r>
          </a:p>
          <a:p xmlns:a="http://schemas.openxmlformats.org/drawingml/2006/main">
            <a:pPr algn="ctr">
              <a:lnSpc>
                <a:spcPct val="108000"/>
              </a:lnSpc>
              <a:spcAft>
                <a:spcPts val="500"/>
              </a:spcAft>
              <a:buNone/>
              <a:defRPr sz="1500" b="0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节点或设备模型</a:t>
            </a:r>
          </a:p>
        </p:txBody>
      </p:sp>
      <p:sp>
        <p:nvSpPr>
          <p:cNvPr id="48" name="anchor-94">
            <a:extLst xmlns:a="http://schemas.openxmlformats.org/drawingml/2006/main">
              <a:ext uri="{FF2B5EF4-FFF2-40B4-BE49-F238E27FC236}">
                <a16:creationId xmlns:a16="http://schemas.microsoft.com/office/drawing/2014/main" id="{4285B1C5-3F77-4AB4-A671-26E7796EB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6672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9" name="anchor-95">
            <a:extLst xmlns:a="http://schemas.openxmlformats.org/drawingml/2006/main">
              <a:ext uri="{FF2B5EF4-FFF2-40B4-BE49-F238E27FC236}">
                <a16:creationId xmlns:a16="http://schemas.microsoft.com/office/drawing/2014/main" id="{3980B4B2-2937-4442-A1B3-5CF1D9E25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6672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1" name=""/>
          <p:cNvCxnSpPr>
            <a:stCxn xmlns:a="http://schemas.openxmlformats.org/drawingml/2006/main" id="48" idx="3"/>
            <a:endCxn xmlns:a="http://schemas.openxmlformats.org/drawingml/2006/main" id="49" idx="1"/>
          </p:cNvCxnSpPr>
          <p:nvPr/>
        </p:nvCxnSpPr>
        <p:spPr>
          <a:xfrm xmlns:a="http://schemas.openxmlformats.org/drawingml/2006/main">
            <a:off x="9353550" y="4676775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4AC"/>
            </a:solidFill>
            <a:prstDash val="solid"/>
            <a:tailEnd type="triangle" w="med" len="med"/>
          </a:ln>
        </p:spPr>
      </p:cxnSp>
      <p:sp>
        <p:nvSpPr>
          <p:cNvPr id="51" name="anchor-96">
            <a:extLst xmlns:a="http://schemas.openxmlformats.org/drawingml/2006/main">
              <a:ext uri="{FF2B5EF4-FFF2-40B4-BE49-F238E27FC236}">
                <a16:creationId xmlns:a16="http://schemas.microsoft.com/office/drawing/2014/main" id="{A28FE214-9F71-4C77-8F63-805EB8FBC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0102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2" name="anchor-97">
            <a:extLst xmlns:a="http://schemas.openxmlformats.org/drawingml/2006/main">
              <a:ext uri="{FF2B5EF4-FFF2-40B4-BE49-F238E27FC236}">
                <a16:creationId xmlns:a16="http://schemas.microsoft.com/office/drawing/2014/main" id="{0BE30E71-824B-4366-821E-B19B78B43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0025" y="60102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4" name=""/>
          <p:cNvCxnSpPr>
            <a:stCxn xmlns:a="http://schemas.openxmlformats.org/drawingml/2006/main" id="51" idx="3"/>
            <a:endCxn xmlns:a="http://schemas.openxmlformats.org/drawingml/2006/main" id="52" idx="1"/>
          </p:cNvCxnSpPr>
          <p:nvPr/>
        </p:nvCxnSpPr>
        <p:spPr>
          <a:xfrm xmlns:a="http://schemas.openxmlformats.org/drawingml/2006/main">
            <a:off x="561975" y="6019800"/>
            <a:ext cx="110680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BB7CC"/>
            </a:solidFill>
            <a:prstDash val="solid"/>
            <a:tailEnd type="none" w="med" len="med"/>
          </a:ln>
        </p:spPr>
      </p:cxnSp>
      <p:sp>
        <p:nvSpPr>
          <p:cNvPr id="54" name="text-98">
            <a:extLst xmlns:a="http://schemas.openxmlformats.org/drawingml/2006/main">
              <a:ext uri="{FF2B5EF4-FFF2-40B4-BE49-F238E27FC236}">
                <a16:creationId xmlns:a16="http://schemas.microsoft.com/office/drawing/2014/main" id="{B2C133B3-A898-4A24-803A-8742CFEAC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150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节点是任务语义的基本单元，触发器负责把状态和接口条件转成动作。</a:t>
            </a:r>
          </a:p>
        </p:txBody>
      </p:sp>
    </p:spTree>
    <p:extLst>
      <p:ext uri="{BB962C8B-B14F-4D97-AF65-F5344CB8AC3E}">
        <p14:creationId xmlns:p14="http://schemas.microsoft.com/office/powerpoint/2010/main" val="138262383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49163D9-980C-4714-9783-06B13EF91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42BFAFE-011B-498E-BFF0-F7B9F1D1B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  设备模型：能力定义与状态机协同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DE3775A6-0E45-48C4-825B-1CF0C2733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FC2AF8FB-DF12-4C2C-BEB7-A611C5798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5/10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text-99">
            <a:extLst xmlns:a="http://schemas.openxmlformats.org/drawingml/2006/main">
              <a:ext uri="{FF2B5EF4-FFF2-40B4-BE49-F238E27FC236}">
                <a16:creationId xmlns:a16="http://schemas.microsoft.com/office/drawing/2014/main" id="{4517C525-FBBF-476C-B826-8B7BA6DD8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87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5B6B7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5B6B78"/>
                </a:solidFill>
                <a:latin typeface="微软雅黑"/>
                <a:ea typeface="微软雅黑"/>
                <a:cs typeface="微软雅黑"/>
              </a:rPr>
              <a:t>能力说明设备能做什么，状态机说明请求如何变成可观察的设备行为</a:t>
            </a:r>
          </a:p>
        </p:txBody>
      </p:sp>
      <p:sp>
        <p:nvSpPr>
          <p:cNvPr id="13" name="diagram-100">
            <a:extLst xmlns:a="http://schemas.openxmlformats.org/drawingml/2006/main">
              <a:ext uri="{FF2B5EF4-FFF2-40B4-BE49-F238E27FC236}">
                <a16:creationId xmlns:a16="http://schemas.microsoft.com/office/drawing/2014/main" id="{9DB862C1-D22B-44ED-B0CA-80C88EF7A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905000"/>
            <a:ext cx="10877550" cy="3343275"/>
          </a:xfrm>
          <a:prstGeom xmlns:a="http://schemas.openxmlformats.org/drawingml/2006/main" prst="roundRect">
            <a:avLst>
              <a:gd name="adj" fmla="val 22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774AC"/>
            </a:solidFill>
          </a:ln>
        </p:spPr>
      </p:sp>
      <p:sp>
        <p:nvSpPr>
          <p:cNvPr id="14" name="diagram-101">
            <a:extLst xmlns:a="http://schemas.openxmlformats.org/drawingml/2006/main">
              <a:ext uri="{FF2B5EF4-FFF2-40B4-BE49-F238E27FC236}">
                <a16:creationId xmlns:a16="http://schemas.microsoft.com/office/drawing/2014/main" id="{DDC33641-2EB2-4179-BB21-7C6AF30F6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10439400" cy="695325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3335">
            <a:solidFill>
              <a:srgbClr val="9BB7CC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Aft>
                <a:spcPts val="250"/>
              </a:spcAft>
              <a:buNone/>
              <a:defRPr sz="187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能力模型：设备属性、能力参数、数据端口与内部约束</a:t>
            </a:r>
          </a:p>
        </p:txBody>
      </p:sp>
      <p:sp>
        <p:nvSpPr>
          <p:cNvPr id="15" name="text-102">
            <a:extLst xmlns:a="http://schemas.openxmlformats.org/drawingml/2006/main">
              <a:ext uri="{FF2B5EF4-FFF2-40B4-BE49-F238E27FC236}">
                <a16:creationId xmlns:a16="http://schemas.microsoft.com/office/drawing/2014/main" id="{0D4A914A-9F43-4FA1-8475-AD538D519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05150"/>
            <a:ext cx="10372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7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状态机以状态、接口和转移规则组织设备行为</a:t>
            </a:r>
          </a:p>
        </p:txBody>
      </p:sp>
      <p:sp>
        <p:nvSpPr>
          <p:cNvPr id="16" name="diagram-103">
            <a:extLst xmlns:a="http://schemas.openxmlformats.org/drawingml/2006/main">
              <a:ext uri="{FF2B5EF4-FFF2-40B4-BE49-F238E27FC236}">
                <a16:creationId xmlns:a16="http://schemas.microsoft.com/office/drawing/2014/main" id="{815ED254-C7B8-47CD-A233-6FA5D9708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29025"/>
            <a:ext cx="1685925" cy="600075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3335">
            <a:solidFill>
              <a:srgbClr val="9BB7CC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Aft>
                <a:spcPts val="250"/>
              </a:spcAft>
              <a:buNone/>
              <a:defRPr sz="172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待命</a:t>
            </a:r>
          </a:p>
        </p:txBody>
      </p:sp>
      <p:sp>
        <p:nvSpPr>
          <p:cNvPr id="17" name="anchor-104">
            <a:extLst xmlns:a="http://schemas.openxmlformats.org/drawingml/2006/main">
              <a:ext uri="{FF2B5EF4-FFF2-40B4-BE49-F238E27FC236}">
                <a16:creationId xmlns:a16="http://schemas.microsoft.com/office/drawing/2014/main" id="{2D8B44D5-E40A-43A1-BD7E-822981304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9147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" name="anchor-105">
            <a:extLst xmlns:a="http://schemas.openxmlformats.org/drawingml/2006/main">
              <a:ext uri="{FF2B5EF4-FFF2-40B4-BE49-F238E27FC236}">
                <a16:creationId xmlns:a16="http://schemas.microsoft.com/office/drawing/2014/main" id="{509FB8EC-70F5-4216-B203-3E3EA71E8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9147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7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2571750" y="3924300"/>
            <a:ext cx="3524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4AC"/>
            </a:solidFill>
            <a:prstDash val="solid"/>
            <a:tailEnd type="triangle" w="med" len="med"/>
          </a:ln>
        </p:spPr>
      </p:cxnSp>
      <p:sp>
        <p:nvSpPr>
          <p:cNvPr id="20" name="diagram-106">
            <a:extLst xmlns:a="http://schemas.openxmlformats.org/drawingml/2006/main">
              <a:ext uri="{FF2B5EF4-FFF2-40B4-BE49-F238E27FC236}">
                <a16:creationId xmlns:a16="http://schemas.microsoft.com/office/drawing/2014/main" id="{6DCB6D95-16AE-46E4-9B95-381E3A095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629025"/>
            <a:ext cx="1685925" cy="600075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3335">
            <a:solidFill>
              <a:srgbClr val="9BB7CC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Aft>
                <a:spcPts val="250"/>
              </a:spcAft>
              <a:buNone/>
              <a:defRPr sz="172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已发送</a:t>
            </a:r>
          </a:p>
        </p:txBody>
      </p:sp>
      <p:sp>
        <p:nvSpPr>
          <p:cNvPr id="21" name="anchor-107">
            <a:extLst xmlns:a="http://schemas.openxmlformats.org/drawingml/2006/main">
              <a:ext uri="{FF2B5EF4-FFF2-40B4-BE49-F238E27FC236}">
                <a16:creationId xmlns:a16="http://schemas.microsoft.com/office/drawing/2014/main" id="{A8A22543-AEC3-450B-BB64-C06EAC135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9147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" name="anchor-108">
            <a:extLst xmlns:a="http://schemas.openxmlformats.org/drawingml/2006/main">
              <a:ext uri="{FF2B5EF4-FFF2-40B4-BE49-F238E27FC236}">
                <a16:creationId xmlns:a16="http://schemas.microsoft.com/office/drawing/2014/main" id="{5A627E0F-75A9-49E7-9658-D6CC16B8B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9147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1" name=""/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4629150" y="3924300"/>
            <a:ext cx="3524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4AC"/>
            </a:solidFill>
            <a:prstDash val="solid"/>
            <a:tailEnd type="triangle" w="med" len="med"/>
          </a:ln>
        </p:spPr>
      </p:cxnSp>
      <p:sp>
        <p:nvSpPr>
          <p:cNvPr id="24" name="diagram-109">
            <a:extLst xmlns:a="http://schemas.openxmlformats.org/drawingml/2006/main">
              <a:ext uri="{FF2B5EF4-FFF2-40B4-BE49-F238E27FC236}">
                <a16:creationId xmlns:a16="http://schemas.microsoft.com/office/drawing/2014/main" id="{D0138B92-6A68-43D5-B42D-6E3FABAB1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629025"/>
            <a:ext cx="1685925" cy="600075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3335">
            <a:solidFill>
              <a:srgbClr val="9BB7CC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Aft>
                <a:spcPts val="250"/>
              </a:spcAft>
              <a:buNone/>
              <a:defRPr sz="172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已接收</a:t>
            </a:r>
          </a:p>
        </p:txBody>
      </p:sp>
      <p:sp>
        <p:nvSpPr>
          <p:cNvPr id="25" name="anchor-110">
            <a:extLst xmlns:a="http://schemas.openxmlformats.org/drawingml/2006/main">
              <a:ext uri="{FF2B5EF4-FFF2-40B4-BE49-F238E27FC236}">
                <a16:creationId xmlns:a16="http://schemas.microsoft.com/office/drawing/2014/main" id="{E502AAEF-F10B-4B14-A2E3-2EA2E4F74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147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anchor-111">
            <a:extLst xmlns:a="http://schemas.openxmlformats.org/drawingml/2006/main">
              <a:ext uri="{FF2B5EF4-FFF2-40B4-BE49-F238E27FC236}">
                <a16:creationId xmlns:a16="http://schemas.microsoft.com/office/drawing/2014/main" id="{50A0FB31-6CF7-47B6-8C70-B755D8820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39147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5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6686550" y="3924300"/>
            <a:ext cx="3524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4AC"/>
            </a:solidFill>
            <a:prstDash val="solid"/>
            <a:tailEnd type="triangle" w="med" len="med"/>
          </a:ln>
        </p:spPr>
      </p:cxnSp>
      <p:sp>
        <p:nvSpPr>
          <p:cNvPr id="28" name="diagram-112">
            <a:extLst xmlns:a="http://schemas.openxmlformats.org/drawingml/2006/main">
              <a:ext uri="{FF2B5EF4-FFF2-40B4-BE49-F238E27FC236}">
                <a16:creationId xmlns:a16="http://schemas.microsoft.com/office/drawing/2014/main" id="{C55FF800-66DF-4DC2-9414-1C234DBA5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629025"/>
            <a:ext cx="1685925" cy="600075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3335">
            <a:solidFill>
              <a:srgbClr val="9BB7CC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Aft>
                <a:spcPts val="250"/>
              </a:spcAft>
              <a:buNone/>
              <a:defRPr sz="172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执行中</a:t>
            </a:r>
          </a:p>
        </p:txBody>
      </p:sp>
      <p:sp>
        <p:nvSpPr>
          <p:cNvPr id="29" name="anchor-113">
            <a:extLst xmlns:a="http://schemas.openxmlformats.org/drawingml/2006/main">
              <a:ext uri="{FF2B5EF4-FFF2-40B4-BE49-F238E27FC236}">
                <a16:creationId xmlns:a16="http://schemas.microsoft.com/office/drawing/2014/main" id="{D35FB2E6-631C-4FCB-83AF-702C556F7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9147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" name="anchor-114">
            <a:extLst xmlns:a="http://schemas.openxmlformats.org/drawingml/2006/main">
              <a:ext uri="{FF2B5EF4-FFF2-40B4-BE49-F238E27FC236}">
                <a16:creationId xmlns:a16="http://schemas.microsoft.com/office/drawing/2014/main" id="{6BCD01CF-DE70-4353-BB4B-A8D72E721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9147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9" name=""/>
          <p:cNvCxnSpPr>
            <a:stCxn xmlns:a="http://schemas.openxmlformats.org/drawingml/2006/main" id="29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8743950" y="3924300"/>
            <a:ext cx="3524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4AC"/>
            </a:solidFill>
            <a:prstDash val="solid"/>
            <a:tailEnd type="triangle" w="med" len="med"/>
          </a:ln>
        </p:spPr>
      </p:cxnSp>
      <p:sp>
        <p:nvSpPr>
          <p:cNvPr id="32" name="diagram-115">
            <a:extLst xmlns:a="http://schemas.openxmlformats.org/drawingml/2006/main">
              <a:ext uri="{FF2B5EF4-FFF2-40B4-BE49-F238E27FC236}">
                <a16:creationId xmlns:a16="http://schemas.microsoft.com/office/drawing/2014/main" id="{55B1B7B5-2978-4726-91BE-41653A68A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629025"/>
            <a:ext cx="1685925" cy="600075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3335">
            <a:solidFill>
              <a:srgbClr val="9BB7CC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Aft>
                <a:spcPts val="250"/>
              </a:spcAft>
              <a:buNone/>
              <a:defRPr sz="172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已完成</a:t>
            </a:r>
          </a:p>
        </p:txBody>
      </p:sp>
      <p:sp>
        <p:nvSpPr>
          <p:cNvPr id="33" name="text-116">
            <a:extLst xmlns:a="http://schemas.openxmlformats.org/drawingml/2006/main">
              <a:ext uri="{FF2B5EF4-FFF2-40B4-BE49-F238E27FC236}">
                <a16:creationId xmlns:a16="http://schemas.microsoft.com/office/drawing/2014/main" id="{00224985-1875-46A7-9A18-E42313EE9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0"/>
            <a:ext cx="10372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25" b="0">
                <a:solidFill>
                  <a:srgbClr val="5B6B78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5B6B78"/>
                </a:solidFill>
                <a:latin typeface="微软雅黑"/>
                <a:ea typeface="微软雅黑"/>
                <a:cs typeface="微软雅黑"/>
              </a:rPr>
              <a:t>设备事件驱动状态更新，异常与中止具有明确的状态和转移规则。</a:t>
            </a:r>
          </a:p>
        </p:txBody>
      </p:sp>
      <p:sp>
        <p:nvSpPr>
          <p:cNvPr id="34" name="anchor-117">
            <a:extLst xmlns:a="http://schemas.openxmlformats.org/drawingml/2006/main">
              <a:ext uri="{FF2B5EF4-FFF2-40B4-BE49-F238E27FC236}">
                <a16:creationId xmlns:a16="http://schemas.microsoft.com/office/drawing/2014/main" id="{66E880C7-1DD8-4682-A6AB-6814127FF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2387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anchor-118">
            <a:extLst xmlns:a="http://schemas.openxmlformats.org/drawingml/2006/main">
              <a:ext uri="{FF2B5EF4-FFF2-40B4-BE49-F238E27FC236}">
                <a16:creationId xmlns:a16="http://schemas.microsoft.com/office/drawing/2014/main" id="{5F2E26D4-5CFC-40A5-816F-ED56D836B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6673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anchor-119">
            <a:extLst xmlns:a="http://schemas.openxmlformats.org/drawingml/2006/main">
              <a:ext uri="{FF2B5EF4-FFF2-40B4-BE49-F238E27FC236}">
                <a16:creationId xmlns:a16="http://schemas.microsoft.com/office/drawing/2014/main" id="{D24773F0-4F36-4F24-9D55-924249B43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56673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" name="anchor-120">
            <a:extLst xmlns:a="http://schemas.openxmlformats.org/drawingml/2006/main">
              <a:ext uri="{FF2B5EF4-FFF2-40B4-BE49-F238E27FC236}">
                <a16:creationId xmlns:a16="http://schemas.microsoft.com/office/drawing/2014/main" id="{00152A5B-95A3-4099-A9B7-818B9890E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52387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6" name=""/>
          <p:cNvCxnSpPr>
            <a:stCxn xmlns:a="http://schemas.openxmlformats.org/drawingml/2006/main" id="34" idx="2"/>
            <a:endCxn xmlns:a="http://schemas.openxmlformats.org/drawingml/2006/main" id="35" idx="0"/>
          </p:cNvCxnSpPr>
          <p:nvPr/>
        </p:nvCxnSpPr>
        <p:spPr>
          <a:xfrm xmlns:a="http://schemas.openxmlformats.org/drawingml/2006/main">
            <a:off x="4171950" y="5257800"/>
            <a:ext cx="0" cy="4095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8477"/>
            </a:solidFill>
            <a:prstDash val="dash"/>
            <a:tailEnd type="none" w="med" len="med"/>
          </a:ln>
        </p:spPr>
      </p:cxnSp>
      <p:cxnSp>
        <p:nvCxnSpPr>
          <p:cNvPr id="77" name="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4181475" y="5676900"/>
            <a:ext cx="3829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8477"/>
            </a:solidFill>
            <a:prstDash val="dash"/>
            <a:tailEnd type="none" w="med" len="med"/>
          </a:ln>
        </p:spPr>
      </p:cxnSp>
      <p:cxnSp>
        <p:nvCxnSpPr>
          <p:cNvPr id="78" name=""/>
          <p:cNvCxnSpPr>
            <a:stCxn xmlns:a="http://schemas.openxmlformats.org/drawingml/2006/main" id="36" idx="0"/>
            <a:endCxn xmlns:a="http://schemas.openxmlformats.org/drawingml/2006/main" id="37" idx="2"/>
          </p:cNvCxnSpPr>
          <p:nvPr/>
        </p:nvCxnSpPr>
        <p:spPr>
          <a:xfrm xmlns:a="http://schemas.openxmlformats.org/drawingml/2006/main" flipV="1">
            <a:off x="8020050" y="5257800"/>
            <a:ext cx="0" cy="4095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8477"/>
            </a:solidFill>
            <a:prstDash val="dash"/>
            <a:tailEnd type="triangle" w="med" len="med"/>
          </a:ln>
        </p:spPr>
      </p:cxnSp>
      <p:sp>
        <p:nvSpPr>
          <p:cNvPr id="41" name="text-121">
            <a:extLst xmlns:a="http://schemas.openxmlformats.org/drawingml/2006/main">
              <a:ext uri="{FF2B5EF4-FFF2-40B4-BE49-F238E27FC236}">
                <a16:creationId xmlns:a16="http://schemas.microsoft.com/office/drawing/2014/main" id="{CCD691D7-683C-467B-AC46-22D093AAB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314950"/>
            <a:ext cx="25812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425" b="0">
                <a:solidFill>
                  <a:srgbClr val="178477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78477"/>
                </a:solidFill>
                <a:latin typeface="微软雅黑"/>
                <a:ea typeface="微软雅黑"/>
                <a:cs typeface="微软雅黑"/>
              </a:rPr>
              <a:t>Adapter 发令并接收反馈</a:t>
            </a:r>
          </a:p>
        </p:txBody>
      </p:sp>
      <p:sp>
        <p:nvSpPr>
          <p:cNvPr id="42" name="anchor-122">
            <a:extLst xmlns:a="http://schemas.openxmlformats.org/drawingml/2006/main">
              <a:ext uri="{FF2B5EF4-FFF2-40B4-BE49-F238E27FC236}">
                <a16:creationId xmlns:a16="http://schemas.microsoft.com/office/drawing/2014/main" id="{4E2C4D26-A6BC-4609-97F3-3FB03F670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0102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" name="anchor-123">
            <a:extLst xmlns:a="http://schemas.openxmlformats.org/drawingml/2006/main">
              <a:ext uri="{FF2B5EF4-FFF2-40B4-BE49-F238E27FC236}">
                <a16:creationId xmlns:a16="http://schemas.microsoft.com/office/drawing/2014/main" id="{69397663-B2AE-4694-AA31-D24298959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0025" y="60102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2" name=""/>
          <p:cNvCxnSpPr>
            <a:stCxn xmlns:a="http://schemas.openxmlformats.org/drawingml/2006/main" id="42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561975" y="6019800"/>
            <a:ext cx="110680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BB7CC"/>
            </a:solidFill>
            <a:prstDash val="solid"/>
            <a:tailEnd type="none" w="med" len="med"/>
          </a:ln>
        </p:spPr>
      </p:cxnSp>
      <p:sp>
        <p:nvSpPr>
          <p:cNvPr id="45" name="text-124">
            <a:extLst xmlns:a="http://schemas.openxmlformats.org/drawingml/2006/main">
              <a:ext uri="{FF2B5EF4-FFF2-40B4-BE49-F238E27FC236}">
                <a16:creationId xmlns:a16="http://schemas.microsoft.com/office/drawing/2014/main" id="{D67B562E-9580-410B-B180-9864DBDF9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150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设备模型把能力、状态和反馈组织起来，成为工作流可以调用的执行对象。</a:t>
            </a:r>
          </a:p>
        </p:txBody>
      </p:sp>
    </p:spTree>
    <p:extLst>
      <p:ext uri="{BB962C8B-B14F-4D97-AF65-F5344CB8AC3E}">
        <p14:creationId xmlns:p14="http://schemas.microsoft.com/office/powerpoint/2010/main" val="66867428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260804D-086E-4945-84E5-2B68D1528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15E4D77-DB7B-4B98-BA95-4C69B5000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  约束模型：观察执行并采取动作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30F44C43-E1D4-472E-ABB8-444590810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0080A827-F079-469D-8F6A-93AD99E05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6/10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text-125">
            <a:extLst xmlns:a="http://schemas.openxmlformats.org/drawingml/2006/main">
              <a:ext uri="{FF2B5EF4-FFF2-40B4-BE49-F238E27FC236}">
                <a16:creationId xmlns:a16="http://schemas.microsoft.com/office/drawing/2014/main" id="{ADA102C2-F52F-4865-B94D-2F5752808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87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5B6B7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5B6B78"/>
                </a:solidFill>
                <a:latin typeface="微软雅黑"/>
                <a:ea typeface="微软雅黑"/>
                <a:cs typeface="微软雅黑"/>
              </a:rPr>
              <a:t>约束模型统一观察资源状态和工作流上下文，并把判断转成处理动作</a:t>
            </a:r>
          </a:p>
        </p:txBody>
      </p:sp>
      <p:sp>
        <p:nvSpPr>
          <p:cNvPr id="13" name="diagram-126">
            <a:extLst xmlns:a="http://schemas.openxmlformats.org/drawingml/2006/main">
              <a:ext uri="{FF2B5EF4-FFF2-40B4-BE49-F238E27FC236}">
                <a16:creationId xmlns:a16="http://schemas.microsoft.com/office/drawing/2014/main" id="{1E1DC51D-D531-493F-A17D-1649D72F7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2905125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3335">
            <a:solidFill>
              <a:srgbClr val="9BB7CC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Aft>
                <a:spcPts val="450"/>
              </a:spcAft>
              <a:buNone/>
              <a:defRPr sz="172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资源侧观察</a:t>
            </a:r>
          </a:p>
          <a:p xmlns:a="http://schemas.openxmlformats.org/drawingml/2006/main">
            <a:pPr algn="ctr">
              <a:lnSpc>
                <a:spcPct val="108000"/>
              </a:lnSpc>
              <a:spcAft>
                <a:spcPts val="450"/>
              </a:spcAft>
              <a:buNone/>
              <a:defRPr sz="172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设备属性与状态</a:t>
            </a:r>
          </a:p>
        </p:txBody>
      </p:sp>
      <p:sp>
        <p:nvSpPr>
          <p:cNvPr id="14" name="diagram-127">
            <a:extLst xmlns:a="http://schemas.openxmlformats.org/drawingml/2006/main">
              <a:ext uri="{FF2B5EF4-FFF2-40B4-BE49-F238E27FC236}">
                <a16:creationId xmlns:a16="http://schemas.microsoft.com/office/drawing/2014/main" id="{D8839890-4468-4595-B231-CA9A0EE0B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2905125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3335">
            <a:solidFill>
              <a:srgbClr val="9BB7CC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Aft>
                <a:spcPts val="450"/>
              </a:spcAft>
              <a:buNone/>
              <a:defRPr sz="172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工作流侧观察</a:t>
            </a:r>
          </a:p>
          <a:p xmlns:a="http://schemas.openxmlformats.org/drawingml/2006/main">
            <a:pPr algn="ctr">
              <a:lnSpc>
                <a:spcPct val="108000"/>
              </a:lnSpc>
              <a:spcAft>
                <a:spcPts val="450"/>
              </a:spcAft>
              <a:buNone/>
              <a:defRPr sz="172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节点状态与执行上下文</a:t>
            </a:r>
          </a:p>
        </p:txBody>
      </p:sp>
      <p:sp>
        <p:nvSpPr>
          <p:cNvPr id="15" name="diagram-128">
            <a:extLst xmlns:a="http://schemas.openxmlformats.org/drawingml/2006/main">
              <a:ext uri="{FF2B5EF4-FFF2-40B4-BE49-F238E27FC236}">
                <a16:creationId xmlns:a16="http://schemas.microsoft.com/office/drawing/2014/main" id="{E4F0A8AE-D6D7-4023-B9D0-1A85CC3A3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9850"/>
            <a:ext cx="29146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3335">
            <a:solidFill>
              <a:srgbClr val="9BB7CC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Aft>
                <a:spcPts val="700"/>
              </a:spcAft>
              <a:buNone/>
              <a:defRPr sz="20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统一观察空间</a:t>
            </a:r>
          </a:p>
          <a:p xmlns:a="http://schemas.openxmlformats.org/drawingml/2006/main">
            <a:pPr algn="ctr">
              <a:lnSpc>
                <a:spcPct val="108000"/>
              </a:lnSpc>
              <a:spcAft>
                <a:spcPts val="700"/>
              </a:spcAft>
              <a:buNone/>
              <a:defRPr sz="20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对象与当前值</a:t>
            </a:r>
          </a:p>
        </p:txBody>
      </p:sp>
      <p:sp>
        <p:nvSpPr>
          <p:cNvPr id="16" name="anchor-129">
            <a:extLst xmlns:a="http://schemas.openxmlformats.org/drawingml/2006/main">
              <a:ext uri="{FF2B5EF4-FFF2-40B4-BE49-F238E27FC236}">
                <a16:creationId xmlns:a16="http://schemas.microsoft.com/office/drawing/2014/main" id="{0B93F53A-6EF6-401B-B1BE-FBBBEE2F8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3622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anchor-130">
            <a:extLst xmlns:a="http://schemas.openxmlformats.org/drawingml/2006/main">
              <a:ext uri="{FF2B5EF4-FFF2-40B4-BE49-F238E27FC236}">
                <a16:creationId xmlns:a16="http://schemas.microsoft.com/office/drawing/2014/main" id="{90223B25-4E2D-4B4C-9B27-385B6629B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3622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" name="anchor-131">
            <a:extLst xmlns:a="http://schemas.openxmlformats.org/drawingml/2006/main">
              <a:ext uri="{FF2B5EF4-FFF2-40B4-BE49-F238E27FC236}">
                <a16:creationId xmlns:a16="http://schemas.microsoft.com/office/drawing/2014/main" id="{519A3F6D-326C-4116-B864-185C3A2CD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31527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" name="anchor-132">
            <a:extLst xmlns:a="http://schemas.openxmlformats.org/drawingml/2006/main">
              <a:ext uri="{FF2B5EF4-FFF2-40B4-BE49-F238E27FC236}">
                <a16:creationId xmlns:a16="http://schemas.microsoft.com/office/drawing/2014/main" id="{6B8138C2-2F76-4C1D-A1A6-755A1C77F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1527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9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3600450" y="2371725"/>
            <a:ext cx="4857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4AC"/>
            </a:solidFill>
            <a:prstDash val="solid"/>
            <a:tailEnd type="none" w="med" len="med"/>
          </a:ln>
        </p:spPr>
      </p:cxnSp>
      <p:cxnSp>
        <p:nvCxnSpPr>
          <p:cNvPr id="70" name=""/>
          <p:cNvCxnSpPr>
            <a:stCxn xmlns:a="http://schemas.openxmlformats.org/drawingml/2006/main" id="17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4095750" y="2381250"/>
            <a:ext cx="0" cy="771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4AC"/>
            </a:solidFill>
            <a:prstDash val="solid"/>
            <a:tailEnd type="none" w="med" len="med"/>
          </a:ln>
        </p:spPr>
      </p:cxnSp>
      <p:cxnSp>
        <p:nvCxnSpPr>
          <p:cNvPr id="71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4105275" y="316230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4AC"/>
            </a:solidFill>
            <a:prstDash val="solid"/>
            <a:tailEnd type="triangle" w="med" len="med"/>
          </a:ln>
        </p:spPr>
      </p:cxnSp>
      <p:sp>
        <p:nvSpPr>
          <p:cNvPr id="23" name="anchor-133">
            <a:extLst xmlns:a="http://schemas.openxmlformats.org/drawingml/2006/main">
              <a:ext uri="{FF2B5EF4-FFF2-40B4-BE49-F238E27FC236}">
                <a16:creationId xmlns:a16="http://schemas.microsoft.com/office/drawing/2014/main" id="{B2F1D8B1-B433-4959-B700-94F2E045D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7528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" name="anchor-134">
            <a:extLst xmlns:a="http://schemas.openxmlformats.org/drawingml/2006/main">
              <a:ext uri="{FF2B5EF4-FFF2-40B4-BE49-F238E27FC236}">
                <a16:creationId xmlns:a16="http://schemas.microsoft.com/office/drawing/2014/main" id="{0FC827AA-60D1-4DA9-B772-47004B25D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37528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" name="anchor-135">
            <a:extLst xmlns:a="http://schemas.openxmlformats.org/drawingml/2006/main">
              <a:ext uri="{FF2B5EF4-FFF2-40B4-BE49-F238E27FC236}">
                <a16:creationId xmlns:a16="http://schemas.microsoft.com/office/drawing/2014/main" id="{BE576360-458C-4185-8F1A-45BBB841F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31527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anchor-136">
            <a:extLst xmlns:a="http://schemas.openxmlformats.org/drawingml/2006/main">
              <a:ext uri="{FF2B5EF4-FFF2-40B4-BE49-F238E27FC236}">
                <a16:creationId xmlns:a16="http://schemas.microsoft.com/office/drawing/2014/main" id="{1E156F1F-A2F8-472A-B86C-E9FB9E4BE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1527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6" name=""/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3600450" y="3762375"/>
            <a:ext cx="4857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4AC"/>
            </a:solidFill>
            <a:prstDash val="solid"/>
            <a:tailEnd type="none" w="med" len="med"/>
          </a:ln>
        </p:spPr>
      </p:cxnSp>
      <p:cxnSp>
        <p:nvCxnSpPr>
          <p:cNvPr id="77" name=""/>
          <p:cNvCxnSpPr>
            <a:stCxn xmlns:a="http://schemas.openxmlformats.org/drawingml/2006/main" id="24" idx="0"/>
            <a:endCxn xmlns:a="http://schemas.openxmlformats.org/drawingml/2006/main" id="25" idx="2"/>
          </p:cNvCxnSpPr>
          <p:nvPr/>
        </p:nvCxnSpPr>
        <p:spPr>
          <a:xfrm xmlns:a="http://schemas.openxmlformats.org/drawingml/2006/main" flipV="1">
            <a:off x="4095750" y="3171825"/>
            <a:ext cx="0" cy="5810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4AC"/>
            </a:solidFill>
            <a:prstDash val="solid"/>
            <a:tailEnd type="none" w="med" len="med"/>
          </a:ln>
        </p:spPr>
      </p:cxnSp>
      <p:cxnSp>
        <p:nvCxnSpPr>
          <p:cNvPr id="78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4105275" y="316230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4AC"/>
            </a:solidFill>
            <a:prstDash val="solid"/>
            <a:tailEnd type="triangle" w="med" len="med"/>
          </a:ln>
        </p:spPr>
      </p:cxnSp>
      <p:sp>
        <p:nvSpPr>
          <p:cNvPr id="30" name="diagram-137">
            <a:extLst xmlns:a="http://schemas.openxmlformats.org/drawingml/2006/main">
              <a:ext uri="{FF2B5EF4-FFF2-40B4-BE49-F238E27FC236}">
                <a16:creationId xmlns:a16="http://schemas.microsoft.com/office/drawing/2014/main" id="{783DD738-E6B1-4E4C-9A67-3D98369E9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019300"/>
            <a:ext cx="3190875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CF2E4"/>
          </a:solidFill>
          <a:ln xmlns:a="http://schemas.openxmlformats.org/drawingml/2006/main" w="13335">
            <a:solidFill>
              <a:srgbClr val="B77623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Aft>
                <a:spcPts val="450"/>
              </a:spcAft>
              <a:buNone/>
              <a:defRPr sz="172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实验室基线约束</a:t>
            </a:r>
          </a:p>
          <a:p xmlns:a="http://schemas.openxmlformats.org/drawingml/2006/main">
            <a:pPr algn="ctr">
              <a:lnSpc>
                <a:spcPct val="108000"/>
              </a:lnSpc>
              <a:spcAft>
                <a:spcPts val="450"/>
              </a:spcAft>
              <a:buNone/>
              <a:defRPr sz="172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持续监督实验室运行</a:t>
            </a:r>
          </a:p>
        </p:txBody>
      </p:sp>
      <p:sp>
        <p:nvSpPr>
          <p:cNvPr id="31" name="diagram-138">
            <a:extLst xmlns:a="http://schemas.openxmlformats.org/drawingml/2006/main">
              <a:ext uri="{FF2B5EF4-FFF2-40B4-BE49-F238E27FC236}">
                <a16:creationId xmlns:a16="http://schemas.microsoft.com/office/drawing/2014/main" id="{715C8B9F-7893-442C-9774-1601BED8F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409950"/>
            <a:ext cx="3190875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CF2E4"/>
          </a:solidFill>
          <a:ln xmlns:a="http://schemas.openxmlformats.org/drawingml/2006/main" w="13335">
            <a:solidFill>
              <a:srgbClr val="B77623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Aft>
                <a:spcPts val="450"/>
              </a:spcAft>
              <a:buNone/>
              <a:defRPr sz="172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任务约束</a:t>
            </a:r>
          </a:p>
          <a:p xmlns:a="http://schemas.openxmlformats.org/drawingml/2006/main">
            <a:pPr algn="ctr">
              <a:lnSpc>
                <a:spcPct val="108000"/>
              </a:lnSpc>
              <a:spcAft>
                <a:spcPts val="450"/>
              </a:spcAft>
              <a:buNone/>
              <a:defRPr sz="172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目标与允许边界</a:t>
            </a:r>
          </a:p>
        </p:txBody>
      </p:sp>
      <p:sp>
        <p:nvSpPr>
          <p:cNvPr id="32" name="anchor-139">
            <a:extLst xmlns:a="http://schemas.openxmlformats.org/drawingml/2006/main">
              <a:ext uri="{FF2B5EF4-FFF2-40B4-BE49-F238E27FC236}">
                <a16:creationId xmlns:a16="http://schemas.microsoft.com/office/drawing/2014/main" id="{AE53E27C-914C-4DB1-B4FC-FBB20649B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1527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" name="anchor-140">
            <a:extLst xmlns:a="http://schemas.openxmlformats.org/drawingml/2006/main">
              <a:ext uri="{FF2B5EF4-FFF2-40B4-BE49-F238E27FC236}">
                <a16:creationId xmlns:a16="http://schemas.microsoft.com/office/drawing/2014/main" id="{E1F6F288-B7D9-4599-B92F-4521897E0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527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" name="anchor-141">
            <a:extLst xmlns:a="http://schemas.openxmlformats.org/drawingml/2006/main">
              <a:ext uri="{FF2B5EF4-FFF2-40B4-BE49-F238E27FC236}">
                <a16:creationId xmlns:a16="http://schemas.microsoft.com/office/drawing/2014/main" id="{12ED2F20-A093-457A-AFE3-01CC90C98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622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anchor-142">
            <a:extLst xmlns:a="http://schemas.openxmlformats.org/drawingml/2006/main">
              <a:ext uri="{FF2B5EF4-FFF2-40B4-BE49-F238E27FC236}">
                <a16:creationId xmlns:a16="http://schemas.microsoft.com/office/drawing/2014/main" id="{6F1E9ABE-51E4-4279-AAFD-6139CEB7F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622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5" name=""/>
          <p:cNvCxnSpPr>
            <a:stCxn xmlns:a="http://schemas.openxmlformats.org/drawingml/2006/main" id="32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7381875" y="316230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7623"/>
            </a:solidFill>
            <a:prstDash val="solid"/>
            <a:tailEnd type="none" w="med" len="med"/>
          </a:ln>
        </p:spPr>
      </p:cxnSp>
      <p:cxnSp>
        <p:nvCxnSpPr>
          <p:cNvPr id="86" name=""/>
          <p:cNvCxnSpPr>
            <a:stCxn xmlns:a="http://schemas.openxmlformats.org/drawingml/2006/main" id="33" idx="0"/>
            <a:endCxn xmlns:a="http://schemas.openxmlformats.org/drawingml/2006/main" id="34" idx="2"/>
          </p:cNvCxnSpPr>
          <p:nvPr/>
        </p:nvCxnSpPr>
        <p:spPr>
          <a:xfrm xmlns:a="http://schemas.openxmlformats.org/drawingml/2006/main" flipV="1">
            <a:off x="7820025" y="2381250"/>
            <a:ext cx="0" cy="771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7623"/>
            </a:solidFill>
            <a:prstDash val="solid"/>
            <a:tailEnd type="none" w="med" len="med"/>
          </a:ln>
        </p:spPr>
      </p:cxnSp>
      <p:cxnSp>
        <p:nvCxnSpPr>
          <p:cNvPr id="87" name=""/>
          <p:cNvCxnSpPr>
            <a:stCxn xmlns:a="http://schemas.openxmlformats.org/drawingml/2006/main" id="34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7829550" y="237172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7623"/>
            </a:solidFill>
            <a:prstDash val="solid"/>
            <a:tailEnd type="triangle" w="med" len="med"/>
          </a:ln>
        </p:spPr>
      </p:cxnSp>
      <p:sp>
        <p:nvSpPr>
          <p:cNvPr id="39" name="anchor-143">
            <a:extLst xmlns:a="http://schemas.openxmlformats.org/drawingml/2006/main">
              <a:ext uri="{FF2B5EF4-FFF2-40B4-BE49-F238E27FC236}">
                <a16:creationId xmlns:a16="http://schemas.microsoft.com/office/drawing/2014/main" id="{27AFFAB5-CE0C-4361-8F10-8A025FFE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527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0" name="anchor-144">
            <a:extLst xmlns:a="http://schemas.openxmlformats.org/drawingml/2006/main">
              <a:ext uri="{FF2B5EF4-FFF2-40B4-BE49-F238E27FC236}">
                <a16:creationId xmlns:a16="http://schemas.microsoft.com/office/drawing/2014/main" id="{85876B69-5E97-43B1-9624-40FE49123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528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anchor-145">
            <a:extLst xmlns:a="http://schemas.openxmlformats.org/drawingml/2006/main">
              <a:ext uri="{FF2B5EF4-FFF2-40B4-BE49-F238E27FC236}">
                <a16:creationId xmlns:a16="http://schemas.microsoft.com/office/drawing/2014/main" id="{3EC30D16-C69F-4EEC-A617-548434342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528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1" name=""/>
          <p:cNvCxnSpPr>
            <a:stCxn xmlns:a="http://schemas.openxmlformats.org/drawingml/2006/main" id="39" idx="2"/>
            <a:endCxn xmlns:a="http://schemas.openxmlformats.org/drawingml/2006/main" id="40" idx="0"/>
          </p:cNvCxnSpPr>
          <p:nvPr/>
        </p:nvCxnSpPr>
        <p:spPr>
          <a:xfrm xmlns:a="http://schemas.openxmlformats.org/drawingml/2006/main">
            <a:off x="7820025" y="3171825"/>
            <a:ext cx="0" cy="5810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7623"/>
            </a:solidFill>
            <a:prstDash val="solid"/>
            <a:tailEnd type="none" w="med" len="med"/>
          </a:ln>
        </p:spPr>
      </p:cxnSp>
      <p:cxnSp>
        <p:nvCxnSpPr>
          <p:cNvPr id="92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7829550" y="376237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7623"/>
            </a:solidFill>
            <a:prstDash val="solid"/>
            <a:tailEnd type="triangle" w="med" len="med"/>
          </a:ln>
        </p:spPr>
      </p:cxnSp>
      <p:sp>
        <p:nvSpPr>
          <p:cNvPr id="44" name="diagram-146">
            <a:extLst xmlns:a="http://schemas.openxmlformats.org/drawingml/2006/main">
              <a:ext uri="{FF2B5EF4-FFF2-40B4-BE49-F238E27FC236}">
                <a16:creationId xmlns:a16="http://schemas.microsoft.com/office/drawing/2014/main" id="{F94B473F-F8A7-4C53-8DB0-29E2C08CA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695825"/>
            <a:ext cx="2171700" cy="581025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CF2E4"/>
          </a:solidFill>
          <a:ln xmlns:a="http://schemas.openxmlformats.org/drawingml/2006/main" w="13335">
            <a:solidFill>
              <a:srgbClr val="B77623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Aft>
                <a:spcPts val="250"/>
              </a:spcAft>
              <a:buNone/>
              <a:defRPr sz="187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处理动作</a:t>
            </a:r>
          </a:p>
        </p:txBody>
      </p:sp>
      <p:sp>
        <p:nvSpPr>
          <p:cNvPr id="45" name="diagram-147">
            <a:extLst xmlns:a="http://schemas.openxmlformats.org/drawingml/2006/main">
              <a:ext uri="{FF2B5EF4-FFF2-40B4-BE49-F238E27FC236}">
                <a16:creationId xmlns:a16="http://schemas.microsoft.com/office/drawing/2014/main" id="{416885D0-DEE6-43F9-8EA6-313146DAF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4695825"/>
            <a:ext cx="3190875" cy="581025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CF2E4"/>
          </a:solidFill>
          <a:ln xmlns:a="http://schemas.openxmlformats.org/drawingml/2006/main" w="13335">
            <a:solidFill>
              <a:srgbClr val="B77623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Aft>
                <a:spcPts val="250"/>
              </a:spcAft>
              <a:buNone/>
              <a:defRPr sz="172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警告 / 报警 / 停止 / 中止</a:t>
            </a:r>
          </a:p>
        </p:txBody>
      </p:sp>
      <p:sp>
        <p:nvSpPr>
          <p:cNvPr id="46" name="anchor-148">
            <a:extLst xmlns:a="http://schemas.openxmlformats.org/drawingml/2006/main">
              <a:ext uri="{FF2B5EF4-FFF2-40B4-BE49-F238E27FC236}">
                <a16:creationId xmlns:a16="http://schemas.microsoft.com/office/drawing/2014/main" id="{A10983F5-6856-472E-9732-C84E39CC5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41148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7" name="anchor-149">
            <a:extLst xmlns:a="http://schemas.openxmlformats.org/drawingml/2006/main">
              <a:ext uri="{FF2B5EF4-FFF2-40B4-BE49-F238E27FC236}">
                <a16:creationId xmlns:a16="http://schemas.microsoft.com/office/drawing/2014/main" id="{5B2AF086-52D4-4402-B60A-9B0F8562B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46863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7" name=""/>
          <p:cNvCxnSpPr>
            <a:stCxn xmlns:a="http://schemas.openxmlformats.org/drawingml/2006/main" id="46" idx="2"/>
            <a:endCxn xmlns:a="http://schemas.openxmlformats.org/drawingml/2006/main" id="47" idx="0"/>
          </p:cNvCxnSpPr>
          <p:nvPr/>
        </p:nvCxnSpPr>
        <p:spPr>
          <a:xfrm xmlns:a="http://schemas.openxmlformats.org/drawingml/2006/main">
            <a:off x="9886950" y="4133850"/>
            <a:ext cx="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7623"/>
            </a:solidFill>
            <a:prstDash val="solid"/>
            <a:tailEnd type="triangle" w="med" len="med"/>
          </a:ln>
        </p:spPr>
      </p:cxnSp>
      <p:sp>
        <p:nvSpPr>
          <p:cNvPr id="49" name="anchor-150">
            <a:extLst xmlns:a="http://schemas.openxmlformats.org/drawingml/2006/main">
              <a:ext uri="{FF2B5EF4-FFF2-40B4-BE49-F238E27FC236}">
                <a16:creationId xmlns:a16="http://schemas.microsoft.com/office/drawing/2014/main" id="{85EE0CE4-9C85-4432-9A82-3947B8BC1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9720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" name="anchor-151">
            <a:extLst xmlns:a="http://schemas.openxmlformats.org/drawingml/2006/main">
              <a:ext uri="{FF2B5EF4-FFF2-40B4-BE49-F238E27FC236}">
                <a16:creationId xmlns:a16="http://schemas.microsoft.com/office/drawing/2014/main" id="{6722226F-7250-4801-A90C-BB7383283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9720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0" name=""/>
          <p:cNvCxnSpPr>
            <a:stCxn xmlns:a="http://schemas.openxmlformats.org/drawingml/2006/main" id="49" idx="3"/>
            <a:endCxn xmlns:a="http://schemas.openxmlformats.org/drawingml/2006/main" id="50" idx="1"/>
          </p:cNvCxnSpPr>
          <p:nvPr/>
        </p:nvCxnSpPr>
        <p:spPr>
          <a:xfrm xmlns:a="http://schemas.openxmlformats.org/drawingml/2006/main">
            <a:off x="7019925" y="4981575"/>
            <a:ext cx="12668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7623"/>
            </a:solidFill>
            <a:prstDash val="solid"/>
            <a:tailEnd type="triangle" w="med" len="med"/>
          </a:ln>
        </p:spPr>
      </p:cxnSp>
      <p:sp>
        <p:nvSpPr>
          <p:cNvPr id="52" name="text-152">
            <a:extLst xmlns:a="http://schemas.openxmlformats.org/drawingml/2006/main">
              <a:ext uri="{FF2B5EF4-FFF2-40B4-BE49-F238E27FC236}">
                <a16:creationId xmlns:a16="http://schemas.microsoft.com/office/drawing/2014/main" id="{40EC6837-B1E5-4905-9211-C9CC985C8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00675"/>
            <a:ext cx="10629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设备内部约束由状态机本地处理；跨资源、跨流程的规则由约束层统一观察。</a:t>
            </a:r>
          </a:p>
        </p:txBody>
      </p:sp>
      <p:sp>
        <p:nvSpPr>
          <p:cNvPr id="53" name="anchor-153">
            <a:extLst xmlns:a="http://schemas.openxmlformats.org/drawingml/2006/main">
              <a:ext uri="{FF2B5EF4-FFF2-40B4-BE49-F238E27FC236}">
                <a16:creationId xmlns:a16="http://schemas.microsoft.com/office/drawing/2014/main" id="{2E794F1B-2365-4833-9705-954AE6736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0102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4" name="anchor-154">
            <a:extLst xmlns:a="http://schemas.openxmlformats.org/drawingml/2006/main">
              <a:ext uri="{FF2B5EF4-FFF2-40B4-BE49-F238E27FC236}">
                <a16:creationId xmlns:a16="http://schemas.microsoft.com/office/drawing/2014/main" id="{03DB9185-F862-4B8C-948B-DCA6CF74F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0025" y="60102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4" name=""/>
          <p:cNvCxnSpPr>
            <a:stCxn xmlns:a="http://schemas.openxmlformats.org/drawingml/2006/main" id="53" idx="3"/>
            <a:endCxn xmlns:a="http://schemas.openxmlformats.org/drawingml/2006/main" id="54" idx="1"/>
          </p:cNvCxnSpPr>
          <p:nvPr/>
        </p:nvCxnSpPr>
        <p:spPr>
          <a:xfrm xmlns:a="http://schemas.openxmlformats.org/drawingml/2006/main">
            <a:off x="561975" y="6019800"/>
            <a:ext cx="110680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BB7CC"/>
            </a:solidFill>
            <a:prstDash val="solid"/>
            <a:tailEnd type="none" w="med" len="med"/>
          </a:ln>
        </p:spPr>
      </p:cxnSp>
      <p:sp>
        <p:nvSpPr>
          <p:cNvPr id="56" name="text-155">
            <a:extLst xmlns:a="http://schemas.openxmlformats.org/drawingml/2006/main">
              <a:ext uri="{FF2B5EF4-FFF2-40B4-BE49-F238E27FC236}">
                <a16:creationId xmlns:a16="http://schemas.microsoft.com/office/drawing/2014/main" id="{C51FB42C-273B-4187-97D2-542A6B2CE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150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约束与资源、工作流使用共同的模型对象，执行边界因此能够被解释和监督。</a:t>
            </a:r>
          </a:p>
        </p:txBody>
      </p:sp>
    </p:spTree>
    <p:extLst>
      <p:ext uri="{BB962C8B-B14F-4D97-AF65-F5344CB8AC3E}">
        <p14:creationId xmlns:p14="http://schemas.microsoft.com/office/powerpoint/2010/main" val="81061671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DDB1527-8C0F-401F-8516-77B16C03E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1DED688-C690-43F6-8690-CE2B63486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  关键机制：统一执行链路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46642D7E-4B01-4235-AF51-2C3F27E5B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91766548-9FCA-4D53-B49B-4956B626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7/10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text-156">
            <a:extLst xmlns:a="http://schemas.openxmlformats.org/drawingml/2006/main">
              <a:ext uri="{FF2B5EF4-FFF2-40B4-BE49-F238E27FC236}">
                <a16:creationId xmlns:a16="http://schemas.microsoft.com/office/drawing/2014/main" id="{37D68047-F880-482D-A6F8-CEC8491DC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87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5B6B7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5B6B78"/>
                </a:solidFill>
                <a:latin typeface="微软雅黑"/>
                <a:ea typeface="微软雅黑"/>
                <a:cs typeface="微软雅黑"/>
              </a:rPr>
              <a:t>人、流程和大模型都通过同一套模型语义进入设备执行</a:t>
            </a:r>
          </a:p>
        </p:txBody>
      </p:sp>
      <p:sp>
        <p:nvSpPr>
          <p:cNvPr id="19" name="diagram-157">
            <a:extLst xmlns:a="http://schemas.openxmlformats.org/drawingml/2006/main">
              <a:ext uri="{FF2B5EF4-FFF2-40B4-BE49-F238E27FC236}">
                <a16:creationId xmlns:a16="http://schemas.microsoft.com/office/drawing/2014/main" id="{6DA67371-2600-4C94-A639-6BE4520CB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43100"/>
            <a:ext cx="21145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3335">
            <a:solidFill>
              <a:srgbClr val="9BB7CC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Aft>
                <a:spcPts val="250"/>
              </a:spcAft>
              <a:buNone/>
              <a:defRPr sz="187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人工操作</a:t>
            </a:r>
          </a:p>
        </p:txBody>
      </p:sp>
      <p:sp>
        <p:nvSpPr>
          <p:cNvPr id="20" name="diagram-158">
            <a:extLst xmlns:a="http://schemas.openxmlformats.org/drawingml/2006/main">
              <a:ext uri="{FF2B5EF4-FFF2-40B4-BE49-F238E27FC236}">
                <a16:creationId xmlns:a16="http://schemas.microsoft.com/office/drawing/2014/main" id="{CAB6B74D-BF09-47C9-ACCA-5DE021F00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886075"/>
            <a:ext cx="21145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3335">
            <a:solidFill>
              <a:srgbClr val="9BB7CC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Aft>
                <a:spcPts val="250"/>
              </a:spcAft>
              <a:buNone/>
              <a:defRPr sz="187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任务流程</a:t>
            </a:r>
          </a:p>
        </p:txBody>
      </p:sp>
      <p:sp>
        <p:nvSpPr>
          <p:cNvPr id="21" name="diagram-159">
            <a:extLst xmlns:a="http://schemas.openxmlformats.org/drawingml/2006/main">
              <a:ext uri="{FF2B5EF4-FFF2-40B4-BE49-F238E27FC236}">
                <a16:creationId xmlns:a16="http://schemas.microsoft.com/office/drawing/2014/main" id="{1B42A9D2-6968-4A87-9973-A6E6182E4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29050"/>
            <a:ext cx="21145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E9F5F2"/>
          </a:solidFill>
          <a:ln xmlns:a="http://schemas.openxmlformats.org/drawingml/2006/main" w="13335">
            <a:solidFill>
              <a:srgbClr val="178477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Aft>
                <a:spcPts val="250"/>
              </a:spcAft>
              <a:buNone/>
              <a:defRPr sz="187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大模型决策</a:t>
            </a:r>
          </a:p>
        </p:txBody>
      </p:sp>
      <p:sp>
        <p:nvSpPr>
          <p:cNvPr id="22" name="diagram-160">
            <a:extLst xmlns:a="http://schemas.openxmlformats.org/drawingml/2006/main">
              <a:ext uri="{FF2B5EF4-FFF2-40B4-BE49-F238E27FC236}">
                <a16:creationId xmlns:a16="http://schemas.microsoft.com/office/drawing/2014/main" id="{3DA5CB65-E51E-46F1-A2DF-970FE3BF0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2628900"/>
            <a:ext cx="2447925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3335">
            <a:solidFill>
              <a:srgbClr val="2774AC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Aft>
                <a:spcPts val="650"/>
              </a:spcAft>
              <a:buNone/>
              <a:defRPr sz="187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统一任务模型</a:t>
            </a:r>
          </a:p>
          <a:p xmlns:a="http://schemas.openxmlformats.org/drawingml/2006/main">
            <a:pPr algn="ctr">
              <a:lnSpc>
                <a:spcPct val="108000"/>
              </a:lnSpc>
              <a:spcAft>
                <a:spcPts val="650"/>
              </a:spcAft>
              <a:buNone/>
              <a:defRPr sz="187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工作流节点 + 资源模型</a:t>
            </a:r>
          </a:p>
        </p:txBody>
      </p:sp>
      <p:sp>
        <p:nvSpPr>
          <p:cNvPr id="23" name="diagram-161">
            <a:extLst xmlns:a="http://schemas.openxmlformats.org/drawingml/2006/main">
              <a:ext uri="{FF2B5EF4-FFF2-40B4-BE49-F238E27FC236}">
                <a16:creationId xmlns:a16="http://schemas.microsoft.com/office/drawing/2014/main" id="{192BB149-1147-45B4-951E-130933F37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752600"/>
            <a:ext cx="180022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CF2E4"/>
          </a:solidFill>
          <a:ln xmlns:a="http://schemas.openxmlformats.org/drawingml/2006/main" w="13335">
            <a:solidFill>
              <a:srgbClr val="B77623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Aft>
                <a:spcPts val="450"/>
              </a:spcAft>
              <a:buNone/>
              <a:defRPr sz="16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约束检查</a:t>
            </a:r>
          </a:p>
          <a:p xmlns:a="http://schemas.openxmlformats.org/drawingml/2006/main">
            <a:pPr algn="ctr">
              <a:lnSpc>
                <a:spcPct val="108000"/>
              </a:lnSpc>
              <a:spcAft>
                <a:spcPts val="450"/>
              </a:spcAft>
              <a:buNone/>
              <a:defRPr sz="16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共同参与</a:t>
            </a:r>
          </a:p>
        </p:txBody>
      </p:sp>
      <p:sp>
        <p:nvSpPr>
          <p:cNvPr id="24" name="diagram-162">
            <a:extLst xmlns:a="http://schemas.openxmlformats.org/drawingml/2006/main">
              <a:ext uri="{FF2B5EF4-FFF2-40B4-BE49-F238E27FC236}">
                <a16:creationId xmlns:a16="http://schemas.microsoft.com/office/drawing/2014/main" id="{5B84C8ED-C1CC-451F-A3BA-9BDB8425B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114675"/>
            <a:ext cx="1809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3335">
            <a:solidFill>
              <a:srgbClr val="9BB7CC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Aft>
                <a:spcPts val="450"/>
              </a:spcAft>
              <a:buNone/>
              <a:defRPr sz="16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Adapter</a:t>
            </a:r>
          </a:p>
          <a:p xmlns:a="http://schemas.openxmlformats.org/drawingml/2006/main">
            <a:pPr algn="ctr">
              <a:lnSpc>
                <a:spcPct val="108000"/>
              </a:lnSpc>
              <a:spcAft>
                <a:spcPts val="450"/>
              </a:spcAft>
              <a:buNone/>
              <a:defRPr sz="16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指令映射与反馈</a:t>
            </a:r>
          </a:p>
        </p:txBody>
      </p:sp>
      <p:sp>
        <p:nvSpPr>
          <p:cNvPr id="25" name="diagram-163">
            <a:extLst xmlns:a="http://schemas.openxmlformats.org/drawingml/2006/main">
              <a:ext uri="{FF2B5EF4-FFF2-40B4-BE49-F238E27FC236}">
                <a16:creationId xmlns:a16="http://schemas.microsoft.com/office/drawing/2014/main" id="{E9861303-D0A2-46BC-AE6B-08D83A49A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14675"/>
            <a:ext cx="20097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9F5F2"/>
          </a:solidFill>
          <a:ln xmlns:a="http://schemas.openxmlformats.org/drawingml/2006/main" w="13335">
            <a:solidFill>
              <a:srgbClr val="178477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Aft>
                <a:spcPts val="450"/>
              </a:spcAft>
              <a:buNone/>
              <a:defRPr sz="16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物理设备</a:t>
            </a:r>
          </a:p>
          <a:p xmlns:a="http://schemas.openxmlformats.org/drawingml/2006/main">
            <a:pPr algn="ctr">
              <a:lnSpc>
                <a:spcPct val="108000"/>
              </a:lnSpc>
              <a:spcAft>
                <a:spcPts val="450"/>
              </a:spcAft>
              <a:buNone/>
              <a:defRPr sz="16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执行与测量</a:t>
            </a:r>
          </a:p>
        </p:txBody>
      </p:sp>
      <p:sp>
        <p:nvSpPr>
          <p:cNvPr id="26" name="anchor-164">
            <a:extLst xmlns:a="http://schemas.openxmlformats.org/drawingml/2006/main">
              <a:ext uri="{FF2B5EF4-FFF2-40B4-BE49-F238E27FC236}">
                <a16:creationId xmlns:a16="http://schemas.microsoft.com/office/drawing/2014/main" id="{FA27F49A-8FCC-4B65-9F6D-696E381D7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2383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" name="anchor-165">
            <a:extLst xmlns:a="http://schemas.openxmlformats.org/drawingml/2006/main">
              <a:ext uri="{FF2B5EF4-FFF2-40B4-BE49-F238E27FC236}">
                <a16:creationId xmlns:a16="http://schemas.microsoft.com/office/drawing/2014/main" id="{D783D7F4-B307-4906-87E9-1C504785F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2383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" name="anchor-166">
            <a:extLst xmlns:a="http://schemas.openxmlformats.org/drawingml/2006/main">
              <a:ext uri="{FF2B5EF4-FFF2-40B4-BE49-F238E27FC236}">
                <a16:creationId xmlns:a16="http://schemas.microsoft.com/office/drawing/2014/main" id="{8B5EE169-59EF-48F0-B54E-69F9B3F4E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2956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" name="anchor-167">
            <a:extLst xmlns:a="http://schemas.openxmlformats.org/drawingml/2006/main">
              <a:ext uri="{FF2B5EF4-FFF2-40B4-BE49-F238E27FC236}">
                <a16:creationId xmlns:a16="http://schemas.microsoft.com/office/drawing/2014/main" id="{912DCE7F-1EB4-40EA-9BE5-92E5C144E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956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5" name=""/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3028950" y="2247900"/>
            <a:ext cx="4667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4AC"/>
            </a:solidFill>
            <a:prstDash val="solid"/>
            <a:tailEnd type="none" w="med" len="med"/>
          </a:ln>
        </p:spPr>
      </p:cxnSp>
      <p:cxnSp>
        <p:nvCxnSpPr>
          <p:cNvPr id="86" name=""/>
          <p:cNvCxnSpPr>
            <a:stCxn xmlns:a="http://schemas.openxmlformats.org/drawingml/2006/main" id="27" idx="2"/>
            <a:endCxn xmlns:a="http://schemas.openxmlformats.org/drawingml/2006/main" id="28" idx="0"/>
          </p:cNvCxnSpPr>
          <p:nvPr/>
        </p:nvCxnSpPr>
        <p:spPr>
          <a:xfrm xmlns:a="http://schemas.openxmlformats.org/drawingml/2006/main">
            <a:off x="3505200" y="2257425"/>
            <a:ext cx="0" cy="10382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4AC"/>
            </a:solidFill>
            <a:prstDash val="solid"/>
            <a:tailEnd type="none" w="med" len="med"/>
          </a:ln>
        </p:spPr>
      </p:cxnSp>
      <p:cxnSp>
        <p:nvCxnSpPr>
          <p:cNvPr id="87" name=""/>
          <p:cNvCxnSpPr>
            <a:stCxn xmlns:a="http://schemas.openxmlformats.org/drawingml/2006/main" id="28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3514725" y="3305175"/>
            <a:ext cx="4857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4AC"/>
            </a:solidFill>
            <a:prstDash val="solid"/>
            <a:tailEnd type="triangle" w="med" len="med"/>
          </a:ln>
        </p:spPr>
      </p:cxnSp>
      <p:sp>
        <p:nvSpPr>
          <p:cNvPr id="33" name="anchor-168">
            <a:extLst xmlns:a="http://schemas.openxmlformats.org/drawingml/2006/main">
              <a:ext uri="{FF2B5EF4-FFF2-40B4-BE49-F238E27FC236}">
                <a16:creationId xmlns:a16="http://schemas.microsoft.com/office/drawing/2014/main" id="{13EAEBB6-0CBD-4BAC-91BA-0368F7ADE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1813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" name="anchor-169">
            <a:extLst xmlns:a="http://schemas.openxmlformats.org/drawingml/2006/main">
              <a:ext uri="{FF2B5EF4-FFF2-40B4-BE49-F238E27FC236}">
                <a16:creationId xmlns:a16="http://schemas.microsoft.com/office/drawing/2014/main" id="{CC201641-99E3-4C89-8247-C3B0617D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1813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anchor-170">
            <a:extLst xmlns:a="http://schemas.openxmlformats.org/drawingml/2006/main">
              <a:ext uri="{FF2B5EF4-FFF2-40B4-BE49-F238E27FC236}">
                <a16:creationId xmlns:a16="http://schemas.microsoft.com/office/drawing/2014/main" id="{4D12029D-FE8A-4CC7-B28F-F535769DF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2956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anchor-171">
            <a:extLst xmlns:a="http://schemas.openxmlformats.org/drawingml/2006/main">
              <a:ext uri="{FF2B5EF4-FFF2-40B4-BE49-F238E27FC236}">
                <a16:creationId xmlns:a16="http://schemas.microsoft.com/office/drawing/2014/main" id="{FAC88871-27E5-49A5-A159-9E19F15F2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956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2" name=""/>
          <p:cNvCxnSpPr>
            <a:stCxn xmlns:a="http://schemas.openxmlformats.org/drawingml/2006/main" id="33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3028950" y="3190875"/>
            <a:ext cx="4667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4AC"/>
            </a:solidFill>
            <a:prstDash val="solid"/>
            <a:tailEnd type="none" w="med" len="med"/>
          </a:ln>
        </p:spPr>
      </p:cxnSp>
      <p:cxnSp>
        <p:nvCxnSpPr>
          <p:cNvPr id="93" name=""/>
          <p:cNvCxnSpPr>
            <a:stCxn xmlns:a="http://schemas.openxmlformats.org/drawingml/2006/main" id="34" idx="2"/>
            <a:endCxn xmlns:a="http://schemas.openxmlformats.org/drawingml/2006/main" id="35" idx="0"/>
          </p:cNvCxnSpPr>
          <p:nvPr/>
        </p:nvCxnSpPr>
        <p:spPr>
          <a:xfrm xmlns:a="http://schemas.openxmlformats.org/drawingml/2006/main">
            <a:off x="3505200" y="3200400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4AC"/>
            </a:solidFill>
            <a:prstDash val="solid"/>
            <a:tailEnd type="none" w="med" len="med"/>
          </a:ln>
        </p:spPr>
      </p:cxnSp>
      <p:cxnSp>
        <p:nvCxnSpPr>
          <p:cNvPr id="94" name="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3514725" y="3305175"/>
            <a:ext cx="4857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4AC"/>
            </a:solidFill>
            <a:prstDash val="solid"/>
            <a:tailEnd type="triangle" w="med" len="med"/>
          </a:ln>
        </p:spPr>
      </p:cxnSp>
      <p:sp>
        <p:nvSpPr>
          <p:cNvPr id="40" name="anchor-172">
            <a:extLst xmlns:a="http://schemas.openxmlformats.org/drawingml/2006/main">
              <a:ext uri="{FF2B5EF4-FFF2-40B4-BE49-F238E27FC236}">
                <a16:creationId xmlns:a16="http://schemas.microsoft.com/office/drawing/2014/main" id="{AA300B8D-BBBF-46DF-AFBB-578185693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1243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anchor-173">
            <a:extLst xmlns:a="http://schemas.openxmlformats.org/drawingml/2006/main">
              <a:ext uri="{FF2B5EF4-FFF2-40B4-BE49-F238E27FC236}">
                <a16:creationId xmlns:a16="http://schemas.microsoft.com/office/drawing/2014/main" id="{FE725868-002D-4657-9421-EE8A139FE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1243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2" name="anchor-174">
            <a:extLst xmlns:a="http://schemas.openxmlformats.org/drawingml/2006/main">
              <a:ext uri="{FF2B5EF4-FFF2-40B4-BE49-F238E27FC236}">
                <a16:creationId xmlns:a16="http://schemas.microsoft.com/office/drawing/2014/main" id="{508B1864-E11B-4294-B37C-1EBE1D028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2956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" name="anchor-175">
            <a:extLst xmlns:a="http://schemas.openxmlformats.org/drawingml/2006/main">
              <a:ext uri="{FF2B5EF4-FFF2-40B4-BE49-F238E27FC236}">
                <a16:creationId xmlns:a16="http://schemas.microsoft.com/office/drawing/2014/main" id="{D14396B8-27BE-48FE-B8BC-23AD760AF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956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9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3028950" y="4133850"/>
            <a:ext cx="4667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4AC"/>
            </a:solidFill>
            <a:prstDash val="solid"/>
            <a:tailEnd type="none" w="med" len="med"/>
          </a:ln>
        </p:spPr>
      </p:cxnSp>
      <p:cxnSp>
        <p:nvCxnSpPr>
          <p:cNvPr id="100" name=""/>
          <p:cNvCxnSpPr>
            <a:stCxn xmlns:a="http://schemas.openxmlformats.org/drawingml/2006/main" id="41" idx="0"/>
            <a:endCxn xmlns:a="http://schemas.openxmlformats.org/drawingml/2006/main" id="42" idx="2"/>
          </p:cNvCxnSpPr>
          <p:nvPr/>
        </p:nvCxnSpPr>
        <p:spPr>
          <a:xfrm xmlns:a="http://schemas.openxmlformats.org/drawingml/2006/main" flipV="1">
            <a:off x="3505200" y="3314700"/>
            <a:ext cx="0" cy="809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4AC"/>
            </a:solidFill>
            <a:prstDash val="solid"/>
            <a:tailEnd type="none" w="med" len="med"/>
          </a:ln>
        </p:spPr>
      </p:cxnSp>
      <p:cxnSp>
        <p:nvCxnSpPr>
          <p:cNvPr id="101" name=""/>
          <p:cNvCxnSpPr>
            <a:stCxn xmlns:a="http://schemas.openxmlformats.org/drawingml/2006/main" id="42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3514725" y="3305175"/>
            <a:ext cx="4857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4AC"/>
            </a:solidFill>
            <a:prstDash val="solid"/>
            <a:tailEnd type="triangle" w="med" len="med"/>
          </a:ln>
        </p:spPr>
      </p:cxnSp>
      <p:sp>
        <p:nvSpPr>
          <p:cNvPr id="47" name="anchor-176">
            <a:extLst xmlns:a="http://schemas.openxmlformats.org/drawingml/2006/main">
              <a:ext uri="{FF2B5EF4-FFF2-40B4-BE49-F238E27FC236}">
                <a16:creationId xmlns:a16="http://schemas.microsoft.com/office/drawing/2014/main" id="{9C0ABA51-6E5F-4496-8C3B-25A6A2E55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6193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8" name="anchor-177">
            <a:extLst xmlns:a="http://schemas.openxmlformats.org/drawingml/2006/main">
              <a:ext uri="{FF2B5EF4-FFF2-40B4-BE49-F238E27FC236}">
                <a16:creationId xmlns:a16="http://schemas.microsoft.com/office/drawing/2014/main" id="{0C0B1889-97FF-4F77-BF03-278F2822E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288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9" name="anchor-178">
            <a:extLst xmlns:a="http://schemas.openxmlformats.org/drawingml/2006/main">
              <a:ext uri="{FF2B5EF4-FFF2-40B4-BE49-F238E27FC236}">
                <a16:creationId xmlns:a16="http://schemas.microsoft.com/office/drawing/2014/main" id="{FF4AE9B5-1167-4EC2-A1F1-11A48164D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4288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5" name=""/>
          <p:cNvCxnSpPr>
            <a:stCxn xmlns:a="http://schemas.openxmlformats.org/drawingml/2006/main" id="47" idx="0"/>
            <a:endCxn xmlns:a="http://schemas.openxmlformats.org/drawingml/2006/main" id="48" idx="2"/>
          </p:cNvCxnSpPr>
          <p:nvPr/>
        </p:nvCxnSpPr>
        <p:spPr>
          <a:xfrm xmlns:a="http://schemas.openxmlformats.org/drawingml/2006/main" flipV="1">
            <a:off x="5229225" y="2447925"/>
            <a:ext cx="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7623"/>
            </a:solidFill>
            <a:prstDash val="solid"/>
            <a:tailEnd type="none" w="med" len="med"/>
          </a:ln>
        </p:spPr>
      </p:cxnSp>
      <p:cxnSp>
        <p:nvCxnSpPr>
          <p:cNvPr id="106" name=""/>
          <p:cNvCxnSpPr>
            <a:stCxn xmlns:a="http://schemas.openxmlformats.org/drawingml/2006/main" id="48" idx="3"/>
            <a:endCxn xmlns:a="http://schemas.openxmlformats.org/drawingml/2006/main" id="49" idx="1"/>
          </p:cNvCxnSpPr>
          <p:nvPr/>
        </p:nvCxnSpPr>
        <p:spPr>
          <a:xfrm xmlns:a="http://schemas.openxmlformats.org/drawingml/2006/main">
            <a:off x="5238750" y="2438400"/>
            <a:ext cx="18383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7623"/>
            </a:solidFill>
            <a:prstDash val="solid"/>
            <a:tailEnd type="triangle" w="med" len="med"/>
          </a:ln>
        </p:spPr>
      </p:cxnSp>
      <p:sp>
        <p:nvSpPr>
          <p:cNvPr id="52" name="anchor-179">
            <a:extLst xmlns:a="http://schemas.openxmlformats.org/drawingml/2006/main">
              <a:ext uri="{FF2B5EF4-FFF2-40B4-BE49-F238E27FC236}">
                <a16:creationId xmlns:a16="http://schemas.microsoft.com/office/drawing/2014/main" id="{57B39090-B9E7-422F-B758-B8F4B3D14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2956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3" name="anchor-180">
            <a:extLst xmlns:a="http://schemas.openxmlformats.org/drawingml/2006/main">
              <a:ext uri="{FF2B5EF4-FFF2-40B4-BE49-F238E27FC236}">
                <a16:creationId xmlns:a16="http://schemas.microsoft.com/office/drawing/2014/main" id="{17DBB976-E534-4693-9CC8-24A03761F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2956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9" name=""/>
          <p:cNvCxnSpPr>
            <a:stCxn xmlns:a="http://schemas.openxmlformats.org/drawingml/2006/main" id="52" idx="3"/>
            <a:endCxn xmlns:a="http://schemas.openxmlformats.org/drawingml/2006/main" id="53" idx="1"/>
          </p:cNvCxnSpPr>
          <p:nvPr/>
        </p:nvCxnSpPr>
        <p:spPr>
          <a:xfrm xmlns:a="http://schemas.openxmlformats.org/drawingml/2006/main">
            <a:off x="6467475" y="3305175"/>
            <a:ext cx="600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4AC"/>
            </a:solidFill>
            <a:prstDash val="solid"/>
            <a:tailEnd type="triangle" w="med" len="med"/>
          </a:ln>
        </p:spPr>
      </p:cxnSp>
      <p:cxnSp>
        <p:nvCxnSpPr>
          <p:cNvPr id="110" name=""/>
          <p:cNvCxnSpPr>
            <a:stCxn xmlns:a="http://schemas.openxmlformats.org/drawingml/2006/main" id="24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8886825" y="3457575"/>
            <a:ext cx="6381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4AC"/>
            </a:solidFill>
            <a:prstDash val="solid"/>
            <a:tailEnd type="triangle" w="med" len="med"/>
          </a:ln>
        </p:spPr>
      </p:cxnSp>
      <p:sp>
        <p:nvSpPr>
          <p:cNvPr id="56" name="anchor-181">
            <a:extLst xmlns:a="http://schemas.openxmlformats.org/drawingml/2006/main">
              <a:ext uri="{FF2B5EF4-FFF2-40B4-BE49-F238E27FC236}">
                <a16:creationId xmlns:a16="http://schemas.microsoft.com/office/drawing/2014/main" id="{985D2633-9FB2-4E1D-BB80-E92A4EC77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7909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7" name="anchor-182">
            <a:extLst xmlns:a="http://schemas.openxmlformats.org/drawingml/2006/main">
              <a:ext uri="{FF2B5EF4-FFF2-40B4-BE49-F238E27FC236}">
                <a16:creationId xmlns:a16="http://schemas.microsoft.com/office/drawing/2014/main" id="{9CE7E53C-E458-4F3E-B5F7-9344EE49D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3624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8" name="anchor-183">
            <a:extLst xmlns:a="http://schemas.openxmlformats.org/drawingml/2006/main">
              <a:ext uri="{FF2B5EF4-FFF2-40B4-BE49-F238E27FC236}">
                <a16:creationId xmlns:a16="http://schemas.microsoft.com/office/drawing/2014/main" id="{0BFC8C8C-175A-4241-8922-D39AE87E8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3624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" name="anchor-184">
            <a:extLst xmlns:a="http://schemas.openxmlformats.org/drawingml/2006/main">
              <a:ext uri="{FF2B5EF4-FFF2-40B4-BE49-F238E27FC236}">
                <a16:creationId xmlns:a16="http://schemas.microsoft.com/office/drawing/2014/main" id="{4DC2DE18-8CBD-4BC3-B700-C4814177C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9719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5" name=""/>
          <p:cNvCxnSpPr>
            <a:stCxn xmlns:a="http://schemas.openxmlformats.org/drawingml/2006/main" id="56" idx="2"/>
            <a:endCxn xmlns:a="http://schemas.openxmlformats.org/drawingml/2006/main" id="57" idx="0"/>
          </p:cNvCxnSpPr>
          <p:nvPr/>
        </p:nvCxnSpPr>
        <p:spPr>
          <a:xfrm xmlns:a="http://schemas.openxmlformats.org/drawingml/2006/main">
            <a:off x="10534650" y="3810000"/>
            <a:ext cx="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8477"/>
            </a:solidFill>
            <a:prstDash val="dash"/>
            <a:tailEnd type="none" w="med" len="med"/>
          </a:ln>
        </p:spPr>
      </p:cxnSp>
      <p:cxnSp>
        <p:nvCxnSpPr>
          <p:cNvPr id="116" name=""/>
          <p:cNvCxnSpPr>
            <a:stCxn xmlns:a="http://schemas.openxmlformats.org/drawingml/2006/main" id="57" idx="1"/>
            <a:endCxn xmlns:a="http://schemas.openxmlformats.org/drawingml/2006/main" id="58" idx="3"/>
          </p:cNvCxnSpPr>
          <p:nvPr/>
        </p:nvCxnSpPr>
        <p:spPr>
          <a:xfrm xmlns:a="http://schemas.openxmlformats.org/drawingml/2006/main" flipH="1">
            <a:off x="5972175" y="4371975"/>
            <a:ext cx="4552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8477"/>
            </a:solidFill>
            <a:prstDash val="dash"/>
            <a:tailEnd type="none" w="med" len="med"/>
          </a:ln>
        </p:spPr>
      </p:cxnSp>
      <p:cxnSp>
        <p:nvCxnSpPr>
          <p:cNvPr id="117" name=""/>
          <p:cNvCxnSpPr>
            <a:stCxn xmlns:a="http://schemas.openxmlformats.org/drawingml/2006/main" id="58" idx="0"/>
            <a:endCxn xmlns:a="http://schemas.openxmlformats.org/drawingml/2006/main" id="59" idx="2"/>
          </p:cNvCxnSpPr>
          <p:nvPr/>
        </p:nvCxnSpPr>
        <p:spPr>
          <a:xfrm xmlns:a="http://schemas.openxmlformats.org/drawingml/2006/main" flipV="1">
            <a:off x="5962650" y="3990975"/>
            <a:ext cx="0" cy="3714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8477"/>
            </a:solidFill>
            <a:prstDash val="dash"/>
            <a:tailEnd type="triangle" w="med" len="med"/>
          </a:ln>
        </p:spPr>
      </p:cxnSp>
      <p:sp>
        <p:nvSpPr>
          <p:cNvPr id="63" name="text-185">
            <a:extLst xmlns:a="http://schemas.openxmlformats.org/drawingml/2006/main">
              <a:ext uri="{FF2B5EF4-FFF2-40B4-BE49-F238E27FC236}">
                <a16:creationId xmlns:a16="http://schemas.microsoft.com/office/drawing/2014/main" id="{92841804-ED71-4D69-AD88-975879A4E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143375"/>
            <a:ext cx="21240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178477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178477"/>
                </a:solidFill>
                <a:latin typeface="微软雅黑"/>
                <a:ea typeface="微软雅黑"/>
                <a:cs typeface="微软雅黑"/>
              </a:rPr>
              <a:t>状态与数据反馈</a:t>
            </a:r>
          </a:p>
        </p:txBody>
      </p:sp>
      <p:sp>
        <p:nvSpPr>
          <p:cNvPr id="64" name="text-186">
            <a:extLst xmlns:a="http://schemas.openxmlformats.org/drawingml/2006/main">
              <a:ext uri="{FF2B5EF4-FFF2-40B4-BE49-F238E27FC236}">
                <a16:creationId xmlns:a16="http://schemas.microsoft.com/office/drawing/2014/main" id="{33D1FDE0-F3CD-4D7A-AAD7-2D10C43EB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953000"/>
            <a:ext cx="1062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无特权旁路：大模型改变决策来源，但不改变设备执行边界。</a:t>
            </a:r>
          </a:p>
        </p:txBody>
      </p:sp>
      <p:sp>
        <p:nvSpPr>
          <p:cNvPr id="65" name="anchor-187">
            <a:extLst xmlns:a="http://schemas.openxmlformats.org/drawingml/2006/main">
              <a:ext uri="{FF2B5EF4-FFF2-40B4-BE49-F238E27FC236}">
                <a16:creationId xmlns:a16="http://schemas.microsoft.com/office/drawing/2014/main" id="{1C3971F5-A6EE-4E1D-B9F1-FC8F62A6C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0102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6" name="anchor-188">
            <a:extLst xmlns:a="http://schemas.openxmlformats.org/drawingml/2006/main">
              <a:ext uri="{FF2B5EF4-FFF2-40B4-BE49-F238E27FC236}">
                <a16:creationId xmlns:a16="http://schemas.microsoft.com/office/drawing/2014/main" id="{255D4DA0-2CE5-4C14-8F7F-C41DD7396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0025" y="60102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2" name=""/>
          <p:cNvCxnSpPr>
            <a:stCxn xmlns:a="http://schemas.openxmlformats.org/drawingml/2006/main" id="65" idx="3"/>
            <a:endCxn xmlns:a="http://schemas.openxmlformats.org/drawingml/2006/main" id="66" idx="1"/>
          </p:cNvCxnSpPr>
          <p:nvPr/>
        </p:nvCxnSpPr>
        <p:spPr>
          <a:xfrm xmlns:a="http://schemas.openxmlformats.org/drawingml/2006/main">
            <a:off x="561975" y="6019800"/>
            <a:ext cx="110680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BB7CC"/>
            </a:solidFill>
            <a:prstDash val="solid"/>
            <a:tailEnd type="none" w="med" len="med"/>
          </a:ln>
        </p:spPr>
      </p:cxnSp>
      <p:sp>
        <p:nvSpPr>
          <p:cNvPr id="68" name="text-189">
            <a:extLst xmlns:a="http://schemas.openxmlformats.org/drawingml/2006/main">
              <a:ext uri="{FF2B5EF4-FFF2-40B4-BE49-F238E27FC236}">
                <a16:creationId xmlns:a16="http://schemas.microsoft.com/office/drawing/2014/main" id="{0BC9F435-27D2-44A2-9365-A5759F3A8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150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统一执行链路把“谁提出请求”和“设备怎样执行”分成两个问题。</a:t>
            </a:r>
          </a:p>
        </p:txBody>
      </p:sp>
    </p:spTree>
    <p:extLst>
      <p:ext uri="{BB962C8B-B14F-4D97-AF65-F5344CB8AC3E}">
        <p14:creationId xmlns:p14="http://schemas.microsoft.com/office/powerpoint/2010/main" val="181670117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94A7FCF-90AA-4A43-A59B-460F6397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6B6F955-271D-494A-9C8C-34DC837C5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8  案例：反应釜加热的跨层执行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72C22E5-345A-4C5B-84E1-6CE6E2511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034F3B0-DC9C-4B8B-AD4A-E5E1AADFE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8/10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text-190">
            <a:extLst xmlns:a="http://schemas.openxmlformats.org/drawingml/2006/main">
              <a:ext uri="{FF2B5EF4-FFF2-40B4-BE49-F238E27FC236}">
                <a16:creationId xmlns:a16="http://schemas.microsoft.com/office/drawing/2014/main" id="{3997FD0F-A8BF-42BE-B400-A8C8F7909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87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5B6B7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5B6B78"/>
                </a:solidFill>
                <a:latin typeface="微软雅黑"/>
                <a:ea typeface="微软雅黑"/>
                <a:cs typeface="微软雅黑"/>
              </a:rPr>
              <a:t>一个加热节点如何通过状态机、Adapter 和物理设备完成闭环</a:t>
            </a:r>
          </a:p>
        </p:txBody>
      </p:sp>
      <p:sp>
        <p:nvSpPr>
          <p:cNvPr id="9" name="diagram-191">
            <a:extLst xmlns:a="http://schemas.openxmlformats.org/drawingml/2006/main">
              <a:ext uri="{FF2B5EF4-FFF2-40B4-BE49-F238E27FC236}">
                <a16:creationId xmlns:a16="http://schemas.microsoft.com/office/drawing/2014/main" id="{B8FC5002-B4CD-4CCF-B944-8EF4133E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2095500" cy="542925"/>
          </a:xfrm>
          <a:prstGeom xmlns:a="http://schemas.openxmlformats.org/drawingml/2006/main" prst="roundRect">
            <a:avLst>
              <a:gd name="adj" fmla="val 14035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3335">
            <a:solidFill>
              <a:srgbClr val="9BB7CC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Aft>
                <a:spcPts val="250"/>
              </a:spcAft>
              <a:buNone/>
              <a:defRPr sz="17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加热节点</a:t>
            </a:r>
          </a:p>
        </p:txBody>
      </p:sp>
      <p:sp>
        <p:nvSpPr>
          <p:cNvPr id="10" name="diagram-192">
            <a:extLst xmlns:a="http://schemas.openxmlformats.org/drawingml/2006/main">
              <a:ext uri="{FF2B5EF4-FFF2-40B4-BE49-F238E27FC236}">
                <a16:creationId xmlns:a16="http://schemas.microsoft.com/office/drawing/2014/main" id="{489C3E85-75FC-4503-823E-2E0FAE858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752600"/>
            <a:ext cx="2095500" cy="542925"/>
          </a:xfrm>
          <a:prstGeom xmlns:a="http://schemas.openxmlformats.org/drawingml/2006/main" prst="roundRect">
            <a:avLst>
              <a:gd name="adj" fmla="val 14035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3335">
            <a:solidFill>
              <a:srgbClr val="9BB7CC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Aft>
                <a:spcPts val="250"/>
              </a:spcAft>
              <a:buNone/>
              <a:defRPr sz="17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设备状态机</a:t>
            </a:r>
          </a:p>
        </p:txBody>
      </p:sp>
      <p:sp>
        <p:nvSpPr>
          <p:cNvPr id="11" name="diagram-193">
            <a:extLst xmlns:a="http://schemas.openxmlformats.org/drawingml/2006/main">
              <a:ext uri="{FF2B5EF4-FFF2-40B4-BE49-F238E27FC236}">
                <a16:creationId xmlns:a16="http://schemas.microsoft.com/office/drawing/2014/main" id="{A22604A6-FFBF-4A50-9E16-B24F0E1A3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752600"/>
            <a:ext cx="2095500" cy="542925"/>
          </a:xfrm>
          <a:prstGeom xmlns:a="http://schemas.openxmlformats.org/drawingml/2006/main" prst="roundRect">
            <a:avLst>
              <a:gd name="adj" fmla="val 14035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3335">
            <a:solidFill>
              <a:srgbClr val="9BB7CC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Aft>
                <a:spcPts val="250"/>
              </a:spcAft>
              <a:buNone/>
              <a:defRPr sz="17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Adapter</a:t>
            </a:r>
          </a:p>
        </p:txBody>
      </p:sp>
      <p:sp>
        <p:nvSpPr>
          <p:cNvPr id="12" name="diagram-194">
            <a:extLst xmlns:a="http://schemas.openxmlformats.org/drawingml/2006/main">
              <a:ext uri="{FF2B5EF4-FFF2-40B4-BE49-F238E27FC236}">
                <a16:creationId xmlns:a16="http://schemas.microsoft.com/office/drawing/2014/main" id="{2A86CA17-055E-46F5-A9ED-CE062A7D3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1752600"/>
            <a:ext cx="2095500" cy="542925"/>
          </a:xfrm>
          <a:prstGeom xmlns:a="http://schemas.openxmlformats.org/drawingml/2006/main" prst="roundRect">
            <a:avLst>
              <a:gd name="adj" fmla="val 14035"/>
            </a:avLst>
          </a:prstGeom>
          <a:solidFill xmlns:a="http://schemas.openxmlformats.org/drawingml/2006/main">
            <a:srgbClr val="E9F5F2"/>
          </a:solidFill>
          <a:ln xmlns:a="http://schemas.openxmlformats.org/drawingml/2006/main" w="13335">
            <a:solidFill>
              <a:srgbClr val="9BB7CC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Aft>
                <a:spcPts val="250"/>
              </a:spcAft>
              <a:buNone/>
              <a:defRPr sz="17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物理反应釜</a:t>
            </a:r>
          </a:p>
        </p:txBody>
      </p:sp>
      <p:sp>
        <p:nvSpPr>
          <p:cNvPr id="13" name="anchor-195">
            <a:extLst xmlns:a="http://schemas.openxmlformats.org/drawingml/2006/main">
              <a:ext uri="{FF2B5EF4-FFF2-40B4-BE49-F238E27FC236}">
                <a16:creationId xmlns:a16="http://schemas.microsoft.com/office/drawing/2014/main" id="{BD4C84D1-4570-40BB-BE54-B1B6562A8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3431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" name="anchor-196">
            <a:extLst xmlns:a="http://schemas.openxmlformats.org/drawingml/2006/main">
              <a:ext uri="{FF2B5EF4-FFF2-40B4-BE49-F238E27FC236}">
                <a16:creationId xmlns:a16="http://schemas.microsoft.com/office/drawing/2014/main" id="{BED34AD3-9AFE-4358-ADC8-B6BA73AE2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6388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4" name=""/>
          <p:cNvCxnSpPr>
            <a:stCxn xmlns:a="http://schemas.openxmlformats.org/drawingml/2006/main" id="13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1771650" y="2362200"/>
            <a:ext cx="0" cy="32766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9BB7CC"/>
            </a:solidFill>
            <a:prstDash val="dash"/>
            <a:tailEnd type="none" w="med" len="med"/>
          </a:ln>
        </p:spPr>
      </p:cxnSp>
      <p:sp>
        <p:nvSpPr>
          <p:cNvPr id="16" name="anchor-197">
            <a:extLst xmlns:a="http://schemas.openxmlformats.org/drawingml/2006/main">
              <a:ext uri="{FF2B5EF4-FFF2-40B4-BE49-F238E27FC236}">
                <a16:creationId xmlns:a16="http://schemas.microsoft.com/office/drawing/2014/main" id="{A3F0E345-B0EB-4309-8F7F-FA93A0DA5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431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anchor-198">
            <a:extLst xmlns:a="http://schemas.openxmlformats.org/drawingml/2006/main">
              <a:ext uri="{FF2B5EF4-FFF2-40B4-BE49-F238E27FC236}">
                <a16:creationId xmlns:a16="http://schemas.microsoft.com/office/drawing/2014/main" id="{B29B6191-F633-4689-BF7F-A80695425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6388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7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4524375" y="2362200"/>
            <a:ext cx="0" cy="32766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9BB7CC"/>
            </a:solidFill>
            <a:prstDash val="dash"/>
            <a:tailEnd type="none" w="med" len="med"/>
          </a:ln>
        </p:spPr>
      </p:cxnSp>
      <p:sp>
        <p:nvSpPr>
          <p:cNvPr id="19" name="anchor-199">
            <a:extLst xmlns:a="http://schemas.openxmlformats.org/drawingml/2006/main">
              <a:ext uri="{FF2B5EF4-FFF2-40B4-BE49-F238E27FC236}">
                <a16:creationId xmlns:a16="http://schemas.microsoft.com/office/drawing/2014/main" id="{D05600EE-A01A-4B9F-B343-16B1558B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3431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" name="anchor-200">
            <a:extLst xmlns:a="http://schemas.openxmlformats.org/drawingml/2006/main">
              <a:ext uri="{FF2B5EF4-FFF2-40B4-BE49-F238E27FC236}">
                <a16:creationId xmlns:a16="http://schemas.microsoft.com/office/drawing/2014/main" id="{5D341954-0DC8-4BC0-BE9B-C9E8B212B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56388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0" name=""/>
          <p:cNvCxnSpPr>
            <a:stCxn xmlns:a="http://schemas.openxmlformats.org/drawingml/2006/main" id="19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7391400" y="2362200"/>
            <a:ext cx="0" cy="32766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9BB7CC"/>
            </a:solidFill>
            <a:prstDash val="dash"/>
            <a:tailEnd type="none" w="med" len="med"/>
          </a:ln>
        </p:spPr>
      </p:cxnSp>
      <p:sp>
        <p:nvSpPr>
          <p:cNvPr id="22" name="anchor-201">
            <a:extLst xmlns:a="http://schemas.openxmlformats.org/drawingml/2006/main">
              <a:ext uri="{FF2B5EF4-FFF2-40B4-BE49-F238E27FC236}">
                <a16:creationId xmlns:a16="http://schemas.microsoft.com/office/drawing/2014/main" id="{8A7F0292-1889-4A3E-A8A2-8A15FE46A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3431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anchor-202">
            <a:extLst xmlns:a="http://schemas.openxmlformats.org/drawingml/2006/main">
              <a:ext uri="{FF2B5EF4-FFF2-40B4-BE49-F238E27FC236}">
                <a16:creationId xmlns:a16="http://schemas.microsoft.com/office/drawing/2014/main" id="{C737D5EA-AC52-4C9E-8782-C146348E4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56388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3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10258425" y="2362200"/>
            <a:ext cx="0" cy="32766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9BB7CC"/>
            </a:solidFill>
            <a:prstDash val="dash"/>
            <a:tailEnd type="none" w="med" len="med"/>
          </a:ln>
        </p:spPr>
      </p:cxnSp>
      <p:sp>
        <p:nvSpPr>
          <p:cNvPr id="25" name="anchor-203">
            <a:extLst xmlns:a="http://schemas.openxmlformats.org/drawingml/2006/main">
              <a:ext uri="{FF2B5EF4-FFF2-40B4-BE49-F238E27FC236}">
                <a16:creationId xmlns:a16="http://schemas.microsoft.com/office/drawing/2014/main" id="{22148FA7-4BD9-4F18-B117-CFF49015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8003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anchor-204">
            <a:extLst xmlns:a="http://schemas.openxmlformats.org/drawingml/2006/main">
              <a:ext uri="{FF2B5EF4-FFF2-40B4-BE49-F238E27FC236}">
                <a16:creationId xmlns:a16="http://schemas.microsoft.com/office/drawing/2014/main" id="{400B6FCB-06DB-4ACF-98A4-4C968369F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003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6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1781175" y="2809875"/>
            <a:ext cx="27336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4AC"/>
            </a:solidFill>
            <a:prstDash val="solid"/>
            <a:tailEnd type="triangle" w="med" len="med"/>
          </a:ln>
        </p:spPr>
      </p:cxnSp>
      <p:sp>
        <p:nvSpPr>
          <p:cNvPr id="28" name="anchor-205">
            <a:extLst xmlns:a="http://schemas.openxmlformats.org/drawingml/2006/main">
              <a:ext uri="{FF2B5EF4-FFF2-40B4-BE49-F238E27FC236}">
                <a16:creationId xmlns:a16="http://schemas.microsoft.com/office/drawing/2014/main" id="{D6C9760A-C1A3-46C0-AFE3-4037AA734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7814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" name="anchor-206">
            <a:extLst xmlns:a="http://schemas.openxmlformats.org/drawingml/2006/main">
              <a:ext uri="{FF2B5EF4-FFF2-40B4-BE49-F238E27FC236}">
                <a16:creationId xmlns:a16="http://schemas.microsoft.com/office/drawing/2014/main" id="{866C4F40-E3A0-4472-89B2-3179245EF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7814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9" name=""/>
          <p:cNvCxnSpPr>
            <a:stCxn xmlns:a="http://schemas.openxmlformats.org/drawingml/2006/main" id="28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4533900" y="3790950"/>
            <a:ext cx="28479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4AC"/>
            </a:solidFill>
            <a:prstDash val="solid"/>
            <a:tailEnd type="triangle" w="med" len="med"/>
          </a:ln>
        </p:spPr>
      </p:cxnSp>
      <p:sp>
        <p:nvSpPr>
          <p:cNvPr id="31" name="anchor-207">
            <a:extLst xmlns:a="http://schemas.openxmlformats.org/drawingml/2006/main">
              <a:ext uri="{FF2B5EF4-FFF2-40B4-BE49-F238E27FC236}">
                <a16:creationId xmlns:a16="http://schemas.microsoft.com/office/drawing/2014/main" id="{35D5B0BA-518C-487A-B97D-F799FF538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7625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" name="anchor-208">
            <a:extLst xmlns:a="http://schemas.openxmlformats.org/drawingml/2006/main">
              <a:ext uri="{FF2B5EF4-FFF2-40B4-BE49-F238E27FC236}">
                <a16:creationId xmlns:a16="http://schemas.microsoft.com/office/drawing/2014/main" id="{0FA2EB03-F3BA-460C-870B-ED40EC0B4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47625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2" name=""/>
          <p:cNvCxnSpPr>
            <a:stCxn xmlns:a="http://schemas.openxmlformats.org/drawingml/2006/main" id="31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7400925" y="4772025"/>
            <a:ext cx="28479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4AC"/>
            </a:solidFill>
            <a:prstDash val="solid"/>
            <a:tailEnd type="triangle" w="med" len="med"/>
          </a:ln>
        </p:spPr>
      </p:cxnSp>
      <p:sp>
        <p:nvSpPr>
          <p:cNvPr id="34" name="anchor-209">
            <a:extLst xmlns:a="http://schemas.openxmlformats.org/drawingml/2006/main">
              <a:ext uri="{FF2B5EF4-FFF2-40B4-BE49-F238E27FC236}">
                <a16:creationId xmlns:a16="http://schemas.microsoft.com/office/drawing/2014/main" id="{429769E8-9BBD-4B3F-B9A0-5AB1049AC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7814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anchor-210">
            <a:extLst xmlns:a="http://schemas.openxmlformats.org/drawingml/2006/main">
              <a:ext uri="{FF2B5EF4-FFF2-40B4-BE49-F238E27FC236}">
                <a16:creationId xmlns:a16="http://schemas.microsoft.com/office/drawing/2014/main" id="{BE20FAFE-2938-456A-8B7E-8A20B829B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7814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5" name=""/>
          <p:cNvCxnSpPr>
            <a:stCxn xmlns:a="http://schemas.openxmlformats.org/drawingml/2006/main" id="34" idx="1"/>
            <a:endCxn xmlns:a="http://schemas.openxmlformats.org/drawingml/2006/main" id="35" idx="3"/>
          </p:cNvCxnSpPr>
          <p:nvPr/>
        </p:nvCxnSpPr>
        <p:spPr>
          <a:xfrm xmlns:a="http://schemas.openxmlformats.org/drawingml/2006/main" flipH="1">
            <a:off x="7400925" y="3790950"/>
            <a:ext cx="28479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8477"/>
            </a:solidFill>
            <a:prstDash val="dash"/>
            <a:tailEnd type="triangle" w="med" len="med"/>
          </a:ln>
        </p:spPr>
      </p:cxnSp>
      <p:sp>
        <p:nvSpPr>
          <p:cNvPr id="37" name="anchor-211">
            <a:extLst xmlns:a="http://schemas.openxmlformats.org/drawingml/2006/main">
              <a:ext uri="{FF2B5EF4-FFF2-40B4-BE49-F238E27FC236}">
                <a16:creationId xmlns:a16="http://schemas.microsoft.com/office/drawing/2014/main" id="{E84063A0-339E-4926-B389-9B3E6EB99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7625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" name="anchor-212">
            <a:extLst xmlns:a="http://schemas.openxmlformats.org/drawingml/2006/main">
              <a:ext uri="{FF2B5EF4-FFF2-40B4-BE49-F238E27FC236}">
                <a16:creationId xmlns:a16="http://schemas.microsoft.com/office/drawing/2014/main" id="{75F80885-FB3A-47B3-A1F0-02A6E698C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7625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8" name=""/>
          <p:cNvCxnSpPr>
            <a:stCxn xmlns:a="http://schemas.openxmlformats.org/drawingml/2006/main" id="37" idx="1"/>
            <a:endCxn xmlns:a="http://schemas.openxmlformats.org/drawingml/2006/main" id="38" idx="3"/>
          </p:cNvCxnSpPr>
          <p:nvPr/>
        </p:nvCxnSpPr>
        <p:spPr>
          <a:xfrm xmlns:a="http://schemas.openxmlformats.org/drawingml/2006/main" flipH="1">
            <a:off x="4533900" y="4772025"/>
            <a:ext cx="28479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8477"/>
            </a:solidFill>
            <a:prstDash val="dash"/>
            <a:tailEnd type="triangle" w="med" len="med"/>
          </a:ln>
        </p:spPr>
      </p:cxnSp>
      <p:sp>
        <p:nvSpPr>
          <p:cNvPr id="40" name="anchor-213">
            <a:extLst xmlns:a="http://schemas.openxmlformats.org/drawingml/2006/main">
              <a:ext uri="{FF2B5EF4-FFF2-40B4-BE49-F238E27FC236}">
                <a16:creationId xmlns:a16="http://schemas.microsoft.com/office/drawing/2014/main" id="{2BD26C6D-3107-43D5-980D-B05E6D349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6388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anchor-214">
            <a:extLst xmlns:a="http://schemas.openxmlformats.org/drawingml/2006/main">
              <a:ext uri="{FF2B5EF4-FFF2-40B4-BE49-F238E27FC236}">
                <a16:creationId xmlns:a16="http://schemas.microsoft.com/office/drawing/2014/main" id="{19354761-BC28-4E44-9369-01D6819A7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6388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1" name=""/>
          <p:cNvCxnSpPr>
            <a:stCxn xmlns:a="http://schemas.openxmlformats.org/drawingml/2006/main" id="40" idx="1"/>
            <a:endCxn xmlns:a="http://schemas.openxmlformats.org/drawingml/2006/main" id="41" idx="3"/>
          </p:cNvCxnSpPr>
          <p:nvPr/>
        </p:nvCxnSpPr>
        <p:spPr>
          <a:xfrm xmlns:a="http://schemas.openxmlformats.org/drawingml/2006/main" flipH="1">
            <a:off x="1781175" y="5648325"/>
            <a:ext cx="27336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8477"/>
            </a:solidFill>
            <a:prstDash val="dash"/>
            <a:tailEnd type="triangle" w="med" len="med"/>
          </a:ln>
        </p:spPr>
      </p:cxnSp>
      <p:sp>
        <p:nvSpPr>
          <p:cNvPr id="43" name="text-215">
            <a:extLst xmlns:a="http://schemas.openxmlformats.org/drawingml/2006/main">
              <a:ext uri="{FF2B5EF4-FFF2-40B4-BE49-F238E27FC236}">
                <a16:creationId xmlns:a16="http://schemas.microsoft.com/office/drawing/2014/main" id="{9E7B0DB9-B253-461B-974F-AC6D06511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013" y="2543175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① 触发执行请求</a:t>
            </a:r>
          </a:p>
        </p:txBody>
      </p:sp>
      <p:sp>
        <p:nvSpPr>
          <p:cNvPr id="44" name="text-216">
            <a:extLst xmlns:a="http://schemas.openxmlformats.org/drawingml/2006/main">
              <a:ext uri="{FF2B5EF4-FFF2-40B4-BE49-F238E27FC236}">
                <a16:creationId xmlns:a16="http://schemas.microsoft.com/office/drawing/2014/main" id="{31A2D653-8A6B-42F5-AF19-E38BFA29D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4888" y="35242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② 状态转移并发令</a:t>
            </a:r>
          </a:p>
        </p:txBody>
      </p:sp>
      <p:sp>
        <p:nvSpPr>
          <p:cNvPr id="45" name="text-217">
            <a:extLst xmlns:a="http://schemas.openxmlformats.org/drawingml/2006/main">
              <a:ext uri="{FF2B5EF4-FFF2-40B4-BE49-F238E27FC236}">
                <a16:creationId xmlns:a16="http://schemas.microsoft.com/office/drawing/2014/main" id="{8B8DD2F5-6069-4E8F-ACC3-FC2AEEDB7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1913" y="4505325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③ 执行加热操作</a:t>
            </a:r>
          </a:p>
        </p:txBody>
      </p:sp>
      <p:sp>
        <p:nvSpPr>
          <p:cNvPr id="46" name="text-218">
            <a:extLst xmlns:a="http://schemas.openxmlformats.org/drawingml/2006/main">
              <a:ext uri="{FF2B5EF4-FFF2-40B4-BE49-F238E27FC236}">
                <a16:creationId xmlns:a16="http://schemas.microsoft.com/office/drawing/2014/main" id="{AE8AE6F9-05D9-43D6-8C94-A565B7A96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1913" y="35242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17847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78477"/>
                </a:solidFill>
                <a:latin typeface="微软雅黑"/>
                <a:ea typeface="微软雅黑"/>
                <a:cs typeface="微软雅黑"/>
              </a:rPr>
              <a:t>④ 返回数据与事件</a:t>
            </a:r>
          </a:p>
        </p:txBody>
      </p:sp>
      <p:sp>
        <p:nvSpPr>
          <p:cNvPr id="47" name="text-219">
            <a:extLst xmlns:a="http://schemas.openxmlformats.org/drawingml/2006/main">
              <a:ext uri="{FF2B5EF4-FFF2-40B4-BE49-F238E27FC236}">
                <a16:creationId xmlns:a16="http://schemas.microsoft.com/office/drawing/2014/main" id="{9FF13014-B396-46C8-998E-7B1DAC779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4888" y="4505325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17847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78477"/>
                </a:solidFill>
                <a:latin typeface="微软雅黑"/>
                <a:ea typeface="微软雅黑"/>
                <a:cs typeface="微软雅黑"/>
              </a:rPr>
              <a:t>⑤ 更新设备状态</a:t>
            </a:r>
          </a:p>
        </p:txBody>
      </p:sp>
      <p:sp>
        <p:nvSpPr>
          <p:cNvPr id="48" name="text-220">
            <a:extLst xmlns:a="http://schemas.openxmlformats.org/drawingml/2006/main">
              <a:ext uri="{FF2B5EF4-FFF2-40B4-BE49-F238E27FC236}">
                <a16:creationId xmlns:a16="http://schemas.microsoft.com/office/drawing/2014/main" id="{AF92707F-2495-46E1-B011-6A9F30E90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013" y="5381625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17847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78477"/>
                </a:solidFill>
                <a:latin typeface="微软雅黑"/>
                <a:ea typeface="微软雅黑"/>
                <a:cs typeface="微软雅黑"/>
              </a:rPr>
              <a:t>⑥ 反馈驱动节点推进</a:t>
            </a:r>
          </a:p>
        </p:txBody>
      </p:sp>
      <p:sp>
        <p:nvSpPr>
          <p:cNvPr id="49" name="anchor-221">
            <a:extLst xmlns:a="http://schemas.openxmlformats.org/drawingml/2006/main">
              <a:ext uri="{FF2B5EF4-FFF2-40B4-BE49-F238E27FC236}">
                <a16:creationId xmlns:a16="http://schemas.microsoft.com/office/drawing/2014/main" id="{A3FE8051-3D7B-4949-BFDC-DC3B1D39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0102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" name="anchor-222">
            <a:extLst xmlns:a="http://schemas.openxmlformats.org/drawingml/2006/main">
              <a:ext uri="{FF2B5EF4-FFF2-40B4-BE49-F238E27FC236}">
                <a16:creationId xmlns:a16="http://schemas.microsoft.com/office/drawing/2014/main" id="{5394BEDA-5E46-4CD7-8FAE-DDCEC832E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0025" y="60102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0" name=""/>
          <p:cNvCxnSpPr>
            <a:stCxn xmlns:a="http://schemas.openxmlformats.org/drawingml/2006/main" id="49" idx="3"/>
            <a:endCxn xmlns:a="http://schemas.openxmlformats.org/drawingml/2006/main" id="50" idx="1"/>
          </p:cNvCxnSpPr>
          <p:nvPr/>
        </p:nvCxnSpPr>
        <p:spPr>
          <a:xfrm xmlns:a="http://schemas.openxmlformats.org/drawingml/2006/main">
            <a:off x="561975" y="6019800"/>
            <a:ext cx="110680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BB7CC"/>
            </a:solidFill>
            <a:prstDash val="solid"/>
            <a:tailEnd type="none" w="med" len="med"/>
          </a:ln>
        </p:spPr>
      </p:cxnSp>
      <p:sp>
        <p:nvSpPr>
          <p:cNvPr id="52" name="text-223">
            <a:extLst xmlns:a="http://schemas.openxmlformats.org/drawingml/2006/main">
              <a:ext uri="{FF2B5EF4-FFF2-40B4-BE49-F238E27FC236}">
                <a16:creationId xmlns:a16="http://schemas.microsoft.com/office/drawing/2014/main" id="{4963ED4C-470D-471C-B805-32D57E363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150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节点、状态机、设备和反馈通过同一套接口与触发规则协同。</a:t>
            </a:r>
          </a:p>
        </p:txBody>
      </p:sp>
    </p:spTree>
    <p:extLst>
      <p:ext uri="{BB962C8B-B14F-4D97-AF65-F5344CB8AC3E}">
        <p14:creationId xmlns:p14="http://schemas.microsoft.com/office/powerpoint/2010/main" val="120906474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EFB015B-0AC2-4375-B396-EC594F9CE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B2D7CB1-0F5E-4F18-89EB-41A3EFD9A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9  扩展：大模型与仿真反馈闭环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B671BB5-68C1-40CE-8322-D04B2FFCA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7497B97-1CF4-40A7-B28F-62B2D5357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9/10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-224">
            <a:extLst xmlns:a="http://schemas.openxmlformats.org/drawingml/2006/main">
              <a:ext uri="{FF2B5EF4-FFF2-40B4-BE49-F238E27FC236}">
                <a16:creationId xmlns:a16="http://schemas.microsoft.com/office/drawing/2014/main" id="{5B77682D-DA15-40DD-BE7C-F2A748D52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87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5B6B7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5B6B78"/>
                </a:solidFill>
                <a:latin typeface="微软雅黑"/>
                <a:ea typeface="微软雅黑"/>
                <a:cs typeface="微软雅黑"/>
              </a:rPr>
              <a:t>仿真与实机都作为 Adapter 的执行后端，上层继续使用同一套模型和规则</a:t>
            </a:r>
          </a:p>
        </p:txBody>
      </p:sp>
      <p:sp>
        <p:nvSpPr>
          <p:cNvPr id="8" name="diagram-225">
            <a:extLst xmlns:a="http://schemas.openxmlformats.org/drawingml/2006/main">
              <a:ext uri="{FF2B5EF4-FFF2-40B4-BE49-F238E27FC236}">
                <a16:creationId xmlns:a16="http://schemas.microsoft.com/office/drawing/2014/main" id="{575BBBAB-21F0-4EB8-900D-88352230F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2476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3335">
            <a:solidFill>
              <a:srgbClr val="9BB7CC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Aft>
                <a:spcPts val="550"/>
              </a:spcAft>
              <a:buNone/>
              <a:defRPr sz="180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大模型决策</a:t>
            </a:r>
          </a:p>
          <a:p xmlns:a="http://schemas.openxmlformats.org/drawingml/2006/main">
            <a:pPr algn="ctr">
              <a:lnSpc>
                <a:spcPct val="108000"/>
              </a:lnSpc>
              <a:spcAft>
                <a:spcPts val="550"/>
              </a:spcAft>
              <a:buNone/>
              <a:defRPr sz="180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提出任务与控制请求</a:t>
            </a:r>
          </a:p>
        </p:txBody>
      </p:sp>
      <p:sp>
        <p:nvSpPr>
          <p:cNvPr id="9" name="diagram-226">
            <a:extLst xmlns:a="http://schemas.openxmlformats.org/drawingml/2006/main">
              <a:ext uri="{FF2B5EF4-FFF2-40B4-BE49-F238E27FC236}">
                <a16:creationId xmlns:a16="http://schemas.microsoft.com/office/drawing/2014/main" id="{A3B52A57-E781-4F86-A53D-DBEF8F657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952625"/>
            <a:ext cx="3381375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3335">
            <a:solidFill>
              <a:srgbClr val="9BB7CC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Aft>
                <a:spcPts val="600"/>
              </a:spcAft>
              <a:buNone/>
              <a:defRPr sz="17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统一执行框架</a:t>
            </a:r>
          </a:p>
          <a:p xmlns:a="http://schemas.openxmlformats.org/drawingml/2006/main">
            <a:pPr algn="ctr">
              <a:lnSpc>
                <a:spcPct val="108000"/>
              </a:lnSpc>
              <a:spcAft>
                <a:spcPts val="600"/>
              </a:spcAft>
              <a:buNone/>
              <a:defRPr sz="17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工作流、设备模型、状态机</a:t>
            </a:r>
          </a:p>
          <a:p xmlns:a="http://schemas.openxmlformats.org/drawingml/2006/main">
            <a:pPr algn="ctr">
              <a:lnSpc>
                <a:spcPct val="108000"/>
              </a:lnSpc>
              <a:spcAft>
                <a:spcPts val="600"/>
              </a:spcAft>
              <a:buNone/>
              <a:defRPr sz="17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约束检查共同参与</a:t>
            </a:r>
          </a:p>
        </p:txBody>
      </p:sp>
      <p:sp>
        <p:nvSpPr>
          <p:cNvPr id="10" name="diagram-227">
            <a:extLst xmlns:a="http://schemas.openxmlformats.org/drawingml/2006/main">
              <a:ext uri="{FF2B5EF4-FFF2-40B4-BE49-F238E27FC236}">
                <a16:creationId xmlns:a16="http://schemas.microsoft.com/office/drawing/2014/main" id="{08059D60-BEED-4496-BF89-D830D1B5C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343400"/>
            <a:ext cx="3381375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9F5F2"/>
          </a:solidFill>
          <a:ln xmlns:a="http://schemas.openxmlformats.org/drawingml/2006/main" w="13335">
            <a:solidFill>
              <a:srgbClr val="178477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Aft>
                <a:spcPts val="500"/>
              </a:spcAft>
              <a:buNone/>
              <a:defRPr sz="17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仿真 Adapter</a:t>
            </a:r>
          </a:p>
          <a:p xmlns:a="http://schemas.openxmlformats.org/drawingml/2006/main">
            <a:pPr algn="ctr">
              <a:lnSpc>
                <a:spcPct val="108000"/>
              </a:lnSpc>
              <a:spcAft>
                <a:spcPts val="500"/>
              </a:spcAft>
              <a:buNone/>
              <a:defRPr sz="17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模拟状态与实验数据</a:t>
            </a:r>
          </a:p>
        </p:txBody>
      </p:sp>
      <p:sp>
        <p:nvSpPr>
          <p:cNvPr id="11" name="diagram-228">
            <a:extLst xmlns:a="http://schemas.openxmlformats.org/drawingml/2006/main">
              <a:ext uri="{FF2B5EF4-FFF2-40B4-BE49-F238E27FC236}">
                <a16:creationId xmlns:a16="http://schemas.microsoft.com/office/drawing/2014/main" id="{5C2D947C-26AB-4C6F-8CCC-B0510CF9F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152650"/>
            <a:ext cx="250507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CF2E4"/>
          </a:solidFill>
          <a:ln xmlns:a="http://schemas.openxmlformats.org/drawingml/2006/main" w="13335">
            <a:solidFill>
              <a:srgbClr val="B77623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Aft>
                <a:spcPts val="500"/>
              </a:spcAft>
              <a:buNone/>
              <a:defRPr sz="17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仿真评估</a:t>
            </a:r>
          </a:p>
          <a:p xmlns:a="http://schemas.openxmlformats.org/drawingml/2006/main">
            <a:pPr algn="ctr">
              <a:lnSpc>
                <a:spcPct val="108000"/>
              </a:lnSpc>
              <a:spcAft>
                <a:spcPts val="500"/>
              </a:spcAft>
              <a:buNone/>
              <a:defRPr sz="17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满足条件后上机</a:t>
            </a:r>
          </a:p>
        </p:txBody>
      </p:sp>
      <p:sp>
        <p:nvSpPr>
          <p:cNvPr id="12" name="diagram-229">
            <a:extLst xmlns:a="http://schemas.openxmlformats.org/drawingml/2006/main">
              <a:ext uri="{FF2B5EF4-FFF2-40B4-BE49-F238E27FC236}">
                <a16:creationId xmlns:a16="http://schemas.microsoft.com/office/drawing/2014/main" id="{38D30E6F-FB65-4FCB-B64F-E935EB541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343400"/>
            <a:ext cx="2505075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3335">
            <a:solidFill>
              <a:srgbClr val="9BB7CC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Aft>
                <a:spcPts val="500"/>
              </a:spcAft>
              <a:buNone/>
              <a:defRPr sz="17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实机 Adapter</a:t>
            </a:r>
          </a:p>
          <a:p xmlns:a="http://schemas.openxmlformats.org/drawingml/2006/main">
            <a:pPr algn="ctr">
              <a:lnSpc>
                <a:spcPct val="108000"/>
              </a:lnSpc>
              <a:spcAft>
                <a:spcPts val="500"/>
              </a:spcAft>
              <a:buNone/>
              <a:defRPr sz="17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物理设备执行</a:t>
            </a:r>
          </a:p>
        </p:txBody>
      </p:sp>
      <p:cxnSp>
        <p:nvCxnSpPr>
          <p:cNvPr id="54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162300" y="2590800"/>
            <a:ext cx="1114425" cy="47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4AC"/>
            </a:solidFill>
            <a:prstDash val="solid"/>
            <a:tailEnd type="triangle" w="med" len="med"/>
          </a:ln>
        </p:spPr>
      </p:cxnSp>
      <p:sp>
        <p:nvSpPr>
          <p:cNvPr id="14" name="anchor-230">
            <a:extLst xmlns:a="http://schemas.openxmlformats.org/drawingml/2006/main">
              <a:ext uri="{FF2B5EF4-FFF2-40B4-BE49-F238E27FC236}">
                <a16:creationId xmlns:a16="http://schemas.microsoft.com/office/drawing/2014/main" id="{37DF0702-955F-4307-B909-BE99C55DE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2289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" name="anchor-231">
            <a:extLst xmlns:a="http://schemas.openxmlformats.org/drawingml/2006/main">
              <a:ext uri="{FF2B5EF4-FFF2-40B4-BE49-F238E27FC236}">
                <a16:creationId xmlns:a16="http://schemas.microsoft.com/office/drawing/2014/main" id="{43B95596-B2B6-49D8-8B1E-C04EE4DEC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3338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7" name=""/>
          <p:cNvCxnSpPr>
            <a:stCxn xmlns:a="http://schemas.openxmlformats.org/drawingml/2006/main" id="14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5962650" y="3248025"/>
            <a:ext cx="0" cy="1085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4AC"/>
            </a:solidFill>
            <a:prstDash val="solid"/>
            <a:tailEnd type="triangle" w="med" len="med"/>
          </a:ln>
        </p:spPr>
      </p:cxnSp>
      <p:sp>
        <p:nvSpPr>
          <p:cNvPr id="17" name="text-232">
            <a:extLst xmlns:a="http://schemas.openxmlformats.org/drawingml/2006/main">
              <a:ext uri="{FF2B5EF4-FFF2-40B4-BE49-F238E27FC236}">
                <a16:creationId xmlns:a16="http://schemas.microsoft.com/office/drawing/2014/main" id="{6DF8A129-A0EB-4F9D-893C-DBD9030B7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514725"/>
            <a:ext cx="13811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5B6B78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B6B78"/>
                </a:solidFill>
                <a:latin typeface="微软雅黑"/>
                <a:ea typeface="微软雅黑"/>
                <a:cs typeface="微软雅黑"/>
              </a:rPr>
              <a:t>进入仿真执行</a:t>
            </a:r>
          </a:p>
        </p:txBody>
      </p:sp>
      <p:sp>
        <p:nvSpPr>
          <p:cNvPr id="18" name="anchor-233">
            <a:extLst xmlns:a="http://schemas.openxmlformats.org/drawingml/2006/main">
              <a:ext uri="{FF2B5EF4-FFF2-40B4-BE49-F238E27FC236}">
                <a16:creationId xmlns:a16="http://schemas.microsoft.com/office/drawing/2014/main" id="{FE716B12-898C-4ACE-B13B-C608FCCDA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5908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" name="anchor-234">
            <a:extLst xmlns:a="http://schemas.openxmlformats.org/drawingml/2006/main">
              <a:ext uri="{FF2B5EF4-FFF2-40B4-BE49-F238E27FC236}">
                <a16:creationId xmlns:a16="http://schemas.microsoft.com/office/drawing/2014/main" id="{76D288DC-BC72-49A0-972C-BBBB9864C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908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1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7667625" y="2600325"/>
            <a:ext cx="13430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4AC"/>
            </a:solidFill>
            <a:prstDash val="solid"/>
            <a:tailEnd type="triangle" w="med" len="med"/>
          </a:ln>
        </p:spPr>
      </p:cxnSp>
      <p:sp>
        <p:nvSpPr>
          <p:cNvPr id="21" name="anchor-235">
            <a:extLst xmlns:a="http://schemas.openxmlformats.org/drawingml/2006/main">
              <a:ext uri="{FF2B5EF4-FFF2-40B4-BE49-F238E27FC236}">
                <a16:creationId xmlns:a16="http://schemas.microsoft.com/office/drawing/2014/main" id="{2630384F-0BB3-44DD-ACD7-DEDFDC599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0194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" name="anchor-236">
            <a:extLst xmlns:a="http://schemas.openxmlformats.org/drawingml/2006/main">
              <a:ext uri="{FF2B5EF4-FFF2-40B4-BE49-F238E27FC236}">
                <a16:creationId xmlns:a16="http://schemas.microsoft.com/office/drawing/2014/main" id="{F75DD7B3-A2D7-4A48-B695-2A642D092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43338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4" name=""/>
          <p:cNvCxnSpPr>
            <a:stCxn xmlns:a="http://schemas.openxmlformats.org/drawingml/2006/main" id="21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10267950" y="3038475"/>
            <a:ext cx="0" cy="12954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4AC"/>
            </a:solidFill>
            <a:prstDash val="solid"/>
            <a:tailEnd type="triangle" w="med" len="med"/>
          </a:ln>
        </p:spPr>
      </p:cxnSp>
      <p:sp>
        <p:nvSpPr>
          <p:cNvPr id="24" name="text-237">
            <a:extLst xmlns:a="http://schemas.openxmlformats.org/drawingml/2006/main">
              <a:ext uri="{FF2B5EF4-FFF2-40B4-BE49-F238E27FC236}">
                <a16:creationId xmlns:a16="http://schemas.microsoft.com/office/drawing/2014/main" id="{D35B822F-AB42-47D3-9A0D-1759E93E6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514725"/>
            <a:ext cx="10001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5B6B78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B6B78"/>
                </a:solidFill>
                <a:latin typeface="微软雅黑"/>
                <a:ea typeface="微软雅黑"/>
                <a:cs typeface="微软雅黑"/>
              </a:rPr>
              <a:t>满足条件</a:t>
            </a:r>
          </a:p>
        </p:txBody>
      </p:sp>
      <p:sp>
        <p:nvSpPr>
          <p:cNvPr id="25" name="anchor-238">
            <a:extLst xmlns:a="http://schemas.openxmlformats.org/drawingml/2006/main">
              <a:ext uri="{FF2B5EF4-FFF2-40B4-BE49-F238E27FC236}">
                <a16:creationId xmlns:a16="http://schemas.microsoft.com/office/drawing/2014/main" id="{1E520319-44F1-4566-8EEA-4A43A1A16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7434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anchor-239">
            <a:extLst xmlns:a="http://schemas.openxmlformats.org/drawingml/2006/main">
              <a:ext uri="{FF2B5EF4-FFF2-40B4-BE49-F238E27FC236}">
                <a16:creationId xmlns:a16="http://schemas.microsoft.com/office/drawing/2014/main" id="{9705F058-2EBA-4124-BE10-883038111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7434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8" name=""/>
          <p:cNvCxnSpPr>
            <a:stCxn xmlns:a="http://schemas.openxmlformats.org/drawingml/2006/main" id="25" idx="1"/>
            <a:endCxn xmlns:a="http://schemas.openxmlformats.org/drawingml/2006/main" id="26" idx="3"/>
          </p:cNvCxnSpPr>
          <p:nvPr/>
        </p:nvCxnSpPr>
        <p:spPr>
          <a:xfrm xmlns:a="http://schemas.openxmlformats.org/drawingml/2006/main" flipH="1">
            <a:off x="3171825" y="4752975"/>
            <a:ext cx="1095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8477"/>
            </a:solidFill>
            <a:prstDash val="dash"/>
            <a:tailEnd type="triangle" w="med" len="med"/>
          </a:ln>
        </p:spPr>
      </p:cxnSp>
      <p:sp>
        <p:nvSpPr>
          <p:cNvPr id="28" name="anchor-240">
            <a:extLst xmlns:a="http://schemas.openxmlformats.org/drawingml/2006/main">
              <a:ext uri="{FF2B5EF4-FFF2-40B4-BE49-F238E27FC236}">
                <a16:creationId xmlns:a16="http://schemas.microsoft.com/office/drawing/2014/main" id="{31DD0A2F-A0BC-47EB-9B0B-68C6601A6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3338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" name="anchor-241">
            <a:extLst xmlns:a="http://schemas.openxmlformats.org/drawingml/2006/main">
              <a:ext uri="{FF2B5EF4-FFF2-40B4-BE49-F238E27FC236}">
                <a16:creationId xmlns:a16="http://schemas.microsoft.com/office/drawing/2014/main" id="{2EC3A4EA-0C9C-4B19-A2F9-A2EC24ABD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0194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1" name=""/>
          <p:cNvCxnSpPr>
            <a:stCxn xmlns:a="http://schemas.openxmlformats.org/drawingml/2006/main" id="28" idx="0"/>
            <a:endCxn xmlns:a="http://schemas.openxmlformats.org/drawingml/2006/main" id="29" idx="2"/>
          </p:cNvCxnSpPr>
          <p:nvPr/>
        </p:nvCxnSpPr>
        <p:spPr>
          <a:xfrm xmlns:a="http://schemas.openxmlformats.org/drawingml/2006/main" flipV="1">
            <a:off x="1924050" y="3038475"/>
            <a:ext cx="0" cy="12954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8477"/>
            </a:solidFill>
            <a:prstDash val="dash"/>
            <a:tailEnd type="triangle" w="med" len="med"/>
          </a:ln>
        </p:spPr>
      </p:cxnSp>
      <p:sp>
        <p:nvSpPr>
          <p:cNvPr id="31" name="text-242">
            <a:extLst xmlns:a="http://schemas.openxmlformats.org/drawingml/2006/main">
              <a:ext uri="{FF2B5EF4-FFF2-40B4-BE49-F238E27FC236}">
                <a16:creationId xmlns:a16="http://schemas.microsoft.com/office/drawing/2014/main" id="{A7E8966D-28E4-4E35-BA0D-AA094DE05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495675"/>
            <a:ext cx="1085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17847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78477"/>
                </a:solidFill>
                <a:latin typeface="微软雅黑"/>
                <a:ea typeface="微软雅黑"/>
                <a:cs typeface="微软雅黑"/>
              </a:rPr>
              <a:t>再次决策</a:t>
            </a:r>
          </a:p>
        </p:txBody>
      </p:sp>
      <p:sp>
        <p:nvSpPr>
          <p:cNvPr id="32" name="anchor-243">
            <a:extLst xmlns:a="http://schemas.openxmlformats.org/drawingml/2006/main">
              <a:ext uri="{FF2B5EF4-FFF2-40B4-BE49-F238E27FC236}">
                <a16:creationId xmlns:a16="http://schemas.microsoft.com/office/drawing/2014/main" id="{B3360991-22DE-44ED-8DAC-EC49A07DD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47529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" name="anchor-244">
            <a:extLst xmlns:a="http://schemas.openxmlformats.org/drawingml/2006/main">
              <a:ext uri="{FF2B5EF4-FFF2-40B4-BE49-F238E27FC236}">
                <a16:creationId xmlns:a16="http://schemas.microsoft.com/office/drawing/2014/main" id="{D22C42B8-ABCF-4114-AD2E-2BE6F6E68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7529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" name="anchor-245">
            <a:extLst xmlns:a="http://schemas.openxmlformats.org/drawingml/2006/main">
              <a:ext uri="{FF2B5EF4-FFF2-40B4-BE49-F238E27FC236}">
                <a16:creationId xmlns:a16="http://schemas.microsoft.com/office/drawing/2014/main" id="{164C996A-BAF7-41A5-BF29-BCBE3ED1C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908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anchor-246">
            <a:extLst xmlns:a="http://schemas.openxmlformats.org/drawingml/2006/main">
              <a:ext uri="{FF2B5EF4-FFF2-40B4-BE49-F238E27FC236}">
                <a16:creationId xmlns:a16="http://schemas.microsoft.com/office/drawing/2014/main" id="{46C51328-002B-4EAE-8974-E6CD0470A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908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7" name=""/>
          <p:cNvCxnSpPr>
            <a:stCxn xmlns:a="http://schemas.openxmlformats.org/drawingml/2006/main" id="32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7667625" y="4762500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8477"/>
            </a:solidFill>
            <a:prstDash val="dash"/>
            <a:tailEnd type="none" w="med" len="med"/>
          </a:ln>
        </p:spPr>
      </p:cxnSp>
      <p:cxnSp>
        <p:nvCxnSpPr>
          <p:cNvPr id="78" name=""/>
          <p:cNvCxnSpPr>
            <a:stCxn xmlns:a="http://schemas.openxmlformats.org/drawingml/2006/main" id="33" idx="0"/>
            <a:endCxn xmlns:a="http://schemas.openxmlformats.org/drawingml/2006/main" id="34" idx="2"/>
          </p:cNvCxnSpPr>
          <p:nvPr/>
        </p:nvCxnSpPr>
        <p:spPr>
          <a:xfrm xmlns:a="http://schemas.openxmlformats.org/drawingml/2006/main" flipV="1">
            <a:off x="8391525" y="2609850"/>
            <a:ext cx="0" cy="2143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8477"/>
            </a:solidFill>
            <a:prstDash val="dash"/>
            <a:tailEnd type="none" w="med" len="med"/>
          </a:ln>
        </p:spPr>
      </p:cxnSp>
      <p:cxnSp>
        <p:nvCxnSpPr>
          <p:cNvPr id="79" name=""/>
          <p:cNvCxnSpPr>
            <a:stCxn xmlns:a="http://schemas.openxmlformats.org/drawingml/2006/main" id="34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8401050" y="2600325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8477"/>
            </a:solidFill>
            <a:prstDash val="dash"/>
            <a:tailEnd type="triangle" w="med" len="med"/>
          </a:ln>
        </p:spPr>
      </p:cxnSp>
      <p:sp>
        <p:nvSpPr>
          <p:cNvPr id="39" name="text-247">
            <a:extLst xmlns:a="http://schemas.openxmlformats.org/drawingml/2006/main">
              <a:ext uri="{FF2B5EF4-FFF2-40B4-BE49-F238E27FC236}">
                <a16:creationId xmlns:a16="http://schemas.microsoft.com/office/drawing/2014/main" id="{2B99B855-6D34-45A2-8F64-CBEC668D4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905375"/>
            <a:ext cx="10763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17847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78477"/>
                </a:solidFill>
                <a:latin typeface="微软雅黑"/>
                <a:ea typeface="微软雅黑"/>
                <a:cs typeface="微软雅黑"/>
              </a:rPr>
              <a:t>评估结果</a:t>
            </a:r>
          </a:p>
        </p:txBody>
      </p:sp>
      <p:sp>
        <p:nvSpPr>
          <p:cNvPr id="40" name="anchor-248">
            <a:extLst xmlns:a="http://schemas.openxmlformats.org/drawingml/2006/main">
              <a:ext uri="{FF2B5EF4-FFF2-40B4-BE49-F238E27FC236}">
                <a16:creationId xmlns:a16="http://schemas.microsoft.com/office/drawing/2014/main" id="{12B649BA-99A3-47CE-8BC9-2A97C5EAC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0102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anchor-249">
            <a:extLst xmlns:a="http://schemas.openxmlformats.org/drawingml/2006/main">
              <a:ext uri="{FF2B5EF4-FFF2-40B4-BE49-F238E27FC236}">
                <a16:creationId xmlns:a16="http://schemas.microsoft.com/office/drawing/2014/main" id="{5DB3AB2F-05CD-4B44-81A5-F42D068E8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0025" y="60102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3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561975" y="6019800"/>
            <a:ext cx="110680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BB7CC"/>
            </a:solidFill>
            <a:prstDash val="solid"/>
            <a:tailEnd type="none" w="med" len="med"/>
          </a:ln>
        </p:spPr>
      </p:cxnSp>
      <p:sp>
        <p:nvSpPr>
          <p:cNvPr id="43" name="text-250">
            <a:extLst xmlns:a="http://schemas.openxmlformats.org/drawingml/2006/main">
              <a:ext uri="{FF2B5EF4-FFF2-40B4-BE49-F238E27FC236}">
                <a16:creationId xmlns:a16="http://schemas.microsoft.com/office/drawing/2014/main" id="{61E0CE4E-CC15-45A5-9C87-7BB9FE02D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150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先在共同执行语义下获得模拟反馈，再决定何时进入实机执行。</a:t>
            </a:r>
          </a:p>
        </p:txBody>
      </p:sp>
    </p:spTree>
    <p:extLst>
      <p:ext uri="{BB962C8B-B14F-4D97-AF65-F5344CB8AC3E}">
        <p14:creationId xmlns:p14="http://schemas.microsoft.com/office/powerpoint/2010/main" val="102882206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AFC6F03-03A4-49D8-8EB4-4CA1D7224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C2C8577-8ED3-4077-B2BB-07103EFEA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10  总结：明确的建模语言与执行语义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E4616B2-5401-4B5C-9052-F6431BD2E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8344C7A-A4AF-4C74-B7FE-8CD38F6F9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10/10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text-251">
            <a:extLst xmlns:a="http://schemas.openxmlformats.org/drawingml/2006/main">
              <a:ext uri="{FF2B5EF4-FFF2-40B4-BE49-F238E27FC236}">
                <a16:creationId xmlns:a16="http://schemas.microsoft.com/office/drawing/2014/main" id="{B87F58E1-BE91-46E9-8192-07944C5BF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476375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模型描述实验室与任务，框架按照统一语义组织执行。</a:t>
            </a:r>
          </a:p>
        </p:txBody>
      </p:sp>
      <p:sp>
        <p:nvSpPr>
          <p:cNvPr id="9" name="text-252">
            <a:extLst xmlns:a="http://schemas.openxmlformats.org/drawingml/2006/main">
              <a:ext uri="{FF2B5EF4-FFF2-40B4-BE49-F238E27FC236}">
                <a16:creationId xmlns:a16="http://schemas.microsoft.com/office/drawing/2014/main" id="{7FFAE7E3-1C50-4EEE-8FDE-96141D7F6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05100"/>
            <a:ext cx="1809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5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结构统一</a:t>
            </a:r>
          </a:p>
        </p:txBody>
      </p:sp>
      <p:sp>
        <p:nvSpPr>
          <p:cNvPr id="10" name="text-253">
            <a:extLst xmlns:a="http://schemas.openxmlformats.org/drawingml/2006/main">
              <a:ext uri="{FF2B5EF4-FFF2-40B4-BE49-F238E27FC236}">
                <a16:creationId xmlns:a16="http://schemas.microsoft.com/office/drawing/2014/main" id="{CAB22C3D-FA3C-462B-94EF-4C501296E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2705100"/>
            <a:ext cx="86963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资源、工作流和约束进入同一模型体系。</a:t>
            </a:r>
          </a:p>
        </p:txBody>
      </p:sp>
      <p:sp>
        <p:nvSpPr>
          <p:cNvPr id="11" name="anchor-254">
            <a:extLst xmlns:a="http://schemas.openxmlformats.org/drawingml/2006/main">
              <a:ext uri="{FF2B5EF4-FFF2-40B4-BE49-F238E27FC236}">
                <a16:creationId xmlns:a16="http://schemas.microsoft.com/office/drawing/2014/main" id="{26CE6DFC-F4FD-48CE-B1ED-7CC2747FC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004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" name="anchor-255">
            <a:extLst xmlns:a="http://schemas.openxmlformats.org/drawingml/2006/main">
              <a:ext uri="{FF2B5EF4-FFF2-40B4-BE49-F238E27FC236}">
                <a16:creationId xmlns:a16="http://schemas.microsoft.com/office/drawing/2014/main" id="{1253ED8F-984D-41E4-902E-473F8B7D6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32004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762250" y="3209925"/>
            <a:ext cx="87058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BB7CC"/>
            </a:solidFill>
            <a:prstDash val="solid"/>
            <a:tailEnd type="none" w="med" len="med"/>
          </a:ln>
        </p:spPr>
      </p:cxnSp>
      <p:sp>
        <p:nvSpPr>
          <p:cNvPr id="14" name="text-256">
            <a:extLst xmlns:a="http://schemas.openxmlformats.org/drawingml/2006/main">
              <a:ext uri="{FF2B5EF4-FFF2-40B4-BE49-F238E27FC236}">
                <a16:creationId xmlns:a16="http://schemas.microsoft.com/office/drawing/2014/main" id="{E4BDF34B-C8E2-4949-A1D7-8150E4A11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81375"/>
            <a:ext cx="1809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5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机制完整</a:t>
            </a:r>
          </a:p>
        </p:txBody>
      </p:sp>
      <p:sp>
        <p:nvSpPr>
          <p:cNvPr id="15" name="text-257">
            <a:extLst xmlns:a="http://schemas.openxmlformats.org/drawingml/2006/main">
              <a:ext uri="{FF2B5EF4-FFF2-40B4-BE49-F238E27FC236}">
                <a16:creationId xmlns:a16="http://schemas.microsoft.com/office/drawing/2014/main" id="{C70597B0-3CF6-4164-9DB9-75B10BFF8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3381375"/>
            <a:ext cx="86963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节点、接口、触发器和状态机共同解释行为。</a:t>
            </a:r>
          </a:p>
        </p:txBody>
      </p:sp>
      <p:sp>
        <p:nvSpPr>
          <p:cNvPr id="16" name="anchor-258">
            <a:extLst xmlns:a="http://schemas.openxmlformats.org/drawingml/2006/main">
              <a:ext uri="{FF2B5EF4-FFF2-40B4-BE49-F238E27FC236}">
                <a16:creationId xmlns:a16="http://schemas.microsoft.com/office/drawing/2014/main" id="{B5100D2F-1832-40AC-8781-E70AFE0BF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8766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anchor-259">
            <a:extLst xmlns:a="http://schemas.openxmlformats.org/drawingml/2006/main">
              <a:ext uri="{FF2B5EF4-FFF2-40B4-BE49-F238E27FC236}">
                <a16:creationId xmlns:a16="http://schemas.microsoft.com/office/drawing/2014/main" id="{4DFE648C-8A8A-452C-A6EF-A1A311642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38766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1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2762250" y="3886200"/>
            <a:ext cx="87058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BB7CC"/>
            </a:solidFill>
            <a:prstDash val="solid"/>
            <a:tailEnd type="none" w="med" len="med"/>
          </a:ln>
        </p:spPr>
      </p:cxnSp>
      <p:sp>
        <p:nvSpPr>
          <p:cNvPr id="19" name="text-260">
            <a:extLst xmlns:a="http://schemas.openxmlformats.org/drawingml/2006/main">
              <a:ext uri="{FF2B5EF4-FFF2-40B4-BE49-F238E27FC236}">
                <a16:creationId xmlns:a16="http://schemas.microsoft.com/office/drawing/2014/main" id="{4FC3D9FF-3F41-4212-8941-00CA57AD9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1809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5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执行一致</a:t>
            </a:r>
          </a:p>
        </p:txBody>
      </p:sp>
      <p:sp>
        <p:nvSpPr>
          <p:cNvPr id="20" name="text-261">
            <a:extLst xmlns:a="http://schemas.openxmlformats.org/drawingml/2006/main">
              <a:ext uri="{FF2B5EF4-FFF2-40B4-BE49-F238E27FC236}">
                <a16:creationId xmlns:a16="http://schemas.microsoft.com/office/drawing/2014/main" id="{D3D0B851-8F19-4715-B972-D2FEEA643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4057650"/>
            <a:ext cx="86963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人、流程和大模型共用同一条设备执行链路。</a:t>
            </a:r>
          </a:p>
        </p:txBody>
      </p:sp>
      <p:sp>
        <p:nvSpPr>
          <p:cNvPr id="21" name="anchor-262">
            <a:extLst xmlns:a="http://schemas.openxmlformats.org/drawingml/2006/main">
              <a:ext uri="{FF2B5EF4-FFF2-40B4-BE49-F238E27FC236}">
                <a16:creationId xmlns:a16="http://schemas.microsoft.com/office/drawing/2014/main" id="{5C336B31-DB8A-4E60-BE16-CA80B0445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5529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" name="anchor-263">
            <a:extLst xmlns:a="http://schemas.openxmlformats.org/drawingml/2006/main">
              <a:ext uri="{FF2B5EF4-FFF2-40B4-BE49-F238E27FC236}">
                <a16:creationId xmlns:a16="http://schemas.microsoft.com/office/drawing/2014/main" id="{0F96FA69-EFA4-4C7D-8938-F776D590F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45529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6" name=""/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2762250" y="4562475"/>
            <a:ext cx="87058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BB7CC"/>
            </a:solidFill>
            <a:prstDash val="solid"/>
            <a:tailEnd type="none" w="med" len="med"/>
          </a:ln>
        </p:spPr>
      </p:cxnSp>
      <p:sp>
        <p:nvSpPr>
          <p:cNvPr id="24" name="text-264">
            <a:extLst xmlns:a="http://schemas.openxmlformats.org/drawingml/2006/main">
              <a:ext uri="{FF2B5EF4-FFF2-40B4-BE49-F238E27FC236}">
                <a16:creationId xmlns:a16="http://schemas.microsoft.com/office/drawing/2014/main" id="{1472F948-EEED-4320-A6F7-296235F41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33925"/>
            <a:ext cx="1809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5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模型驱动</a:t>
            </a:r>
          </a:p>
        </p:txBody>
      </p:sp>
      <p:sp>
        <p:nvSpPr>
          <p:cNvPr id="25" name="text-265">
            <a:extLst xmlns:a="http://schemas.openxmlformats.org/drawingml/2006/main">
              <a:ext uri="{FF2B5EF4-FFF2-40B4-BE49-F238E27FC236}">
                <a16:creationId xmlns:a16="http://schemas.microsoft.com/office/drawing/2014/main" id="{171529CF-F295-45CA-AE08-BC8E89EAC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4733925"/>
            <a:ext cx="86963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更换实验室或任务时，主要通过模型表达差异。</a:t>
            </a:r>
          </a:p>
        </p:txBody>
      </p:sp>
      <p:sp>
        <p:nvSpPr>
          <p:cNvPr id="26" name="text-266">
            <a:extLst xmlns:a="http://schemas.openxmlformats.org/drawingml/2006/main">
              <a:ext uri="{FF2B5EF4-FFF2-40B4-BE49-F238E27FC236}">
                <a16:creationId xmlns:a16="http://schemas.microsoft.com/office/drawing/2014/main" id="{7C73F236-AF2B-430C-9792-5540F5E53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谢谢各位，欢迎交流。</a:t>
            </a:r>
          </a:p>
        </p:txBody>
      </p:sp>
    </p:spTree>
    <p:extLst>
      <p:ext uri="{BB962C8B-B14F-4D97-AF65-F5344CB8AC3E}">
        <p14:creationId xmlns:p14="http://schemas.microsoft.com/office/powerpoint/2010/main" val="68847301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2026-09-08T15:37:47.0380000Z</dcterms:created>
  <dcterms:modified xsi:type="dcterms:W3CDTF">2026-09-08T15:37:47.0380000Z</dcterms:modified>
</coreProperties>
</file>