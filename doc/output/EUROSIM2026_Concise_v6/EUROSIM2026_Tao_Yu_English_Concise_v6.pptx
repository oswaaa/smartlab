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9fc170ae034d52" /><Relationship Type="http://schemas.openxmlformats.org/officeDocument/2006/relationships/extended-properties" Target="/docProps/app.xml" Id="R3742ae899ed646b0" /><Relationship Type="http://schemas.openxmlformats.org/officeDocument/2006/relationships/officeDocument" Target="/ppt/presentation.xml" Id="R5abaa6ef98e7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c1f1f0b06495a"/>
  </p:sldMasterIdLst>
  <p:notesMasterIdLst>
    <p:notesMasterId xmlns:r="http://schemas.openxmlformats.org/officeDocument/2006/relationships" r:id="Rcacaf19d973d4a31"/>
  </p:notesMasterIdLst>
  <p:sldIdLst>
    <p:sldId xmlns:r="http://schemas.openxmlformats.org/officeDocument/2006/relationships" id="256" r:id="R05189c2050a146c6"/>
    <p:sldId xmlns:r="http://schemas.openxmlformats.org/officeDocument/2006/relationships" id="257" r:id="R85d4853f17ce42e4"/>
    <p:sldId xmlns:r="http://schemas.openxmlformats.org/officeDocument/2006/relationships" id="258" r:id="Rfbd7e32ea7f14c83"/>
    <p:sldId xmlns:r="http://schemas.openxmlformats.org/officeDocument/2006/relationships" id="259" r:id="Rdef529ce4e674b03"/>
    <p:sldId xmlns:r="http://schemas.openxmlformats.org/officeDocument/2006/relationships" id="260" r:id="R7aa69db83f984416"/>
    <p:sldId xmlns:r="http://schemas.openxmlformats.org/officeDocument/2006/relationships" id="261" r:id="R60a23b93ede24197"/>
    <p:sldId xmlns:r="http://schemas.openxmlformats.org/officeDocument/2006/relationships" id="262" r:id="R807ae3b601da4137"/>
    <p:sldId xmlns:r="http://schemas.openxmlformats.org/officeDocument/2006/relationships" id="263" r:id="R0b0a87ec40c348d0"/>
    <p:sldId xmlns:r="http://schemas.openxmlformats.org/officeDocument/2006/relationships" id="264" r:id="Rf01c6e21e68a4cbe"/>
    <p:sldId xmlns:r="http://schemas.openxmlformats.org/officeDocument/2006/relationships" id="265" r:id="R5d49ec3134524862"/>
    <p:sldId xmlns:r="http://schemas.openxmlformats.org/officeDocument/2006/relationships" id="266" r:id="R49106e1a2a3d4dd9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467f42df242da" /><Relationship Type="http://schemas.openxmlformats.org/officeDocument/2006/relationships/slideMaster" Target="/ppt/slideMasters/slideMaster1.xml" Id="Rfafc1f1f0b06495a" /><Relationship Type="http://schemas.openxmlformats.org/officeDocument/2006/relationships/notesMaster" Target="/ppt/notesMasters/notesMaster1.xml" Id="Rcacaf19d973d4a31" /><Relationship Type="http://schemas.openxmlformats.org/officeDocument/2006/relationships/presProps" Target="/ppt/presProps.xml" Id="Reefbd1b771eb452c" /><Relationship Type="http://schemas.openxmlformats.org/officeDocument/2006/relationships/viewProps" Target="/ppt/viewProps.xml" Id="R5a541c17edf5446f" /><Relationship Type="http://schemas.openxmlformats.org/officeDocument/2006/relationships/tableStyles" Target="/ppt/tableStyles.xml" Id="R63fe934815f44614" /><Relationship Type="http://schemas.openxmlformats.org/officeDocument/2006/relationships/slide" Target="/ppt/slides/slide1.xml" Id="R05189c2050a146c6" /><Relationship Type="http://schemas.openxmlformats.org/officeDocument/2006/relationships/slide" Target="/ppt/slides/slide2.xml" Id="R85d4853f17ce42e4" /><Relationship Type="http://schemas.openxmlformats.org/officeDocument/2006/relationships/slide" Target="/ppt/slides/slide3.xml" Id="Rfbd7e32ea7f14c83" /><Relationship Type="http://schemas.openxmlformats.org/officeDocument/2006/relationships/slide" Target="/ppt/slides/slide4.xml" Id="Rdef529ce4e674b03" /><Relationship Type="http://schemas.openxmlformats.org/officeDocument/2006/relationships/slide" Target="/ppt/slides/slide5.xml" Id="R7aa69db83f984416" /><Relationship Type="http://schemas.openxmlformats.org/officeDocument/2006/relationships/slide" Target="/ppt/slides/slide6.xml" Id="R60a23b93ede24197" /><Relationship Type="http://schemas.openxmlformats.org/officeDocument/2006/relationships/slide" Target="/ppt/slides/slide7.xml" Id="R807ae3b601da4137" /><Relationship Type="http://schemas.openxmlformats.org/officeDocument/2006/relationships/slide" Target="/ppt/slides/slide8.xml" Id="R0b0a87ec40c348d0" /><Relationship Type="http://schemas.openxmlformats.org/officeDocument/2006/relationships/slide" Target="/ppt/slides/slide9.xml" Id="Rf01c6e21e68a4cbe" /><Relationship Type="http://schemas.openxmlformats.org/officeDocument/2006/relationships/slide" Target="/ppt/slides/slide10.xml" Id="R5d49ec3134524862" /><Relationship Type="http://schemas.openxmlformats.org/officeDocument/2006/relationships/slide" Target="/ppt/slides/slide11.xml" Id="R49106e1a2a3d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ef18797b5e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4750d9a6f4ca0" /><Relationship Type="http://schemas.openxmlformats.org/officeDocument/2006/relationships/notesMaster" Target="/ppt/notesMasters/notesMaster1.xml" Id="Rd8d7a018ad26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d33614bb14dbb" /><Relationship Type="http://schemas.openxmlformats.org/officeDocument/2006/relationships/notesMaster" Target="/ppt/notesMasters/notesMaster1.xml" Id="Rbfbd0650a446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54b80d1f84f0f" /><Relationship Type="http://schemas.openxmlformats.org/officeDocument/2006/relationships/notesMaster" Target="/ppt/notesMasters/notesMaster1.xml" Id="Rc48dd0a0f49b41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b0fd543744078" /><Relationship Type="http://schemas.openxmlformats.org/officeDocument/2006/relationships/notesMaster" Target="/ppt/notesMasters/notesMaster1.xml" Id="R947879f617f44f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9e626e77246d4" /><Relationship Type="http://schemas.openxmlformats.org/officeDocument/2006/relationships/notesMaster" Target="/ppt/notesMasters/notesMaster1.xml" Id="R3730bd3cdca9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ce111fcb34b9e" /><Relationship Type="http://schemas.openxmlformats.org/officeDocument/2006/relationships/notesMaster" Target="/ppt/notesMasters/notesMaster1.xml" Id="R88ad317d80f74d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515df2a0d417a" /><Relationship Type="http://schemas.openxmlformats.org/officeDocument/2006/relationships/notesMaster" Target="/ppt/notesMasters/notesMaster1.xml" Id="R3dac3507b777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ce5d51f355484b" /><Relationship Type="http://schemas.openxmlformats.org/officeDocument/2006/relationships/notesMaster" Target="/ppt/notesMasters/notesMaster1.xml" Id="R0b6e45da2c164c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e3da2227349ad" /><Relationship Type="http://schemas.openxmlformats.org/officeDocument/2006/relationships/notesMaster" Target="/ppt/notesMasters/notesMaster1.xml" Id="R0dc277d44b3148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c021d80f8947ce" /><Relationship Type="http://schemas.openxmlformats.org/officeDocument/2006/relationships/notesMaster" Target="/ppt/notesMasters/notesMaster1.xml" Id="R86438aebe29a40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31e94c88a4283" /><Relationship Type="http://schemas.openxmlformats.org/officeDocument/2006/relationships/notesMaster" Target="/ppt/notesMasters/notesMaster1.xml" Id="R4640fb23099d4b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Hello, everyone.</a:t>
            </a:r>
          </a:p>
          <a:p>
            <a:r>
              <a:rPr lang="en-US"/>
              <a:t></a:t>
            </a:r>
          </a:p>
          <a:p>
            <a:r>
              <a:rPr lang="en-US"/>
              <a:t>My name is Tao Yu, and today I will present our work, “A Task-Oriented Executable Modeling Framework for Smart Chemical Laboratories.”</a:t>
            </a:r>
          </a:p>
          <a:p>
            <a:r>
              <a:rPr lang="en-US"/>
              <a:t></a:t>
            </a:r>
          </a:p>
          <a:p>
            <a:r>
              <a:rPr lang="en-US"/>
              <a:t>This work examines how a laboratory task moves from a proposed intent to actual execution.</a:t>
            </a:r>
          </a:p>
          <a:p>
            <a:r>
              <a:rPr lang="en-US"/>
              <a:t></a:t>
            </a:r>
          </a:p>
          <a:p>
            <a:r>
              <a:rPr lang="en-US"/>
              <a:t>We represent devices, task logic, and operating rules as models and execute them according to explicitly defined semantics.</a:t>
            </a:r>
          </a:p>
          <a:p>
            <a:r>
              <a:rPr lang="en-US"/>
              <a:t></a:t>
            </a:r>
          </a:p>
          <a:p>
            <a:r>
              <a:rPr lang="en-US"/>
              <a:t>As LLMs become involved in laboratory decision-making and control, we also need to define how their requests enter device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presentation has six parts, starting with the background and the execution-boundary problem.</a:t>
            </a:r>
          </a:p>
          <a:p>
            <a:r>
              <a:rPr lang="en-US"/>
              <a:t></a:t>
            </a:r>
          </a:p>
          <a:p>
            <a:r>
              <a:rPr lang="en-US"/>
              <a:t>I will then introduce the overall modeling framework and explain the resource, workflow, and constraint layers.</a:t>
            </a:r>
          </a:p>
          <a:p>
            <a:r>
              <a:rPr lang="en-US"/>
              <a:t></a:t>
            </a:r>
          </a:p>
          <a:p>
            <a:r>
              <a:rPr lang="en-US"/>
              <a:t>Next, I will show how these models work together along a shared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A reactor-heating task in SmartLab 2.0 illustrates the implementation and a complete execution sequence.</a:t>
            </a:r>
          </a:p>
          <a:p>
            <a:r>
              <a:rPr lang="en-US"/>
              <a:t></a:t>
            </a:r>
          </a:p>
          <a:p>
            <a:r>
              <a:rPr lang="en-US"/>
              <a:t>Finally, I will discuss the simulation feedback loop and summarize the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As large language models, or LLMs, advance, smart chemical laboratories are gradually moving from automated workflow execution toward LLM involvement in decision-making and control.</a:t>
            </a:r>
          </a:p>
          <a:p>
            <a:r>
              <a:rPr lang="en-US"/>
              <a:t></a:t>
            </a:r>
          </a:p>
          <a:p>
            <a:r>
              <a:rPr lang="en-US"/>
              <a:t>Regardless of whether an execution intent comes from a person, a workflow, or an LLM, every task execution must make four aspects explicit.</a:t>
            </a:r>
          </a:p>
          <a:p>
            <a:r>
              <a:rPr lang="en-US"/>
              <a:t></a:t>
            </a:r>
          </a:p>
          <a:p>
            <a:r>
              <a:rPr lang="en-US"/>
              <a:t>We need to explain how resources are organized and accessed, how device state evolves, how data is generated and transferred, and whether execution stays within the allowed limits.</a:t>
            </a:r>
          </a:p>
          <a:p>
            <a:r>
              <a:rPr lang="en-US"/>
              <a:t></a:t>
            </a:r>
          </a:p>
          <a:p>
            <a:r>
              <a:rPr lang="en-US"/>
              <a:t>These questions arise from task execution itself, even without an LLM.</a:t>
            </a:r>
          </a:p>
          <a:p>
            <a:r>
              <a:rPr lang="en-US"/>
              <a:t></a:t>
            </a:r>
          </a:p>
          <a:p>
            <a:r>
              <a:rPr lang="en-US"/>
              <a:t>LLM involvement makes execution boundaries a more pressing issue.</a:t>
            </a:r>
          </a:p>
          <a:p>
            <a:r>
              <a:rPr lang="en-US"/>
              <a:t></a:t>
            </a:r>
          </a:p>
          <a:p>
            <a:r>
              <a:rPr lang="en-US"/>
              <a:t>What control requests may an LLM make, and under what conditions can those requests be executed?</a:t>
            </a:r>
          </a:p>
          <a:p>
            <a:r>
              <a:rPr lang="en-US"/>
              <a:t></a:t>
            </a:r>
          </a:p>
          <a:p>
            <a:r>
              <a:rPr lang="en-US"/>
              <a:t>Our principle is that LLMs must not have a privileged bypass or a separate route directly to a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All control requests must use the same execution mechanism.</a:t>
            </a:r>
          </a:p>
          <a:p>
            <a:r>
              <a:rPr lang="en-US"/>
              <a:t></a:t>
            </a:r>
          </a:p>
          <a:p>
            <a:r>
              <a:rPr lang="en-US"/>
              <a:t>We therefore need an executable framework that models resource organization, state evolution, data transfer, and boundary checks together.</a:t>
            </a:r>
          </a:p>
          <a:p>
            <a:r>
              <a:rPr lang="en-US"/>
              <a:t></a:t>
            </a:r>
          </a:p>
          <a:p>
            <a:r>
              <a:rPr lang="en-US"/>
              <a:t>The next question is how to organize these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We start with a laboratory task and identify what needs to be modeled.</a:t>
            </a:r>
          </a:p>
          <a:p>
            <a:r>
              <a:rPr lang="en-US"/>
              <a:t></a:t>
            </a:r>
          </a:p>
          <a:p>
            <a:r>
              <a:rPr lang="en-US"/>
              <a:t>A task uses devices, so we need to describe their capabilities, attributes, and current states.</a:t>
            </a:r>
          </a:p>
          <a:p>
            <a:r>
              <a:rPr lang="en-US"/>
              <a:t></a:t>
            </a:r>
          </a:p>
          <a:p>
            <a:r>
              <a:rPr lang="en-US"/>
              <a:t>These execution objects are represented by resource models.</a:t>
            </a:r>
          </a:p>
          <a:p>
            <a:r>
              <a:rPr lang="en-US"/>
              <a:t></a:t>
            </a:r>
          </a:p>
          <a:p>
            <a:r>
              <a:rPr lang="en-US"/>
              <a:t>A task also contains steps with an order, data dependencies, and conditions for progression.</a:t>
            </a:r>
          </a:p>
          <a:p>
            <a:r>
              <a:rPr lang="en-US"/>
              <a:t></a:t>
            </a:r>
          </a:p>
          <a:p>
            <a:r>
              <a:rPr lang="en-US"/>
              <a:t>These task processes are represented by workflows.</a:t>
            </a:r>
          </a:p>
          <a:p>
            <a:r>
              <a:rPr lang="en-US"/>
              <a:t></a:t>
            </a:r>
          </a:p>
          <a:p>
            <a:r>
              <a:rPr lang="en-US"/>
              <a:t>Execution must follow operating rules that evaluate boundaries using device state and task context.</a:t>
            </a:r>
          </a:p>
          <a:p>
            <a:r>
              <a:rPr lang="en-US"/>
              <a:t></a:t>
            </a:r>
          </a:p>
          <a:p>
            <a:r>
              <a:rPr lang="en-US"/>
              <a:t>These requirements are represented by constraint models.</a:t>
            </a:r>
          </a:p>
          <a:p>
            <a:r>
              <a:rPr lang="en-US"/>
              <a:t></a:t>
            </a:r>
          </a:p>
          <a:p>
            <a:r>
              <a:rPr lang="en-US"/>
              <a:t>We therefore organize the framework by modeling responsibility into resources, workflows, and constraints.</a:t>
            </a:r>
          </a:p>
          <a:p>
            <a:r>
              <a:rPr lang="en-US"/>
              <a:t></a:t>
            </a:r>
          </a:p>
          <a:p>
            <a:r>
              <a:rPr lang="en-US"/>
              <a:t>The four execution questions do not correspond mechanically to four separate layers.</a:t>
            </a:r>
          </a:p>
          <a:p>
            <a:r>
              <a:rPr lang="en-US"/>
              <a:t></a:t>
            </a:r>
          </a:p>
          <a:p>
            <a:r>
              <a:rPr lang="en-US"/>
              <a:t>The resource layer represents device capabilities and state, the workflow layer organizes steps and data relationships, and the constraint layer defines execution boundaries.</a:t>
            </a:r>
          </a:p>
          <a:p>
            <a:r>
              <a:rPr lang="en-US"/>
              <a:t></a:t>
            </a:r>
          </a:p>
          <a:p>
            <a:r>
              <a:rPr lang="en-US"/>
              <a:t>State and data span the layers, while the cross-layer protocol, Pi, provides shared definitions for control signals, data types, port connections, and execution feedback.</a:t>
            </a:r>
          </a:p>
          <a:p>
            <a:r>
              <a:rPr lang="en-US"/>
              <a:t></a:t>
            </a:r>
          </a:p>
          <a:p>
            <a:r>
              <a:rPr lang="en-US"/>
              <a:t>In the diagram, the workflow is on the left, device resources are on the right, and constraints are at the bottom.</a:t>
            </a:r>
          </a:p>
          <a:p>
            <a:r>
              <a:rPr lang="en-US"/>
              <a:t></a:t>
            </a:r>
          </a:p>
          <a:p>
            <a:r>
              <a:rPr lang="en-US"/>
              <a:t>A workflow node binds to a resource capability, sends requests during execution, and receives state and data feedback.</a:t>
            </a:r>
          </a:p>
          <a:p>
            <a:r>
              <a:rPr lang="en-US"/>
              <a:t></a:t>
            </a:r>
          </a:p>
          <a:p>
            <a:r>
              <a:rPr lang="en-US"/>
              <a:t>Capability binding is a relationship established in the model, while a control request is a runtime interaction.</a:t>
            </a:r>
          </a:p>
          <a:p>
            <a:r>
              <a:rPr lang="en-US"/>
              <a:t></a:t>
            </a:r>
          </a:p>
          <a:p>
            <a:r>
              <a:rPr lang="en-US"/>
              <a:t>Constraints observe both node context and device state and return response actions through model interfaces.</a:t>
            </a:r>
          </a:p>
          <a:p>
            <a:r>
              <a:rPr lang="en-US"/>
              <a:t></a:t>
            </a:r>
          </a:p>
          <a:p>
            <a:r>
              <a:rPr lang="en-US"/>
              <a:t>The framework defines both the objects used to represent a laboratory and the interactions between them.</a:t>
            </a:r>
          </a:p>
          <a:p>
            <a:r>
              <a:rPr lang="en-US"/>
              <a:t></a:t>
            </a:r>
          </a:p>
          <a:p>
            <a:r>
              <a:rPr lang="en-US"/>
              <a:t>Specific devices and task logic are expressed in models that run under the common execution semantics.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resource layer represents each device as a device object model containing a capability model and a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stacked outlines indicate that the layer can contain multiple device objects.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describes what the device can do.</a:t>
            </a:r>
          </a:p>
          <a:p>
            <a:r>
              <a:rPr lang="en-US"/>
              <a:t></a:t>
            </a:r>
          </a:p>
          <a:p>
            <a:r>
              <a:rPr lang="en-US"/>
              <a:t>It defines device attributes, available capabilities, operation parameters, interfaces, the Adapter mapping contract, and intrinsic constraints.</a:t>
            </a:r>
          </a:p>
          <a:p>
            <a:r>
              <a:rPr lang="en-US"/>
              <a:t></a:t>
            </a:r>
          </a:p>
          <a:p>
            <a:r>
              <a:rPr lang="en-US"/>
              <a:t>For example, a reactor provides a heating capability, temperature is an attribute, and a heating request specifies a target temperature.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supplies operation definitions and the mapping contract to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uses this contract to generate a command in the format agreed with the Adapter.</a:t>
            </a:r>
          </a:p>
          <a:p>
            <a:r>
              <a:rPr lang="en-US"/>
              <a:t></a:t>
            </a:r>
          </a:p>
          <a:p>
            <a:r>
              <a:rPr lang="en-US"/>
              <a:t>The Adapter maps the received command to instructions in the physical device's protocol.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describes how a request is executed.</a:t>
            </a:r>
          </a:p>
          <a:p>
            <a:r>
              <a:rPr lang="en-US"/>
              <a:t></a:t>
            </a:r>
          </a:p>
          <a:p>
            <a:r>
              <a:rPr lang="en-US"/>
              <a:t>It checks the request against capability requirements and the current state, applies the relevant state transitions and actions, and sends commands through its output interface.</a:t>
            </a:r>
          </a:p>
          <a:p>
            <a:r>
              <a:rPr lang="en-US"/>
              <a:t></a:t>
            </a:r>
          </a:p>
          <a:p>
            <a:r>
              <a:rPr lang="en-US"/>
              <a:t>Device events and measurements return through the interfaces and update the model's state and attributes.</a:t>
            </a:r>
          </a:p>
          <a:p>
            <a:r>
              <a:rPr lang="en-US"/>
              <a:t></a:t>
            </a:r>
          </a:p>
          <a:p>
            <a:r>
              <a:rPr lang="en-US"/>
              <a:t>Intrinsic constraints are handled locally through the device capability definitions and state rules.</a:t>
            </a:r>
          </a:p>
          <a:p>
            <a:r>
              <a:rPr lang="en-US"/>
              <a:t></a:t>
            </a:r>
          </a:p>
          <a:p>
            <a:r>
              <a:rPr lang="en-US"/>
              <a:t>The device model therefore describes both device capabilities and the control process.</a:t>
            </a:r>
          </a:p>
          <a:p>
            <a:r>
              <a:rPr lang="en-US"/>
              <a:t></a:t>
            </a:r>
          </a:p>
          <a:p>
            <a:r>
              <a:rPr lang="en-US"/>
              <a:t>Requests from people, workflows, and LLMs all enter through this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A workflow organizes the steps and data dependencies of the entire task.</a:t>
            </a:r>
          </a:p>
          <a:p>
            <a:r>
              <a:rPr lang="en-US"/>
              <a:t></a:t>
            </a:r>
          </a:p>
          <a:p>
            <a:r>
              <a:rPr lang="en-US"/>
              <a:t>At the top of the diagram, the preceding node, the current node, and the subsequent node are connected through interfaces that govern progression.</a:t>
            </a:r>
          </a:p>
          <a:p>
            <a:r>
              <a:rPr lang="en-US"/>
              <a:t></a:t>
            </a:r>
          </a:p>
          <a:p>
            <a:r>
              <a:rPr lang="en-US"/>
              <a:t>The expanded node can bind to a device capability and send operation requests to the device model.</a:t>
            </a:r>
          </a:p>
          <a:p>
            <a:r>
              <a:rPr lang="en-US"/>
              <a:t></a:t>
            </a:r>
          </a:p>
          <a:p>
            <a:r>
              <a:rPr lang="en-US"/>
              <a:t>The components inside the node work together as one unit.</a:t>
            </a:r>
          </a:p>
          <a:p>
            <a:r>
              <a:rPr lang="en-US"/>
              <a:t></a:t>
            </a:r>
          </a:p>
          <a:p>
            <a:r>
              <a:rPr lang="en-US"/>
              <a:t>The variable space stores task variables and links the required device data through attribute mappings.</a:t>
            </a:r>
          </a:p>
          <a:p>
            <a:r>
              <a:rPr lang="en-US"/>
              <a:t></a:t>
            </a:r>
          </a:p>
          <a:p>
            <a:r>
              <a:rPr lang="en-US"/>
              <a:t>The node lifecycle describes its execution stage and result.</a:t>
            </a:r>
          </a:p>
          <a:p>
            <a:r>
              <a:rPr lang="en-US"/>
              <a:t></a:t>
            </a:r>
          </a:p>
          <a:p>
            <a:r>
              <a:rPr lang="en-US"/>
              <a:t>Control interfaces carry activation, execution, and termination signals, while data ports define input and output data relationships.</a:t>
            </a:r>
          </a:p>
          <a:p>
            <a:r>
              <a:rPr lang="en-US"/>
              <a:t></a:t>
            </a:r>
          </a:p>
          <a:p>
            <a:r>
              <a:rPr lang="en-US"/>
              <a:t>Triggers read variables, interface signals, and lifecycle state.</a:t>
            </a:r>
          </a:p>
          <a:p>
            <a:r>
              <a:rPr lang="en-US"/>
              <a:t></a:t>
            </a:r>
          </a:p>
          <a:p>
            <a:r>
              <a:rPr lang="en-US"/>
              <a:t>When their conditions hold, they update variables or state and send the appropriate signals.</a:t>
            </a:r>
          </a:p>
          <a:p>
            <a:r>
              <a:rPr lang="en-US"/>
              <a:t></a:t>
            </a:r>
          </a:p>
          <a:p>
            <a:r>
              <a:rPr lang="en-US"/>
              <a:t>For example, a heating node receives an activation signal and issues a heating request when its preconditions are satisfied.</a:t>
            </a:r>
          </a:p>
          <a:p>
            <a:r>
              <a:rPr lang="en-US"/>
              <a:t></a:t>
            </a:r>
          </a:p>
          <a:p>
            <a:r>
              <a:rPr lang="en-US"/>
              <a:t>Temperature feedback updates the variable space, and triggers evaluate the completion conditions.</a:t>
            </a:r>
          </a:p>
          <a:p>
            <a:r>
              <a:rPr lang="en-US"/>
              <a:t></a:t>
            </a:r>
          </a:p>
          <a:p>
            <a:r>
              <a:rPr lang="en-US"/>
              <a:t>The node completes and activates the next step only when those conditions hold and continued execution is allowed.</a:t>
            </a:r>
          </a:p>
          <a:p>
            <a:r>
              <a:rPr lang="en-US"/>
              <a:t></a:t>
            </a:r>
          </a:p>
          <a:p>
            <a:r>
              <a:rPr lang="en-US"/>
              <a:t>Receiving feedback does not by itself mean that the node has completed.</a:t>
            </a:r>
          </a:p>
          <a:p>
            <a:r>
              <a:rPr lang="en-US"/>
              <a:t></a:t>
            </a:r>
          </a:p>
          <a:p>
            <a:r>
              <a:rPr lang="en-US"/>
              <a:t>These model components make task logic explicit, and the execution mechanism runs according to their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constraint layer determines whether execution stays within the allowed limits.</a:t>
            </a:r>
          </a:p>
          <a:p>
            <a:r>
              <a:rPr lang="en-US"/>
              <a:t></a:t>
            </a:r>
          </a:p>
          <a:p>
            <a:r>
              <a:rPr lang="en-US"/>
              <a:t>The workflow provides node lifecycle information, task variables, and execution context.</a:t>
            </a:r>
          </a:p>
          <a:p>
            <a:r>
              <a:rPr lang="en-US"/>
              <a:t></a:t>
            </a:r>
          </a:p>
          <a:p>
            <a:r>
              <a:rPr lang="en-US"/>
              <a:t>The resource layer provides device state, attributes, and measurements.</a:t>
            </a:r>
          </a:p>
          <a:p>
            <a:r>
              <a:rPr lang="en-US"/>
              <a:t></a:t>
            </a:r>
          </a:p>
          <a:p>
            <a:r>
              <a:rPr lang="en-US"/>
              <a:t>Information from both sides enters the observation space for evaluation by the constraint rules.</a:t>
            </a:r>
          </a:p>
          <a:p>
            <a:r>
              <a:rPr lang="en-US"/>
              <a:t></a:t>
            </a:r>
          </a:p>
          <a:p>
            <a:r>
              <a:rPr lang="en-US"/>
              <a:t>A triggered rule may produce a device action, a warning, an alarm, or a task abort.</a:t>
            </a:r>
          </a:p>
          <a:p>
            <a:r>
              <a:rPr lang="en-US"/>
              <a:t></a:t>
            </a:r>
          </a:p>
          <a:p>
            <a:r>
              <a:rPr lang="en-US"/>
              <a:t>These actions return through workflow or resource-model interfaces, so they remain within the existing execution mechanism.</a:t>
            </a:r>
          </a:p>
          <a:p>
            <a:r>
              <a:rPr lang="en-US"/>
              <a:t></a:t>
            </a:r>
          </a:p>
          <a:p>
            <a:r>
              <a:rPr lang="en-US"/>
              <a:t>Device-related actions are issued by the state machine through the Adapter, while task-related actions are handled by the node mechanism.</a:t>
            </a:r>
          </a:p>
          <a:p>
            <a:r>
              <a:rPr lang="en-US"/>
              <a:t></a:t>
            </a:r>
          </a:p>
          <a:p>
            <a:r>
              <a:rPr lang="en-US"/>
              <a:t>We distinguish intrinsic constraints, laboratory-wide constraints, and task constraints.</a:t>
            </a:r>
          </a:p>
          <a:p>
            <a:r>
              <a:rPr lang="en-US"/>
              <a:t></a:t>
            </a:r>
          </a:p>
          <a:p>
            <a:r>
              <a:rPr lang="en-US"/>
              <a:t>Intrinsic constraints are handled locally by the device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Laboratory-wide constraints provide baseline rules that continuously monitor laboratory operation.</a:t>
            </a:r>
          </a:p>
          <a:p>
            <a:r>
              <a:rPr lang="en-US"/>
              <a:t></a:t>
            </a:r>
          </a:p>
          <a:p>
            <a:r>
              <a:rPr lang="en-US"/>
              <a:t>Task constraints apply during execution of a specific task.</a:t>
            </a:r>
          </a:p>
          <a:p>
            <a:r>
              <a:rPr lang="en-US"/>
              <a:t></a:t>
            </a:r>
          </a:p>
          <a:p>
            <a:r>
              <a:rPr lang="en-US"/>
              <a:t>The diagram emphasizes cross-layer observation and response for the latter two types.</a:t>
            </a:r>
          </a:p>
          <a:p>
            <a:r>
              <a:rPr lang="en-US"/>
              <a:t></a:t>
            </a:r>
          </a:p>
          <a:p>
            <a:r>
              <a:rPr lang="en-US"/>
              <a:t>The constraint layer continuously observes execution rather than acting as a serial forwarding stage for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This slide shows how the models work together to execute a device operation.</a:t>
            </a:r>
          </a:p>
          <a:p>
            <a:r>
              <a:rPr lang="en-US"/>
              <a:t></a:t>
            </a:r>
          </a:p>
          <a:p>
            <a:r>
              <a:rPr lang="en-US"/>
              <a:t>On the left, workflows organize task steps horizontally, while each device operation proceeds vertically through the device model, the Adapter, and the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Control signals and commands travel downward, and device state and data return upward.</a:t>
            </a:r>
          </a:p>
          <a:p>
            <a:r>
              <a:rPr lang="en-US"/>
              <a:t></a:t>
            </a:r>
          </a:p>
          <a:p>
            <a:r>
              <a:rPr lang="en-US"/>
              <a:t>On the right, one workflow node and its corresponding device execution unit are expanded.</a:t>
            </a:r>
          </a:p>
          <a:p>
            <a:r>
              <a:rPr lang="en-US"/>
              <a:t></a:t>
            </a:r>
          </a:p>
          <a:p>
            <a:r>
              <a:rPr lang="en-US"/>
              <a:t>The node's triggers evaluate variables, interface signals, and lifecycle state before issuing a control request with operation parameters.</a:t>
            </a:r>
          </a:p>
          <a:p>
            <a:r>
              <a:rPr lang="en-US"/>
              <a:t></a:t>
            </a:r>
          </a:p>
          <a:p>
            <a:r>
              <a:rPr lang="en-US"/>
              <a:t>The capability model provides operation definitions and the Adapter mapping contract to the device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handles the request using the current state, performs the transition and its actions, and uses the contract to generate an upper-level command in the agreed format.</a:t>
            </a:r>
          </a:p>
          <a:p>
            <a:r>
              <a:rPr lang="en-US"/>
              <a:t></a:t>
            </a:r>
          </a:p>
          <a:p>
            <a:r>
              <a:rPr lang="en-US"/>
              <a:t>It then sends that command through its output interface to the Adapter.</a:t>
            </a:r>
          </a:p>
          <a:p>
            <a:r>
              <a:rPr lang="en-US"/>
              <a:t></a:t>
            </a:r>
          </a:p>
          <a:p>
            <a:r>
              <a:rPr lang="en-US"/>
              <a:t>The Adapter maps the received command to device instructions, which the physical device executes.</a:t>
            </a:r>
          </a:p>
          <a:p>
            <a:r>
              <a:rPr lang="en-US"/>
              <a:t></a:t>
            </a:r>
          </a:p>
          <a:p>
            <a:r>
              <a:rPr lang="en-US"/>
              <a:t>The Adapter also converts returning device data into events or telemetry.</a:t>
            </a:r>
          </a:p>
          <a:p>
            <a:r>
              <a:rPr lang="en-US"/>
              <a:t></a:t>
            </a:r>
          </a:p>
          <a:p>
            <a:r>
              <a:rPr lang="en-US"/>
              <a:t>The device model updates its state and attributes, and the node receives execution status and the data it needs.</a:t>
            </a:r>
          </a:p>
          <a:p>
            <a:r>
              <a:rPr lang="en-US"/>
              <a:t></a:t>
            </a:r>
          </a:p>
          <a:p>
            <a:r>
              <a:rPr lang="en-US"/>
              <a:t>The node's trigger conditions and actions determine completion and progression to the next step.</a:t>
            </a:r>
          </a:p>
          <a:p>
            <a:r>
              <a:rPr lang="en-US"/>
              <a:t></a:t>
            </a:r>
          </a:p>
          <a:p>
            <a:r>
              <a:rPr lang="en-US"/>
              <a:t>Constraints observe resource state and task context and act through node or state-machine interfaces when required.</a:t>
            </a:r>
          </a:p>
          <a:p>
            <a:r>
              <a:rPr lang="en-US"/>
              <a:t></a:t>
            </a:r>
          </a:p>
          <a:p>
            <a:r>
              <a:rPr lang="en-US"/>
              <a:t>The workflow route shown here is one possible source of a device request.</a:t>
            </a:r>
          </a:p>
          <a:p>
            <a:r>
              <a:rPr lang="en-US"/>
              <a:t></a:t>
            </a:r>
          </a:p>
          <a:p>
            <a:r>
              <a:rPr lang="en-US"/>
              <a:t>A person or an LLM may request a device operation directly without first creating or executing a workflow.</a:t>
            </a:r>
          </a:p>
          <a:p>
            <a:r>
              <a:rPr lang="en-US"/>
              <a:t></a:t>
            </a:r>
          </a:p>
          <a:p>
            <a:r>
              <a:rPr lang="en-US"/>
              <a:t>However, every device request must pass through the device model and state machine before reaching the Adapter.</a:t>
            </a:r>
          </a:p>
          <a:p>
            <a:r>
              <a:rPr lang="en-US"/>
              <a:t></a:t>
            </a:r>
          </a:p>
          <a:p>
            <a:r>
              <a:rPr lang="en-US"/>
              <a:t>State-transition rules define how the model responds to a request and which actions accompany a transition.</a:t>
            </a:r>
          </a:p>
          <a:p>
            <a:r>
              <a:rPr lang="en-US"/>
              <a:t></a:t>
            </a:r>
          </a:p>
          <a:p>
            <a:r>
              <a:rPr lang="en-US"/>
              <a:t>Constraints specify limits and conditions that execution must satisfy.</a:t>
            </a:r>
          </a:p>
          <a:p>
            <a:r>
              <a:rPr lang="en-US"/>
              <a:t></a:t>
            </a:r>
          </a:p>
          <a:p>
            <a:r>
              <a:rPr lang="en-US"/>
              <a:t>These concepts are related because constraints can also be implemented as rules, including within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All request sources use the same model-based handling, with no privileged bypass.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In the SmartLab 2.0 prototype, workflow and state machine engines execute the models, and an MQTT Adapter handles device communication.</a:t>
            </a:r>
          </a:p>
          <a:p>
            <a:r>
              <a:rPr lang="en-US"/>
              <a:t></a:t>
            </a:r>
          </a:p>
          <a:p>
            <a:r>
              <a:rPr lang="en-US"/>
              <a:t>The reactor model defines its heating capability, attributes, and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The heating node binds to that capability, stores task parameters, and defines its start and completion conditions.</a:t>
            </a:r>
          </a:p>
          <a:p>
            <a:r>
              <a:rPr lang="en-US"/>
              <a:t></a:t>
            </a:r>
          </a:p>
          <a:p>
            <a:r>
              <a:rPr lang="en-US"/>
              <a:t>The constraint model specifies rules that apply during execution.</a:t>
            </a:r>
          </a:p>
          <a:p>
            <a:r>
              <a:rPr lang="en-US"/>
              <a:t></a:t>
            </a:r>
          </a:p>
          <a:p>
            <a:r>
              <a:rPr lang="en-US"/>
              <a:t>Reading the sequence from top to bottom, the node first sends a heating request with parameters.</a:t>
            </a:r>
          </a:p>
          <a:p>
            <a:r>
              <a:rPr lang="en-US"/>
              <a:t></a:t>
            </a:r>
          </a:p>
          <a:p>
            <a:r>
              <a:rPr lang="en-US"/>
              <a:t>The state machine checks the request and current state and generates a heating command according to the Adapter mapping contract.</a:t>
            </a:r>
          </a:p>
          <a:p>
            <a:r>
              <a:rPr lang="en-US"/>
              <a:t></a:t>
            </a:r>
          </a:p>
          <a:p>
            <a:r>
              <a:rPr lang="en-US"/>
              <a:t>The Adapter converts this command into a device instruction and sends it to the reactor.</a:t>
            </a:r>
          </a:p>
          <a:p>
            <a:r>
              <a:rPr lang="en-US"/>
              <a:t></a:t>
            </a:r>
          </a:p>
          <a:p>
            <a:r>
              <a:rPr lang="en-US"/>
              <a:t>The loop represents repeated temperature and operating-status feedback during execution.</a:t>
            </a:r>
          </a:p>
          <a:p>
            <a:r>
              <a:rPr lang="en-US"/>
              <a:t></a:t>
            </a:r>
          </a:p>
          <a:p>
            <a:r>
              <a:rPr lang="en-US"/>
              <a:t>After conversion by the Adapter, this feedback updates the device model and provides the node with execution status and relevant data.</a:t>
            </a:r>
          </a:p>
          <a:p>
            <a:r>
              <a:rPr lang="en-US"/>
              <a:t></a:t>
            </a:r>
          </a:p>
          <a:p>
            <a:r>
              <a:rPr lang="en-US"/>
              <a:t>Resource state and node execution context are also observed by the constraint layer.</a:t>
            </a:r>
          </a:p>
          <a:p>
            <a:r>
              <a:rPr lang="en-US"/>
              <a:t></a:t>
            </a:r>
          </a:p>
          <a:p>
            <a:r>
              <a:rPr lang="en-US"/>
              <a:t>Each feedback update can trigger model updates and condition evaluation.</a:t>
            </a:r>
          </a:p>
          <a:p>
            <a:r>
              <a:rPr lang="en-US"/>
              <a:t></a:t>
            </a:r>
          </a:p>
          <a:p>
            <a:r>
              <a:rPr lang="en-US"/>
              <a:t>When completion conditions hold and continued execution is allowed, the node completes and sends a signal to activate the next step.</a:t>
            </a:r>
          </a:p>
          <a:p>
            <a:r>
              <a:rPr lang="en-US"/>
              <a:t></a:t>
            </a:r>
          </a:p>
          <a:p>
            <a:r>
              <a:rPr lang="en-US"/>
              <a:t>If a temperature violation or device fault triggers a stop or abort rule, device handling uses the state-machine interface and task handling uses the node interface.</a:t>
            </a:r>
          </a:p>
          <a:p>
            <a:r>
              <a:rPr lang="en-US"/>
              <a:t></a:t>
            </a:r>
          </a:p>
          <a:p>
            <a:r>
              <a:rPr lang="en-US"/>
              <a:t>Warnings and alarms follow their own rule definitions rather than necessarily aborting the task.</a:t>
            </a:r>
          </a:p>
          <a:p>
            <a:r>
              <a:rPr lang="en-US"/>
              <a:t></a:t>
            </a:r>
          </a:p>
          <a:p>
            <a:r>
              <a:rPr lang="en-US"/>
              <a:t>Requests, execution, feedback, completion checks, and exception handling all follow interactions defined in the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This extension uses simulation feedback to revise experimental plans while preserving the same device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The LLM can generate a workflow model or directly request an operation on a device.</a:t>
            </a:r>
          </a:p>
          <a:p>
            <a:r>
              <a:rPr lang="en-US"/>
              <a:t></a:t>
            </a:r>
          </a:p>
          <a:p>
            <a:r>
              <a:rPr lang="en-US"/>
              <a:t>Both routes enter the device model and reach the Adapter through the state machine.</a:t>
            </a:r>
          </a:p>
          <a:p>
            <a:r>
              <a:rPr lang="en-US"/>
              <a:t></a:t>
            </a:r>
          </a:p>
          <a:p>
            <a:r>
              <a:rPr lang="en-US"/>
              <a:t>At the start of a simulation, the Adapter creates a virtual device instance corresponding to the physical device instance.</a:t>
            </a:r>
          </a:p>
          <a:p>
            <a:r>
              <a:rPr lang="en-US"/>
              <a:t></a:t>
            </a:r>
          </a:p>
          <a:p>
            <a:r>
              <a:rPr lang="en-US"/>
              <a:t>The same virtual instance is used throughout that simulation run.</a:t>
            </a:r>
          </a:p>
          <a:p>
            <a:r>
              <a:rPr lang="en-US"/>
              <a:t></a:t>
            </a:r>
          </a:p>
          <a:p>
            <a:r>
              <a:rPr lang="en-US"/>
              <a:t>It receives commands, evolves its simulated state, and returns simulated measurements and operating status.</a:t>
            </a:r>
          </a:p>
          <a:p>
            <a:r>
              <a:rPr lang="en-US"/>
              <a:t></a:t>
            </a:r>
          </a:p>
          <a:p>
            <a:r>
              <a:rPr lang="en-US"/>
              <a:t>This allows successive operations to act on a continuous device state.</a:t>
            </a:r>
          </a:p>
          <a:p>
            <a:r>
              <a:rPr lang="en-US"/>
              <a:t></a:t>
            </a:r>
          </a:p>
          <a:p>
            <a:r>
              <a:rPr lang="en-US"/>
              <a:t>The upper-level system processes the returned information as device data.</a:t>
            </a:r>
          </a:p>
          <a:p>
            <a:r>
              <a:rPr lang="en-US"/>
              <a:t></a:t>
            </a:r>
          </a:p>
          <a:p>
            <a:r>
              <a:rPr lang="en-US"/>
              <a:t>Device models update normally, workflow nodes evaluate triggers and advance when needed, and constraints continue to evaluate resource state and task context.</a:t>
            </a:r>
          </a:p>
          <a:p>
            <a:r>
              <a:rPr lang="en-US"/>
              <a:t></a:t>
            </a:r>
          </a:p>
          <a:p>
            <a:r>
              <a:rPr lang="en-US"/>
              <a:t>The resulting state, data, and constraint outcomes return to the LLM for analysis.</a:t>
            </a:r>
          </a:p>
          <a:p>
            <a:r>
              <a:rPr lang="en-US"/>
              <a:t></a:t>
            </a:r>
          </a:p>
          <a:p>
            <a:r>
              <a:rPr lang="en-US"/>
              <a:t>The LLM can revise the steps, parameters, or control requests and simulate again through the same path.</a:t>
            </a:r>
          </a:p>
          <a:p>
            <a:r>
              <a:rPr lang="en-US"/>
              <a:t></a:t>
            </a:r>
          </a:p>
          <a:p>
            <a:r>
              <a:rPr lang="en-US"/>
              <a:t>This closes the feedback loop used to optimize the experimental plan.</a:t>
            </a:r>
          </a:p>
          <a:p>
            <a:r>
              <a:rPr lang="en-US"/>
              <a:t></a:t>
            </a:r>
          </a:p>
          <a:p>
            <a:r>
              <a:rPr lang="en-US"/>
              <a:t>Once simulation results have been confirmed acceptable, the host system initiates hardware execution and selects the Adapter's hardware mode.</a:t>
            </a:r>
          </a:p>
          <a:p>
            <a:r>
              <a:rPr lang="en-US"/>
              <a:t></a:t>
            </a:r>
          </a:p>
          <a:p>
            <a:r>
              <a:rPr lang="en-US"/>
              <a:t>The Adapter does not determine whether the simulation has passed or initiate hardware execution on its own.</a:t>
            </a:r>
          </a:p>
          <a:p>
            <a:r>
              <a:rPr lang="en-US"/>
              <a:t></a:t>
            </a:r>
          </a:p>
          <a:p>
            <a:r>
              <a:rPr lang="en-US"/>
              <a:t>Only hardware mode connects to the physical device, mapping commands and converting real feedback.</a:t>
            </a:r>
          </a:p>
          <a:p>
            <a:r>
              <a:rPr lang="en-US"/>
              <a:t></a:t>
            </a:r>
          </a:p>
          <a:p>
            <a:r>
              <a:rPr lang="en-US"/>
              <a:t>Both modes share the upper-level models, state-transition rules, feedback interfaces, and constraint checks.</a:t>
            </a:r>
          </a:p>
          <a:p>
            <a:r>
              <a:rPr lang="en-US"/>
              <a:t></a:t>
            </a:r>
          </a:p>
          <a:p>
            <a:r>
              <a:rPr lang="en-US"/>
              <a:t>The difference is whether commands act on a virtual instance inside the Adapter or on the physical device.</a:t>
            </a:r>
          </a:p>
          <a:p>
            <a:r>
              <a:rPr lang="en-US"/>
              <a:t></a:t>
            </a:r>
          </a:p>
          <a:p>
            <a:r>
              <a:rPr lang="en-US"/>
              <a:t>Simulation therefore supports plan refinement before hardware execution while keeping LLM device control within the shared execution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 xmlns:p="http://schemas.openxmlformats.org/presentationml/2006/main" xmlns:a="http://schemas.openxmlformats.org/drawingml/2006/main">
          <a:bodyPr xmlns:a="http://schemas.openxmlformats.org/drawingml/2006/main"/>
          <a:lstStyle xmlns:a="http://schemas.openxmlformats.org/drawingml/2006/main"/>
          <a:p>
            <a:r>
              <a:rPr lang="en-US"/>
              <a:t>The work has three main contributions: unified modeling, explicit execution semantics, and a shared execution path.</a:t>
            </a:r>
          </a:p>
          <a:p>
            <a:r>
              <a:rPr lang="en-US"/>
              <a:t></a:t>
            </a:r>
          </a:p>
          <a:p>
            <a:r>
              <a:rPr lang="en-US"/>
              <a:t>Resource, workflow, and constraint models describe execution objects, task processes, and operating limits, with a cross-layer protocol connecting their interactions.</a:t>
            </a:r>
          </a:p>
          <a:p>
            <a:r>
              <a:rPr lang="en-US"/>
              <a:t></a:t>
            </a:r>
          </a:p>
          <a:p>
            <a:r>
              <a:rPr lang="en-US"/>
              <a:t>Variable spaces, lifecycles, interfaces, triggers, and state machines explain at the model level how tasks progress, data is linked, and devices respond.</a:t>
            </a:r>
          </a:p>
          <a:p>
            <a:r>
              <a:rPr lang="en-US"/>
              <a:t></a:t>
            </a:r>
          </a:p>
          <a:p>
            <a:r>
              <a:rPr lang="en-US"/>
              <a:t>Requests from people, workflows, and LLMs use the same device model and Adapter mechanism, which also supports the simulation feedback loop.</a:t>
            </a:r>
          </a:p>
          <a:p>
            <a:r>
              <a:rPr lang="en-US"/>
              <a:t></a:t>
            </a:r>
          </a:p>
          <a:p>
            <a:r>
              <a:rPr lang="en-US"/>
              <a:t>The system provides an explicit modeling language and execution semantics.</a:t>
            </a:r>
          </a:p>
          <a:p>
            <a:r>
              <a:rPr lang="en-US"/>
              <a:t></a:t>
            </a:r>
          </a:p>
          <a:p>
            <a:r>
              <a:rPr lang="en-US"/>
              <a:t>Specific laboratory devices and task logic are expressed as models, while the common execution mechanism follows the structures, states, and rules defined in those models.</a:t>
            </a:r>
          </a:p>
          <a:p>
            <a:r>
              <a:rPr lang="en-US"/>
              <a:t></a:t>
            </a:r>
          </a:p>
          <a:p>
            <a:r>
              <a:rPr lang="en-US"/>
              <a:t>This lets us explain why an operation occurs, how far it has progressed, and what determines its next step.</a:t>
            </a:r>
          </a:p>
          <a:p>
            <a:r>
              <a:rPr lang="en-US"/>
              <a:t></a:t>
            </a:r>
          </a:p>
          <a:p>
            <a:r>
              <a:rPr lang="en-US"/>
              <a:t>An LLM may propose plans and control requests, but their execution is always handled by the shared model, state, and constraint mechanisms.</a:t>
            </a:r>
          </a:p>
          <a:p>
            <a:r>
              <a:rPr lang="en-US"/>
              <a:t></a:t>
            </a:r>
          </a:p>
          <a:p>
            <a:r>
              <a:rPr lang="en-US"/>
              <a:t>Thank you for your attention, and questions are welcome.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deaa905f6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f312995344b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046b38d7a4e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0c1cb453c4f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089930e3f4b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1915fdcea45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685b182c14e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ce4c344ee4b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0c7a9a8444f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e93b4dfdf4a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eb594b82c44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af2bf4d8748a5" /><Relationship Type="http://schemas.openxmlformats.org/officeDocument/2006/relationships/slideLayout" Target="/ppt/slideLayouts/slideLayout1.xml" Id="R4d5674bee0cd4537" /><Relationship Type="http://schemas.openxmlformats.org/officeDocument/2006/relationships/slideLayout" Target="/ppt/slideLayouts/slideLayout2.xml" Id="Re3834919827b4109" /><Relationship Type="http://schemas.openxmlformats.org/officeDocument/2006/relationships/slideLayout" Target="/ppt/slideLayouts/slideLayout3.xml" Id="R9ba9396dc19f4308" /><Relationship Type="http://schemas.openxmlformats.org/officeDocument/2006/relationships/slideLayout" Target="/ppt/slideLayouts/slideLayout4.xml" Id="Ra5e235bf5b544cbf" /><Relationship Type="http://schemas.openxmlformats.org/officeDocument/2006/relationships/slideLayout" Target="/ppt/slideLayouts/slideLayout5.xml" Id="R385f91bcc81e4f4a" /><Relationship Type="http://schemas.openxmlformats.org/officeDocument/2006/relationships/slideLayout" Target="/ppt/slideLayouts/slideLayout6.xml" Id="R6c62a23aa7f24c33" /><Relationship Type="http://schemas.openxmlformats.org/officeDocument/2006/relationships/slideLayout" Target="/ppt/slideLayouts/slideLayout7.xml" Id="Rf6b8ce3adf8e41b8" /><Relationship Type="http://schemas.openxmlformats.org/officeDocument/2006/relationships/slideLayout" Target="/ppt/slideLayouts/slideLayout8.xml" Id="R1e567764f7624e51" /><Relationship Type="http://schemas.openxmlformats.org/officeDocument/2006/relationships/slideLayout" Target="/ppt/slideLayouts/slideLayout9.xml" Id="Rb749acd4d8e44b58" /><Relationship Type="http://schemas.openxmlformats.org/officeDocument/2006/relationships/slideLayout" Target="/ppt/slideLayouts/slideLayout10.xml" Id="Rf8901d389a424071" /><Relationship Type="http://schemas.openxmlformats.org/officeDocument/2006/relationships/slideLayout" Target="/ppt/slideLayouts/slideLayout11.xml" Id="R1eafc402689c43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674bee0cd4537"/>
    <p:sldLayoutId xmlns:r="http://schemas.openxmlformats.org/officeDocument/2006/relationships" id="2147483650" r:id="Re3834919827b4109"/>
    <p:sldLayoutId xmlns:r="http://schemas.openxmlformats.org/officeDocument/2006/relationships" id="2147483651" r:id="R9ba9396dc19f4308"/>
    <p:sldLayoutId xmlns:r="http://schemas.openxmlformats.org/officeDocument/2006/relationships" id="2147483652" r:id="Ra5e235bf5b544cbf"/>
    <p:sldLayoutId xmlns:r="http://schemas.openxmlformats.org/officeDocument/2006/relationships" id="2147483653" r:id="R385f91bcc81e4f4a"/>
    <p:sldLayoutId xmlns:r="http://schemas.openxmlformats.org/officeDocument/2006/relationships" id="2147483654" r:id="R6c62a23aa7f24c33"/>
    <p:sldLayoutId xmlns:r="http://schemas.openxmlformats.org/officeDocument/2006/relationships" id="2147483655" r:id="Rf6b8ce3adf8e41b8"/>
    <p:sldLayoutId xmlns:r="http://schemas.openxmlformats.org/officeDocument/2006/relationships" id="2147483656" r:id="R1e567764f7624e51"/>
    <p:sldLayoutId xmlns:r="http://schemas.openxmlformats.org/officeDocument/2006/relationships" id="2147483657" r:id="Rb749acd4d8e44b58"/>
    <p:sldLayoutId xmlns:r="http://schemas.openxmlformats.org/officeDocument/2006/relationships" id="2147483658" r:id="Rf8901d389a424071"/>
    <p:sldLayoutId xmlns:r="http://schemas.openxmlformats.org/officeDocument/2006/relationships" id="2147483659" r:id="R1eafc402689c436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904edacf92430f" /><Relationship Type="http://schemas.openxmlformats.org/officeDocument/2006/relationships/notesSlide" Target="/ppt/notesSlides/notesSlide1.xml" Id="R40d1a57804ad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01c880c7b5467f" /><Relationship Type="http://schemas.openxmlformats.org/officeDocument/2006/relationships/notesSlide" Target="/ppt/notesSlides/notesSlide2.xml" Id="R4a5051c5cc6f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3e991213274aaa" /><Relationship Type="http://schemas.openxmlformats.org/officeDocument/2006/relationships/notesSlide" Target="/ppt/notesSlides/notesSlide3.xml" Id="R9d84eba966e1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35afe7951497a" /><Relationship Type="http://schemas.openxmlformats.org/officeDocument/2006/relationships/notesSlide" Target="/ppt/notesSlides/notesSlide4.xml" Id="R26577538b96242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c6a9b0459a49be" /><Relationship Type="http://schemas.openxmlformats.org/officeDocument/2006/relationships/notesSlide" Target="/ppt/notesSlides/notesSlide5.xml" Id="R8057b1b9da5e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ac113b025c421d" /><Relationship Type="http://schemas.openxmlformats.org/officeDocument/2006/relationships/notesSlide" Target="/ppt/notesSlides/notesSlide6.xml" Id="Rf338f093c9cc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3f06cc366146da" /><Relationship Type="http://schemas.openxmlformats.org/officeDocument/2006/relationships/notesSlide" Target="/ppt/notesSlides/notesSlide7.xml" Id="R75fbadfff3c741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2a75c7fbdc43fb" /><Relationship Type="http://schemas.openxmlformats.org/officeDocument/2006/relationships/notesSlide" Target="/ppt/notesSlides/notesSlide8.xml" Id="Rcf7e372542024c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d8bdc71b094d9b" /><Relationship Type="http://schemas.openxmlformats.org/officeDocument/2006/relationships/notesSlide" Target="/ppt/notesSlides/notesSlide9.xml" Id="R1ae248a0db1448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9927f2367d4dc7" /><Relationship Type="http://schemas.openxmlformats.org/officeDocument/2006/relationships/notesSlide" Target="/ppt/notesSlides/notesSlide10.xml" Id="Rf7d14c40cf09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75114aa13f4922" /><Relationship Type="http://schemas.openxmlformats.org/officeDocument/2006/relationships/notesSlide" Target="/ppt/notesSlides/notesSlide11.xml" Id="R4ac77de899c145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Task-Oriented Executable Modeling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Framework for Smart Chemical Laboratories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B4CCE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B4CCE4"/>
                </a:solidFill>
                <a:latin typeface="微软雅黑"/>
                <a:ea typeface="微软雅黑"/>
                <a:cs typeface="微软雅黑"/>
              </a:rPr>
              <a:t>Beijing Information Science and Technology University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Presenter: Tao Yu    Corresponding author: Chun Zhao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2026, Genoa, Italy</a:t>
            </a: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Outline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Background and problem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Unified modeling framework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Key execution mechanism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Implementation and case study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Extension and outlook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lang="en-US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Conclusions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Why unified modeling is needed → How the models execute together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 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Background: execution boundaries with LLMs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As LLMs advance, smart chemical laboratories evolve: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Workflow automation → LLM involvement in decision-making and control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Four aspects to define for every execution: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Resources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Organization and access</a:t>
            </a: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100" b="1">
                <ns0:solidFill>
                  <ns0:srgbClr val="2774AC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085" b="1" lang="en-US">
                <ns0:solidFill>
                  <ns0:srgbClr val="2774AC"/>
                </ns0:solidFill>
                <ns0:latin typeface="微软雅黑"/>
                <ns0:ea typeface="微软雅黑"/>
                <ns0:cs typeface="微软雅黑"/>
              </ns0:rPr>
              <ns0:t>State</ns0:t>
            </ns0:r>
          </ns0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1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Evolution during execution</a:t>
            </a: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Data</a:t>
            </a: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Generation and transfer</a:t>
            </a: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Boundaries</a:t>
            </a: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8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058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Allowed conditions and limits</a:t>
            </a: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LLMs make execution boundaries more pressing: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Allowed requests · Conditions for execution</a:t>
            </a: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No privileged bypass. All control requests use one execution path.</a:t>
            </a: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1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1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One executable framework for resources, state, data, and boundary checks.</a:t>
            </a: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Shared execution boundaries for all request sources</a:t>
            </a: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Unified modeling framework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7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resources · Task workflows · Operating constraints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Protocol Π: control signals · Data types · Port connections · Execution feedback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9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9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Previous node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6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6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Current node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Next node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6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Task variables / Attribute mapping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Execution stage and result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signals / I/O data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0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variables/state · Send signals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object model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Attributes and capabilities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Operation parameters 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interfaces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 mapping contract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 and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Transitions and command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9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7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Feedback-based state updates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Capability binding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Execution requests / Control signals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and data feedback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Observation space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 / Workflow context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rules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Laboratory-wide / Task constraints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Response actions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actions / Warnings / Alarms / Abort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200" b="0">
                <ns0:solidFill>
                  <ns0:srgbClr val="9A83BB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110" b="0" lang="en-US">
                <ns0:solidFill>
                  <ns0:srgbClr val="9A83BB"/>
                </ns0:solidFill>
                <ns0:latin typeface="微软雅黑"/>
                <ns0:ea typeface="微软雅黑"/>
                <ns0:cs typeface="微软雅黑"/>
              </ns0:rPr>
              <ns0:t>Node variables</ns0:t>
            </ns0:r>
          </ns0:p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200" b="0">
                <ns1:solidFill>
                  <ns1:srgbClr val="9A83BB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110" b="0" lang="en-US">
                <ns1:solidFill>
                  <ns1:srgbClr val="9A83BB"/>
                </ns1:solidFill>
                <ns1:latin typeface="微软雅黑"/>
                <ns1:ea typeface="微软雅黑"/>
                <ns1:cs typeface="微软雅黑"/>
              </ns1:rPr>
              <ns1:t>Execution context</ns1:t>
            </ns1:r>
          </ns1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state / Measurements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Actions return via node / state machine interfaces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43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43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Resources define devices. Workflows organize tasks. Constraints set execution limits.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4  Resource layer: capabilities and state machines</ns0:t>
            </ns0:r>
          </ns0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8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Capability model: what a device can do. State machine: how operations execute.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Capabilities, attributes,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and operation requirements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Check requests and state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Send commands and process feedback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Shared entry point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One device model entry point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for people, workflows, and LLMs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object model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Capability model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Attributes and capabilities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Operation parameters 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interfaces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 mapping contract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 and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Transitions and command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2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Feedback-based state updates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Model both device capabilities and the control process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5  Workflow layer: nodes, interfaces, and triggers</ns0:t>
            </ns0:r>
          </ns0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Task steps and data dependencies, coordinated through node interfaces and triggers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Previous node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8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8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Current node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Next node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1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Task variables / Attribute mapping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3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3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Execution stage and result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Control signals / I/O data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4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variables/state · Send signals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Feedback → Variable updates → Trigger evaluation → Requests or task progression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 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Constraint layer: observation and response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Observe resource state and task context. Respond through model interfaces.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575" b="0">
                <ns0:solidFill>
                  <ns0:srgbClr val="111111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575" b="0" lang="en-US">
                <ns0:solidFill>
                  <ns0:srgbClr val="111111"/>
                </ns0:solidFill>
                <ns0:latin typeface="微软雅黑"/>
                <ns0:ea typeface="微软雅黑"/>
                <ns0:cs typeface="微软雅黑"/>
              </ns0:rPr>
              <ns0:t>Node lifecycle and task variables</ns0:t>
            </ns0:r>
          </ns0:p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575" b="0" lang="en-US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rPr>
              <ns1:t>Task execution context</ns1:t>
            </ns1:r>
          </ns1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Resource layer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Measurements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Observation space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and attributes / Workflow context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Constraint rules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Laboratory-wide / Task constraints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Response actions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actions / Warnings / Alarms / Abort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485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Workflow observations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Resource observations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6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Actions return via node / state machine interfaces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Intrinsic constraints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7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5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Handled by the device state machine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27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Laboratory-wide constraints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Active throughout laboratory operation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Task constraints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Apply during task execution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7  Key mechanism: the shared execution path</ns0:t>
            </ns0:r>
          </ns0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78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Requests: device model → Adapter → Device. Feedback follows the return path.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Workflow layer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73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task node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 layer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5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layer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8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72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Run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8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72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signal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5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47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 /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Status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Control interfaces / Data ports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Variable space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Node lifecycle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Trigger: condition → action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Read variables, interface signals, and lifecycle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When conditions hold: update values or send signals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011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Control request / Operation parameters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86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Execution status / Data feedback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state machine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021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Capability model supplies operations + Adapter mapping contract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Request handling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Check request and state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transition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Apply transition actions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Command output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91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Form command per contract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Events and telemetry → update device model state and attributes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 for the Adapter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events / Measurements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Command mapping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Upper-level command → Device protocol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Feedback conversion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data → Events / Telemetry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 command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196" b="0">
                <ns1:solidFill>
                  <ns1:srgbClr val="799A39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926" b="0" lang="en-US">
                <ns1:solidFill>
                  <ns1:srgbClr val="799A39"/>
                </ns1:solidFill>
                <ns1:latin typeface="微软雅黑"/>
                <ns1:ea typeface="微软雅黑"/>
                <ns1:cs typeface="微软雅黑"/>
              </ns1:rPr>
              <ns1:t>Measurements / Operating status</ns1:t>
            </ns1:r>
          </ns1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57" b="1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Physical device: execute operations and return measurements and operating status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Workflows are optional. All device requests must pass through the device model.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SmartLab 2.0 case study: reactor heating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27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27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Model execution: workflow and state machine engines. Device communication: MQTT Adapter.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Heating node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2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02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Device state machine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Reactor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Constraint layer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1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1  Heating request (parameters)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8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8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State checks and request handling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058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2  Heating command for Adapter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45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3  Device heating command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During execution: continuous data feedback and constraint monitoring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ctr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1350" b="0">
                <ns0:solidFill>
                  <ns0:srgbClr val="799A39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035" b="0" lang="en-US">
                <ns0:solidFill>
                  <ns0:srgbClr val="799A39"/>
                </ns0:solidFill>
                <ns0:latin typeface="微软雅黑"/>
                <ns0:ea typeface="微软雅黑"/>
                <ns0:cs typeface="微软雅黑"/>
              </ns0:rPr>
              <ns0:t>4  Temperature / Operating status</ns0:t>
            </ns0:r>
          </ns0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98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5  Telemetry / State update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6  Execution status / Data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Device state and measurements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Node execution context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[Normal] Completion conditions are met and continued execution is allowed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Node completes → Activation signal → Subsequent step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[Exception example] A stop or abort rule is triggered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Device response: send a stop / abort request to the state machine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lang="en-US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Task response: abort task execution through the node interface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52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552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Completion conditions advance the node. Violations trigger constraint responses.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lnSpc>
                <ns0:spcPct val="104000"/>
              </ns0:lnSpc>
              <ns0:spcBef>
                <ns0:spcPts val="0"/>
              </ns0:spcBef>
              <ns0:spcAft>
                <ns0:spcPts val="0"/>
              </ns0:spcAft>
              <ns0:buNone/>
              <ns0:defRPr sz="2850" b="1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2850" b="1" lang="en-US">
                <ns0:solidFill>
                  <ns0:srgbClr val="FFFFFF"/>
                </ns0:solidFill>
                <ns0:latin typeface="微软雅黑"/>
                <ns0:ea typeface="微软雅黑"/>
                <ns0:cs typeface="微软雅黑"/>
              </ns0:rPr>
              <ns0:t>9  Simulation feedback loop</ns0:t>
            </ns0:r>
          </ns0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73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Simulate inside the Adapter. Keep the same upper-level models and execution rules.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LLM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52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7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Generate or revise a plan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ctr">
              <ns1:lnSpc>
                <ns1:spcPct val="104000"/>
              </ns1:lnSpc>
              <ns1:spcBef>
                <ns1:spcPts val="0"/>
              </ns1:spcBef>
              <ns1:spcAft>
                <ns1:spcPts val="0"/>
              </ns1:spcAft>
              <ns1:buNone/>
              <ns1:defRPr sz="1058" b="0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818" b="0" lang="en-US">
                <ns1:solidFill>
                  <ns1:srgbClr val="111111"/>
                </ns1:solidFill>
                <ns1:latin typeface="微软雅黑"/>
                <ns1:ea typeface="微软雅黑"/>
                <ns1:cs typeface="微软雅黑"/>
              </ns1:rPr>
              <ns1:t>Workflow model / Device request</ns1:t>
            </ns1:r>
          </ns1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Analyze feedback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Revise steps, parameters, requests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33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Feedback improves the plan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9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9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model (optional)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2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Organize steps and data dependencies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23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Workflow nodes issue requests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Device model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2:p xmlns:ns2="http://schemas.openxmlformats.org/drawingml/2006/main">
            <ns2:pPr algn="ctr">
              <ns2:lnSpc>
                <ns2:spcPct val="104000"/>
              </ns2:lnSpc>
              <ns2:spcBef>
                <ns2:spcPts val="0"/>
              </ns2:spcBef>
              <ns2:spcAft>
                <ns2:spcPts val="0"/>
              </ns2:spcAft>
              <ns2:buNone/>
              <ns2:defRPr sz="1298" b="1">
                <ns2:solidFill>
                  <ns2:srgbClr val="111111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013" b="1" lang="en-US">
                <ns2:solidFill>
                  <ns2:srgbClr val="111111"/>
                </ns2:solidFill>
                <ns2:latin typeface="微软雅黑"/>
                <ns2:ea typeface="微软雅黑"/>
                <ns2:cs typeface="微软雅黑"/>
              </ns2:rPr>
              <ns2:t>Capability model + State machine</ns2:t>
            </ns2:r>
          </ns2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1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80" b="1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Handle requests and issue commands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9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State checks / Transition actions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Process feedback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1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1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Update device state and attributes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10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Generate workflow model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85" b="0" lang="en-US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Invoke device capability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ctr">
              <ns3:lnSpc>
                <ns3:spcPct val="104000"/>
              </ns3:lnSpc>
              <ns3:spcBef>
                <ns3:spcPts val="0"/>
              </ns3:spcBef>
              <ns3:spcAft>
                <ns3:spcPts val="0"/>
              </ns3:spcAft>
              <ns3:buNone/>
              <ns3:defRPr sz="1350" b="0">
                <ns3:solidFill>
                  <ns3:srgbClr val="28849C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 lang="en-US">
                <ns3:solidFill>
                  <ns3:srgbClr val="28849C"/>
                </ns3:solidFill>
                <ns3:latin typeface="微软雅黑"/>
                <ns3:ea typeface="微软雅黑"/>
                <ns3:cs typeface="微软雅黑"/>
              </ns3:rPr>
              <ns3:t>Direct device control request</ns3:t>
            </ns3:r>
          </ns3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and data feedback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Simulation feedback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lang="en-US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State, data, and constraint results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Receive commands in the selected mode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Simulation mode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968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Create instance per device at start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4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Virtual device instance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Same instance for the full run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Respond to commands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Evolve state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Return simulated measurements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8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and operating status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Hardware mode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4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Map commands / Convert real feedback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7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7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Command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State /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Physical device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2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787" b="0" lang="en-US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Execute operations and return actual data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83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832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Device command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Data / Status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0" b="0" lang="en-US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Simulated feedback uses the same model updates and constraint checks.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Simulate and refine → Confirm acceptable results → Host initiates hardware execution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Conclusions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lang="en-US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Thank you. Questions are welcome.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10287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26262"/>
                </a:solidFill>
                <a:latin typeface="微软雅黑"/>
                <a:ea typeface="微软雅黑"/>
                <a:cs typeface="微软雅黑"/>
              </a:rPr>
              <a:t>EUROSIM 2026  ·  Executable Modeling for Smart Chemical Laboratories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Unified modeling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71675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83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Resources + Workflows + Constraints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Explicit semantics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38450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9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90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Variable spaces, interfaces, triggers, and state machines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Shared execution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05225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515" b="0" lang="en-US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Shared device execution with simulation support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 xmlns:p="http://schemas.openxmlformats.org/presentationml/2006/main" xmlns:a="http://schemas.openxmlformats.org/drawingml/2006/main"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lang="en-US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Laboratory-specific models. A reusable execution mechanism.</a:t>
            </a: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2026-09-11T03:10:56.0780000Z</dcterms:created>
  <dcterms:modified xsi:type="dcterms:W3CDTF">2026-09-11T03:10:56.0780000Z</dcterms:modified>
</coreProperties>
</file>