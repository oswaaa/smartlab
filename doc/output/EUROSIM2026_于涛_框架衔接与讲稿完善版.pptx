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3e8f59aefd4015" /><Relationship Type="http://schemas.openxmlformats.org/officeDocument/2006/relationships/extended-properties" Target="/docProps/app.xml" Id="Red81452cc3b94b4c" /><Relationship Type="http://schemas.openxmlformats.org/officeDocument/2006/relationships/officeDocument" Target="/ppt/presentation.xml" Id="R099ca59ea4d24f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dda5643ca44669"/>
  </p:sldMasterIdLst>
  <p:notesMasterIdLst>
    <p:notesMasterId xmlns:r="http://schemas.openxmlformats.org/officeDocument/2006/relationships" r:id="R819ae4c0e51349ba"/>
  </p:notesMasterIdLst>
  <p:sldIdLst>
    <p:sldId xmlns:r="http://schemas.openxmlformats.org/officeDocument/2006/relationships" id="256" r:id="R0e9f478768554b82"/>
    <p:sldId xmlns:r="http://schemas.openxmlformats.org/officeDocument/2006/relationships" id="257" r:id="Rd688b1bf7a04468a"/>
    <p:sldId xmlns:r="http://schemas.openxmlformats.org/officeDocument/2006/relationships" id="258" r:id="Rb32a5e04b6d742ba"/>
    <p:sldId xmlns:r="http://schemas.openxmlformats.org/officeDocument/2006/relationships" id="259" r:id="R741cb3a210744c3e"/>
    <p:sldId xmlns:r="http://schemas.openxmlformats.org/officeDocument/2006/relationships" id="260" r:id="R85975a9405e24df5"/>
    <p:sldId xmlns:r="http://schemas.openxmlformats.org/officeDocument/2006/relationships" id="261" r:id="R80dc741561154baa"/>
    <p:sldId xmlns:r="http://schemas.openxmlformats.org/officeDocument/2006/relationships" id="262" r:id="R6bb6827d8f11430e"/>
    <p:sldId xmlns:r="http://schemas.openxmlformats.org/officeDocument/2006/relationships" id="263" r:id="R3c228f6524e4411b"/>
    <p:sldId xmlns:r="http://schemas.openxmlformats.org/officeDocument/2006/relationships" id="264" r:id="R690aa1fcae304121"/>
    <p:sldId xmlns:r="http://schemas.openxmlformats.org/officeDocument/2006/relationships" id="265" r:id="R8bc1271ec0404248"/>
    <p:sldId xmlns:r="http://schemas.openxmlformats.org/officeDocument/2006/relationships" id="266" r:id="R88df1040b2be4306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f9f173a76b43c3" /><Relationship Type="http://schemas.openxmlformats.org/officeDocument/2006/relationships/slideMaster" Target="/ppt/slideMasters/slideMaster1.xml" Id="Rb6dda5643ca44669" /><Relationship Type="http://schemas.openxmlformats.org/officeDocument/2006/relationships/notesMaster" Target="/ppt/notesMasters/notesMaster1.xml" Id="R819ae4c0e51349ba" /><Relationship Type="http://schemas.openxmlformats.org/officeDocument/2006/relationships/presProps" Target="/ppt/presProps.xml" Id="R392640557ae846be" /><Relationship Type="http://schemas.openxmlformats.org/officeDocument/2006/relationships/viewProps" Target="/ppt/viewProps.xml" Id="Rfd45626ec2a14d43" /><Relationship Type="http://schemas.openxmlformats.org/officeDocument/2006/relationships/tableStyles" Target="/ppt/tableStyles.xml" Id="Re44b2fd394a54301" /><Relationship Type="http://schemas.openxmlformats.org/officeDocument/2006/relationships/slide" Target="/ppt/slides/slide1.xml" Id="R0e9f478768554b82" /><Relationship Type="http://schemas.openxmlformats.org/officeDocument/2006/relationships/slide" Target="/ppt/slides/slide2.xml" Id="Rd688b1bf7a04468a" /><Relationship Type="http://schemas.openxmlformats.org/officeDocument/2006/relationships/slide" Target="/ppt/slides/slide3.xml" Id="Rb32a5e04b6d742ba" /><Relationship Type="http://schemas.openxmlformats.org/officeDocument/2006/relationships/slide" Target="/ppt/slides/slide4.xml" Id="R741cb3a210744c3e" /><Relationship Type="http://schemas.openxmlformats.org/officeDocument/2006/relationships/slide" Target="/ppt/slides/slide5.xml" Id="R85975a9405e24df5" /><Relationship Type="http://schemas.openxmlformats.org/officeDocument/2006/relationships/slide" Target="/ppt/slides/slide6.xml" Id="R80dc741561154baa" /><Relationship Type="http://schemas.openxmlformats.org/officeDocument/2006/relationships/slide" Target="/ppt/slides/slide7.xml" Id="R6bb6827d8f11430e" /><Relationship Type="http://schemas.openxmlformats.org/officeDocument/2006/relationships/slide" Target="/ppt/slides/slide8.xml" Id="R3c228f6524e4411b" /><Relationship Type="http://schemas.openxmlformats.org/officeDocument/2006/relationships/slide" Target="/ppt/slides/slide9.xml" Id="R690aa1fcae304121" /><Relationship Type="http://schemas.openxmlformats.org/officeDocument/2006/relationships/slide" Target="/ppt/slides/slide10.xml" Id="R8bc1271ec0404248" /><Relationship Type="http://schemas.openxmlformats.org/officeDocument/2006/relationships/slide" Target="/ppt/slides/slide11.xml" Id="R88df1040b2be43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778d92795140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36ec6d701d4b43" /><Relationship Type="http://schemas.openxmlformats.org/officeDocument/2006/relationships/notesMaster" Target="/ppt/notesMasters/notesMaster1.xml" Id="R2b7733e06c6041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5ca204326e47ac" /><Relationship Type="http://schemas.openxmlformats.org/officeDocument/2006/relationships/notesMaster" Target="/ppt/notesMasters/notesMaster1.xml" Id="R69697047d8e546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d12f9c1bac40ec" /><Relationship Type="http://schemas.openxmlformats.org/officeDocument/2006/relationships/notesMaster" Target="/ppt/notesMasters/notesMaster1.xml" Id="Rc15dc8e265f642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3abbad3a6545c6" /><Relationship Type="http://schemas.openxmlformats.org/officeDocument/2006/relationships/notesMaster" Target="/ppt/notesMasters/notesMaster1.xml" Id="Recca1c8bf2924c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8985510a414e3b" /><Relationship Type="http://schemas.openxmlformats.org/officeDocument/2006/relationships/notesMaster" Target="/ppt/notesMasters/notesMaster1.xml" Id="R8d03d98cc3be4b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2f83a2b07b44a9" /><Relationship Type="http://schemas.openxmlformats.org/officeDocument/2006/relationships/notesMaster" Target="/ppt/notesMasters/notesMaster1.xml" Id="R718e1dbe6cca40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a31284efc54adf" /><Relationship Type="http://schemas.openxmlformats.org/officeDocument/2006/relationships/notesMaster" Target="/ppt/notesMasters/notesMaster1.xml" Id="Rb4291de5d4ac40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80b81ed77b44d7" /><Relationship Type="http://schemas.openxmlformats.org/officeDocument/2006/relationships/notesMaster" Target="/ppt/notesMasters/notesMaster1.xml" Id="R468212eadaed4b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dc344391a449aa" /><Relationship Type="http://schemas.openxmlformats.org/officeDocument/2006/relationships/notesMaster" Target="/ppt/notesMasters/notesMaster1.xml" Id="R3b2e3dbff1c24d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1884a3da4449e5" /><Relationship Type="http://schemas.openxmlformats.org/officeDocument/2006/relationships/notesMaster" Target="/ppt/notesMasters/notesMaster1.xml" Id="R085cf707336346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ee5fad13644879" /><Relationship Type="http://schemas.openxmlformats.org/officeDocument/2006/relationships/notesMaster" Target="/ppt/notesMasters/notesMaster1.xml" Id="Rfab53fe36b914c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各位老师、各位同行，大家好。我是于涛，今天汇报的题目是《面向智慧化学实验室的任务导向可执行建模框架》。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工作关注实验室任务从提出到实际执行的过程：我们怎样用模型明确表达设备、任务逻辑和执行规则，并让这些模型按一套共同的机制运行。大模型开始参与实验室决策和控制后，这个问题也直接关系到它的控制请求应该怎样进入设备执行。下面我按背景、建模、执行和案例这条主线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今天的汇报分为六个部分。首先说明大模型参与后，为什么需要更加明确的执行边界；然后从一次任务的执行需求出发，介绍资源、工作流、约束及跨层协议构成的统一框架。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在框架部分，我会先给出整体组织方式，再分别介绍各层。接着用统一执行链路说明这些模型如何协同运行，并回到人工、流程和大模型共用执行机制这一问题。最后通过 SmartLab 2.0 中的反应釜加热案例说明实现，介绍仿真反馈闭环的扩展方向，并总结这项工作的贡献。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随着大模型发展，智慧化学实验室正在从能够自动执行任务流程，逐步走向大模型参与决策与控制。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但是，无论执行意图来自人工、任务流程还是大模型，一次任务执行始终需要说明四件事：资源如何组织与调用，设备状态如何演化，数据如何产生与传递，以及执行是否落在允许边界内。这些都是任务执行本身需要明确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的加入，使执行边界问题更加突出：它可以提出什么控制请求，这些请求又必须在什么条件下才能执行？我们的原则是不能为大模型开特权，也不能另设直达设备的旁路，所有控制请求都使用同一套执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因此，我们需要对任务执行统一建模，让资源、状态、数据和边界能够在共同的机制中被描述和处理。接下来的问题就是：这套模型应该怎样组织？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从一次实验室任务出发，分析需要建模的内容。任务首先需要调用具体设备，因此要描述设备能做什么、具有什么属性、当前处于什么状态；这些执行对象构成资源层。其次，任务包含多个步骤，需要说明步骤顺序、数据依赖以及每一步如何推进；这些任务过程构成工作流层。第三，任务必须遵守运行规则，需要根据设备状态和任务上下文判断允许范围，并在条件触发时采取动作；这些规则形成约束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前面提出的四个问题：资源层承载设备能力与状态，工作流层组织任务步骤与数据关系，约束层界定执行边界。状态和数据贯穿资源与工作流的交互，因此还需要跨层协议，统一约定控制信号、数据类型、端口关系和执行反馈。这里的三层是按建模职责组织的，共同回应那四个执行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由此，我们得到 L 等于 R、F、C 和 Π 构成的统一框架。它的核心是用明确的模型描述实验室和任务，用共同的执行语义组织这些模型运行。下面先分别说明各层，再把它们合起来看一次执行。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执行对象，也就是资源层。我们将每台设备建成由能力模型与状态机构成的可执行对象模型。能力模型说明设备能够提供什么操作，操作需要哪些参数，以及有哪些属性、接口和数据端口。例如，反应釜可以提供加热能力，并暴露温度等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状态机进一步描述操作过程：当前状态是否允许接受请求，接受请求后如何转移状态、发出指令，以及设备反馈如何更新模型。实际通信通过 Adapter 完成，由它把指令转换为设备能够接收的形式，并将反馈带回模型。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这样，对设备的操作就有了模型层面的能力定义和状态演化规则。后面无论由工作流、人工还是大模型提出请求，设备操作都按这些规则执行。接下来，我们再看如何将多个设备操作组织成完整任务。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工作流层组织整个任务的步骤及数据依赖，并用节点表达每一步的任务逻辑。设备执行节点绑定设备的一项能力；分支、同步和等待等组织逻辑则由功能节点承担。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个节点内部，变量空间保存目标值、当前值和业务标志，生命周期描述节点的执行阶段，接口传递控制信号，数据端口表达数据的输入和输出。触发器读取这些变量、接口和状态，在条件成立时更新变量或生命周期、发出设备请求，或者激活后续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因此，节点、接口和触发器共同定义了任务的交互逻辑。例如，加热节点满足前置条件后提出请求，温度反馈更新相关变量，节点再根据完成条件决定是否推进。收到反馈和完成任务是两个需要分别判断的环节。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这些过程可以通过变量空间、接口关系和触发规则在模型中明确表达，并由执行机制按同样的规则解释运行。任务如何组织已经明确，下面还需要说明运行时如何遵守边界。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约束部分统一考虑三类规则。内禀约束与设备自身能力和状态有关，由设备状态机本地处理；实验室基线约束持续监督实验室运行；任务约束则在具体任务执行期间生效。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约束判断需要同时观察资源侧与工作流侧。资源侧提供设备状态和测量数据，工作流侧提供当前步骤、任务变量和执行上下文。这样，同一个设备数值也能结合当前任务阶段进行判断。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约束条件触发时，系统可以采取警告、报警、停止或中止等相应动作。这些处理纳入统一执行语义，并通过相应接口和状态机作用于执行过程。约束在运行中持续观察并触发处理，并不是每条控制命令必须依次经过的一层转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到这里，执行对象、任务过程和运行规则都已说明。接下来把它们放在一起，看这些模型怎样协同完成一次设备执行。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前面介绍了框架由哪些模型构成，这一页说明它们怎样共同运行。横向看，工作流组织任务步骤、数据依赖和推进条件；纵向看，设备执行节点通过接口调用设备能力，设备状态机根据当前状态处理请求，再经 Adapter 向物理设备发令。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设备返回的状态、事件和数据，由 Adapter 转换后送回模型。状态机更新设备执行状态，工作流节点根据反馈和自身条件决定下一步。同时，约束观察资源状态与任务上下文，必要时通过同一套执行机制采取处理动作。这就把资源、过程、数据和边界放进了一次完整执行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回到开头的大模型问题。人工、任务流程和大模型可以提出不同来源的控制意图，但对设备的请求都进入共同的设备模型与状态机，遵守相应的能力、状态和约束规则。人工或大模型也可以调用设备模型的共同入口，并不需要先转换成某个工作流节点；共同之处在于设备执行始终经过模型及其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因此，统一链路既说明框架怎样运行，也明确了大模型如何参与：它能够提出请求和调整方案，但设备执行遵循这套共同规则。下面用一个具体的加热任务展示这条链路。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 SmartLab 2.0 原型中，我们以反应釜加热任务实例化上述模型与执行链路。资源模型给出反应釜的加热能力、相关属性和状态机；工作流中的加热节点绑定该能力，保存任务参数，并定义触发和完成条件；约束模型描述需要关注的运行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执行时，加热节点在条件满足后提出请求。设备状态机处理请求，并通过 MQTT Adapter 下发加热指令。反应釜持续返回温度和运行状态，Adapter 转换反馈，状态机更新模型，节点再根据这些反馈判断完成条件。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这里要区分反馈到达与任务完成：设备有温度反馈，并不意味着加热节点已经完成；只有节点规定的完成条件成立，才会推进后续步骤。若出现温度越界或设备异常，则由相应约束触发处理。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在实现上，工作流引擎和状态机引擎解释并执行模型，接口连接它们，MQTT Adapter 完成设备通信与协议映射。这个案例将前面的模型定义、运行机制和实际设备操作连接起来。在相同链路上，我们还可以进一步考虑仿真执行。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基于共同的执行链路，一个进一步的扩展方向是将仿真与实机的差异放在 Adapter 层。仿真 Adapter 接入模拟设备或环境，返回模拟状态和实验数据；实机 Adapter 接入物理设备，返回实际反馈。上层继续沿用同一套工作流、设备能力模型、状态机与约束规则。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这样，大模型提出方案和控制请求后，可以先通过统一链路进行仿真，根据返回的状态、数据及约束结果调整方案，再继续仿真，形成决策、执行、反馈和调整的闭环。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当仿真评估、约束检查和预设上机条件满足时，再由共同的上层模型进入实机执行。仿真 Adapter 并不直接向实机 Adapter 发出控制命令；两种执行方式都由统一模型和执行机制组织。切换到实机后，控制请求仍然遵守相同的状态与约束规则。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因此，仿真反馈闭环是建立在现有建模与执行机制之上的扩展方向，也使开头提出的大模型执行边界贯穿方案调整和设备操作。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这项工作的三个要点。第一，统一建模。我们从实验室任务执行出发，用资源、工作流和约束描述执行对象、任务过程与运行规则，并由跨层协议连接它们。第二，明确语义。变量空间、生命周期、接口、触发器和状态机，让任务如何推进、数据如何传递以及设备如何响应，都能在模型层面得到明确解释。第三，共同链路。人工、流程和大模型的设备请求使用同一套执行机制，仿真反馈闭环也可以在此基础上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这套框架的整体意义，是用模型表达具体实验室和任务，用统一的规则驱动执行。具体任务的结构与逻辑写在模型中，框架按照共同的执行语义运行，因此具有清晰的结构、可解释的过程和可复用的机制。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这也回应了汇报开头的问题：大模型可以参与决策与控制，而它对设备的作用始终落在统一的模型、状态和约束机制之内。我的汇报到这里，谢谢各位，欢迎提问。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4b51c1fd445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2d51fbee749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47c14edc54d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0dd480ba3a4e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275bad18940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5543e9487457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42ce82cdd437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7692cb8fcf417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c4396f9404d1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090c2f4754af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1e246297ba41d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D82A73-1D70-4EA8-B93C-4C4DA159F6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FA93EEB-B661-4EDD-81D5-CD79941957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9D339E-F950-46F5-BF6F-5069A745BD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CF6EAA-DDD5-456F-B57A-B7B86E8E59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A73E7E-25EF-4DCC-8651-C5E4CEEAED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83F83F-B096-4AA8-94BA-0C0568DE1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333838-3396-43BE-9F42-A8D03D4946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B08A12-2E43-4AB3-A6DC-77B3B55165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A2FA5B-5668-4AAF-8475-37807D1042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2D351C-81E3-4C1B-B0B0-296F108C2C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F9B0F8-B95A-4ACB-94C6-06B35CB1A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9ECAF2-A793-4572-85A7-DA55A135E5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5FC47D-6F2F-4D20-A61B-A32852B634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077E56-7047-4B96-B584-12C11DFB8E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D2185A-71BD-420C-B580-029083234E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CB21B1-C7D9-4C9E-BFF6-A855C71777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6E9FA0-CEE1-4AFA-98EE-58459C4C94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D85E740-79A7-4E92-90E3-F9EE06A11FD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42B17DA-9425-4661-A437-E26B78C6E6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FDE4D5D-2A07-4EA0-875D-B004B14AB4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C64D447-37E0-4EB7-94C8-24D9BFFCF6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7471DB-CF5A-4F38-9F86-5658B19859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FC87918-F7F1-44FC-B171-C7B93D144A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76ED8FC-E8C9-43BE-88E7-3A7D48CC7AB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4E484A0-5A81-40E2-8531-5A18960691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2F006B6-5490-4DFA-9D41-16DF82267C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7BA0EE3-F332-4412-88A9-48A7BB22F6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0D620C5-D97E-4765-B444-8FE87531DE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B93A624-3AF3-4455-83C8-A0883AF95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A2B114-C293-4650-825A-4CCD13ADC3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A848FA8-5BB7-43F5-875F-2768C51749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2EE4697-08AE-4402-BB0A-2770670ECE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6EC5564-C025-46DC-B099-91C66DC7DB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B7790DA-FFD3-4337-AB7E-FB2DCEEF25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710259B-37DB-41C3-8C74-582F564F01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89C81C5-E923-4EE5-8A63-7CF1D00AD3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400DAA-F612-43C2-8FCD-8A39B019FF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1D15C4-CF18-4C14-A2B0-EEA3606923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E4BFE94-066A-4C6E-B06A-69115A1E54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06328C5-4290-4CC1-B83F-7A39D37A8B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DA8E06A-F85A-4B72-B74A-E20470DDA0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CEA1F7-CCB5-4C99-85A2-E7E40BC731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362B44-1DF9-4335-9ADD-3FC41D5371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C3E2F39-AB12-4EAA-9FBF-214698AA2A2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2BFD044-FCCC-4D65-A16C-F037BBB2C1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0AC53E7-AF3F-4BC6-B0D4-44E7264120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3933047-B9A2-4F56-AAE1-2F5624829F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9ED09FB-96A3-485D-B3AA-274A991773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BDAF44-C155-487F-A52F-AE7F6E52C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D67D7A-2552-4441-90F9-78C6B0DDE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E485F7-9D44-4737-9232-3DC5BD15C9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33AC8C-0A97-4473-819D-E664238502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25A5AC-3D5B-4F0D-BE5A-38BB0ED933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53751E5-614A-4362-948F-BA8852668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41CDCB4-13A1-4CA0-BD64-611522CDE8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A1F701-4F53-4D05-BA25-C5D9CB33B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471F97-2BFA-4C80-950B-39721BADE4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1C0C98-B2C0-403A-9644-35DDBC5EC3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1009743813479d" /><Relationship Type="http://schemas.openxmlformats.org/officeDocument/2006/relationships/slideLayout" Target="/ppt/slideLayouts/slideLayout1.xml" Id="R6ab827c2b30e4c55" /><Relationship Type="http://schemas.openxmlformats.org/officeDocument/2006/relationships/slideLayout" Target="/ppt/slideLayouts/slideLayout2.xml" Id="R8fa5c52c1d0f4c17" /><Relationship Type="http://schemas.openxmlformats.org/officeDocument/2006/relationships/slideLayout" Target="/ppt/slideLayouts/slideLayout3.xml" Id="R56e8c6784130478b" /><Relationship Type="http://schemas.openxmlformats.org/officeDocument/2006/relationships/slideLayout" Target="/ppt/slideLayouts/slideLayout4.xml" Id="Rc869a47b655043de" /><Relationship Type="http://schemas.openxmlformats.org/officeDocument/2006/relationships/slideLayout" Target="/ppt/slideLayouts/slideLayout5.xml" Id="R2092844ff0944cf3" /><Relationship Type="http://schemas.openxmlformats.org/officeDocument/2006/relationships/slideLayout" Target="/ppt/slideLayouts/slideLayout6.xml" Id="Rb00724fe8faf40e5" /><Relationship Type="http://schemas.openxmlformats.org/officeDocument/2006/relationships/slideLayout" Target="/ppt/slideLayouts/slideLayout7.xml" Id="R24544d6994d34064" /><Relationship Type="http://schemas.openxmlformats.org/officeDocument/2006/relationships/slideLayout" Target="/ppt/slideLayouts/slideLayout8.xml" Id="R2f726859720d4104" /><Relationship Type="http://schemas.openxmlformats.org/officeDocument/2006/relationships/slideLayout" Target="/ppt/slideLayouts/slideLayout9.xml" Id="R23cd726e43444493" /><Relationship Type="http://schemas.openxmlformats.org/officeDocument/2006/relationships/slideLayout" Target="/ppt/slideLayouts/slideLayout10.xml" Id="Rabf7425857c447be" /><Relationship Type="http://schemas.openxmlformats.org/officeDocument/2006/relationships/slideLayout" Target="/ppt/slideLayouts/slideLayout11.xml" Id="R168df9de859d4c9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A0F67D8-486A-42CC-A570-A2DB79F91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38B5FE-789D-414D-BC22-FEAF6A43F0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27A10E-1D71-4174-A46D-A1402E39C13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762946-A2F8-4032-A9B1-2A7216007BD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23899D-105E-4CA7-A1A9-F5B6A281323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b827c2b30e4c55"/>
    <p:sldLayoutId xmlns:r="http://schemas.openxmlformats.org/officeDocument/2006/relationships" id="2147483650" r:id="R8fa5c52c1d0f4c17"/>
    <p:sldLayoutId xmlns:r="http://schemas.openxmlformats.org/officeDocument/2006/relationships" id="2147483651" r:id="R56e8c6784130478b"/>
    <p:sldLayoutId xmlns:r="http://schemas.openxmlformats.org/officeDocument/2006/relationships" id="2147483652" r:id="Rc869a47b655043de"/>
    <p:sldLayoutId xmlns:r="http://schemas.openxmlformats.org/officeDocument/2006/relationships" id="2147483653" r:id="R2092844ff0944cf3"/>
    <p:sldLayoutId xmlns:r="http://schemas.openxmlformats.org/officeDocument/2006/relationships" id="2147483654" r:id="Rb00724fe8faf40e5"/>
    <p:sldLayoutId xmlns:r="http://schemas.openxmlformats.org/officeDocument/2006/relationships" id="2147483655" r:id="R24544d6994d34064"/>
    <p:sldLayoutId xmlns:r="http://schemas.openxmlformats.org/officeDocument/2006/relationships" id="2147483656" r:id="R2f726859720d4104"/>
    <p:sldLayoutId xmlns:r="http://schemas.openxmlformats.org/officeDocument/2006/relationships" id="2147483657" r:id="R23cd726e43444493"/>
    <p:sldLayoutId xmlns:r="http://schemas.openxmlformats.org/officeDocument/2006/relationships" id="2147483658" r:id="Rabf7425857c447be"/>
    <p:sldLayoutId xmlns:r="http://schemas.openxmlformats.org/officeDocument/2006/relationships" id="2147483659" r:id="R168df9de859d4c9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1ca7f4e5884d88" /><Relationship Type="http://schemas.openxmlformats.org/officeDocument/2006/relationships/notesSlide" Target="/ppt/notesSlides/notesSlide1.xml" Id="R49af8bb2531843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4e36a83e944657" /><Relationship Type="http://schemas.openxmlformats.org/officeDocument/2006/relationships/notesSlide" Target="/ppt/notesSlides/notesSlide2.xml" Id="R9016b49e04f943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31c66154734141" /><Relationship Type="http://schemas.openxmlformats.org/officeDocument/2006/relationships/notesSlide" Target="/ppt/notesSlides/notesSlide3.xml" Id="R8b7ee73dfd1742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7d7900092c4421" /><Relationship Type="http://schemas.openxmlformats.org/officeDocument/2006/relationships/notesSlide" Target="/ppt/notesSlides/notesSlide4.xml" Id="R348e47a2fc534b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44763502e9461a" /><Relationship Type="http://schemas.openxmlformats.org/officeDocument/2006/relationships/notesSlide" Target="/ppt/notesSlides/notesSlide5.xml" Id="Rb5cc4489415243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835fad742f4ed7" /><Relationship Type="http://schemas.openxmlformats.org/officeDocument/2006/relationships/notesSlide" Target="/ppt/notesSlides/notesSlide6.xml" Id="Re4e64888cf7c46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b416cf571946d3" /><Relationship Type="http://schemas.openxmlformats.org/officeDocument/2006/relationships/notesSlide" Target="/ppt/notesSlides/notesSlide7.xml" Id="Rd361e8ef2cfb49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859711780842de" /><Relationship Type="http://schemas.openxmlformats.org/officeDocument/2006/relationships/image" Target="/ppt/media/image.png" Id="Re5f6b4f0f53442cb" /><Relationship Type="http://schemas.openxmlformats.org/officeDocument/2006/relationships/notesSlide" Target="/ppt/notesSlides/notesSlide8.xml" Id="Rd90e73876c2346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36d495fdfb41e6" /><Relationship Type="http://schemas.openxmlformats.org/officeDocument/2006/relationships/notesSlide" Target="/ppt/notesSlides/notesSlide9.xml" Id="Rbb6c933cb8fa43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aa0881a1ff425f" /><Relationship Type="http://schemas.openxmlformats.org/officeDocument/2006/relationships/notesSlide" Target="/ppt/notesSlides/notesSlide10.xml" Id="R941afa73e1f345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f84c3a8e724123" /><Relationship Type="http://schemas.openxmlformats.org/officeDocument/2006/relationships/notesSlide" Target="/ppt/notesSlides/notesSlide11.xml" Id="Rbb29a0d102c142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5C5DCD-87BC-43E2-BBDB-AEF72E4D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0C1B83E-440C-4F71-94C4-A4D46618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DCDD001-6585-48CE-9344-6C573800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7448AEF-2B2E-4CD7-8133-E4336C04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9B0AFD4-E5C9-46ED-9D9C-63C16E84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008B65-5010-4543-A0D8-DD5A0AC2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845814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26B1B75-1C5E-46B7-9361-F9B830F1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AD1AC5-2B50-4084-AEAF-C916833F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5A4DF6-BF5E-43B3-84E0-0F2A2BEA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302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背景与问题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统一建模框架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关键执行机制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实现与案例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扩展与展望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总结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4E6B226-3550-4006-BB09-A240DC9F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汇报主线：先说明为什么需要统一建模，再说明模型如何沿共同链路运行。</a:t>
            </a:r>
            <a:endParaRPr sz="17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3D3F77-3321-45FE-B1EA-D64722A3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6ABCC67-3F6A-4719-BA6E-3532B2F0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708866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094F74-2AE9-4D16-9669-CCBCA51C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953B72A-C167-46EE-B5FC-1168B268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84227A1-CC57-411C-85F7-2A0EF9FB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4D2C09-1D21-45B6-B56A-3F1795D8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CD48E652-FF36-4A77-8DE3-2C66887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1275"/>
            <a:ext cx="10620375" cy="76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303030"/>
                </a:solidFill>
              </a:rPr>
              <a:t>随着大模型发展，智慧化学实验室从自动执行任务流程，逐步走向大模型参与决策与控制。</a:t>
            </a:r>
            <a:endParaRPr sz="20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DADDF087-E004-4D39-9CCC-5CAB5B15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615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一次任务执行始终需要说清四件事：</a:t>
            </a:r>
            <a:endParaRPr sz="20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8AB6B2EF-3B20-4108-B497-90B9B2E1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7ED547A8-CB11-4269-834D-A4E16673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如何组织与调用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nchor-31">
            <a:extLst xmlns:a="http://schemas.openxmlformats.org/drawingml/2006/main">
              <a:ext uri="{FF2B5EF4-FFF2-40B4-BE49-F238E27FC236}">
                <a16:creationId xmlns:a16="http://schemas.microsoft.com/office/drawing/2014/main" id="{00DE64D7-618C-4772-B9F5-7D67869C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32">
            <a:extLst xmlns:a="http://schemas.openxmlformats.org/drawingml/2006/main">
              <a:ext uri="{FF2B5EF4-FFF2-40B4-BE49-F238E27FC236}">
                <a16:creationId xmlns:a16="http://schemas.microsoft.com/office/drawing/2014/main" id="{53F00F1F-C86F-4020-884E-5D95C2CA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" name="直接箭头连接符 42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718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56E4F23E-9CD7-4F62-B568-578FE49D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88C522B4-35FA-465F-BFCD-8B799D89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如何随执行演化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nchor-35">
            <a:extLst xmlns:a="http://schemas.openxmlformats.org/drawingml/2006/main">
              <a:ext uri="{FF2B5EF4-FFF2-40B4-BE49-F238E27FC236}">
                <a16:creationId xmlns:a16="http://schemas.microsoft.com/office/drawing/2014/main" id="{0DC9EB49-BD8E-48C0-9EC0-FC6347DD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36">
            <a:extLst xmlns:a="http://schemas.openxmlformats.org/drawingml/2006/main">
              <a:ext uri="{FF2B5EF4-FFF2-40B4-BE49-F238E27FC236}">
                <a16:creationId xmlns:a16="http://schemas.microsoft.com/office/drawing/2014/main" id="{0B29A7E1-6B07-4AAA-9A1C-AF5431E7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" name="直接箭头连接符 47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89597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3311CE27-D4D4-4060-8090-B6185E7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-38">
            <a:extLst xmlns:a="http://schemas.openxmlformats.org/drawingml/2006/main">
              <a:ext uri="{FF2B5EF4-FFF2-40B4-BE49-F238E27FC236}">
                <a16:creationId xmlns:a16="http://schemas.microsoft.com/office/drawing/2014/main" id="{BCB02C0D-BDDC-4A66-B8DB-7A065363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如何产生与传递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83DBB4F6-523B-4BBE-979E-6A3BEA0C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E698F993-B339-4050-8689-D54C26CF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直接箭头连接符 52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201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41">
            <a:extLst xmlns:a="http://schemas.openxmlformats.org/drawingml/2006/main">
              <a:ext uri="{FF2B5EF4-FFF2-40B4-BE49-F238E27FC236}">
                <a16:creationId xmlns:a16="http://schemas.microsoft.com/office/drawing/2014/main" id="{44EC7FE7-2EC4-4B9F-BA54-FE8DE89D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-42">
            <a:extLst xmlns:a="http://schemas.openxmlformats.org/drawingml/2006/main">
              <a:ext uri="{FF2B5EF4-FFF2-40B4-BE49-F238E27FC236}">
                <a16:creationId xmlns:a16="http://schemas.microsoft.com/office/drawing/2014/main" id="{5F25DE97-76BE-4ECB-BA29-90ABC1EB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执行是否处于允许范围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-43">
            <a:extLst xmlns:a="http://schemas.openxmlformats.org/drawingml/2006/main">
              <a:ext uri="{FF2B5EF4-FFF2-40B4-BE49-F238E27FC236}">
                <a16:creationId xmlns:a16="http://schemas.microsoft.com/office/drawing/2014/main" id="{A90D8CF9-049C-4304-A405-06D91414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6535"/>
            <a:ext cx="10648950" cy="71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大模型接入后，执行边界问题更加突出：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大模型可以提出什么请求，这些请求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又必须在什么条件下才能执行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？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188B48C4-314D-4B59-A62F-5FFA87DE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821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基本原则：大模型不能拥有特权旁路，所有控制请求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进入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同一套执行链路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-45">
            <a:extLst xmlns:a="http://schemas.openxmlformats.org/drawingml/2006/main">
              <a:ext uri="{FF2B5EF4-FFF2-40B4-BE49-F238E27FC236}">
                <a16:creationId xmlns:a16="http://schemas.microsoft.com/office/drawing/2014/main" id="{02F1D17F-43DB-4EB0-A3F9-0A238E1B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398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因此，需要一套可执行框架，将资源组织、状态演化、数据传递与边界检查统一建模。</a:t>
            </a:r>
            <a:endParaRPr sz="1950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anchor-46">
            <a:extLst xmlns:a="http://schemas.openxmlformats.org/drawingml/2006/main">
              <a:ext uri="{FF2B5EF4-FFF2-40B4-BE49-F238E27FC236}">
                <a16:creationId xmlns:a16="http://schemas.microsoft.com/office/drawing/2014/main" id="{80434F56-51A4-4BB2-833F-E87FB4FF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47">
            <a:extLst xmlns:a="http://schemas.openxmlformats.org/drawingml/2006/main">
              <a:ext uri="{FF2B5EF4-FFF2-40B4-BE49-F238E27FC236}">
                <a16:creationId xmlns:a16="http://schemas.microsoft.com/office/drawing/2014/main" id="{DE7E533E-7ED3-4F50-9CDC-2D5B9206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" name="直接箭头连接符 60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48">
            <a:extLst xmlns:a="http://schemas.openxmlformats.org/drawingml/2006/main">
              <a:ext uri="{FF2B5EF4-FFF2-40B4-BE49-F238E27FC236}">
                <a16:creationId xmlns:a16="http://schemas.microsoft.com/office/drawing/2014/main" id="{F345A4C0-A3CD-4DBA-A01D-9685BAB9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大模型的参与，使统一执行边界的需求更加突出。</a:t>
            </a:r>
            <a:endParaRPr sz="16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73601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B086AE-5201-491D-A278-E39FC6D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C20172E-F608-485F-8486-A8F3DA5A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统一建模框架：从任务执行到模型组织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70FC69A-8BE7-4707-BB04-E85B8098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CBE421F-8037-42B5-AE25-F9E7C2E7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ed-text-1">
            <a:extLst xmlns:a="http://schemas.openxmlformats.org/drawingml/2006/main">
              <a:ext uri="{FF2B5EF4-FFF2-40B4-BE49-F238E27FC236}">
                <a16:creationId xmlns:a16="http://schemas.microsoft.com/office/drawing/2014/main" id="{DC8B9D81-E1EC-43BE-A42F-D09C234A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从一次任务出发，分别建模执行对象、任务过程与运行规则。</a:t>
            </a:r>
          </a:p>
        </p:txBody>
      </p:sp>
      <p:sp>
        <p:nvSpPr>
          <p:cNvPr id="19" name="edited-text-2">
            <a:extLst xmlns:a="http://schemas.openxmlformats.org/drawingml/2006/main">
              <a:ext uri="{FF2B5EF4-FFF2-40B4-BE49-F238E27FC236}">
                <a16:creationId xmlns:a16="http://schemas.microsoft.com/office/drawing/2014/main" id="{FA9DC956-0C83-4A10-A9CC-2962A0B7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执行对象</a:t>
            </a:r>
          </a:p>
        </p:txBody>
      </p:sp>
      <p:sp>
        <p:nvSpPr>
          <p:cNvPr id="20" name="edited-text-3">
            <a:extLst xmlns:a="http://schemas.openxmlformats.org/drawingml/2006/main">
              <a:ext uri="{FF2B5EF4-FFF2-40B4-BE49-F238E27FC236}">
                <a16:creationId xmlns:a16="http://schemas.microsoft.com/office/drawing/2014/main" id="{E8B5FA55-D23B-48EA-B6C6-5D4071EF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调用什么设备？</a:t>
            </a:r>
          </a:p>
        </p:txBody>
      </p:sp>
      <p:sp>
        <p:nvSpPr>
          <p:cNvPr id="21" name="edited-text-4">
            <a:extLst xmlns:a="http://schemas.openxmlformats.org/drawingml/2006/main">
              <a:ext uri="{FF2B5EF4-FFF2-40B4-BE49-F238E27FC236}">
                <a16:creationId xmlns:a16="http://schemas.microsoft.com/office/drawing/2014/main" id="{9F8532E3-F109-4DE7-AC27-CD9CE0FD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336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0">
                <a:solidFill>
                  <a:srgbClr val="2C78AD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C78A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2" name="framework-panel-5">
            <a:extLst xmlns:a="http://schemas.openxmlformats.org/drawingml/2006/main">
              <a:ext uri="{FF2B5EF4-FFF2-40B4-BE49-F238E27FC236}">
                <a16:creationId xmlns:a16="http://schemas.microsoft.com/office/drawing/2014/main" id="{08E2199C-D7A0-4D24-9FFD-AC619D28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885950"/>
            <a:ext cx="7629525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74A2C7"/>
            </a:solidFill>
          </a:ln>
        </p:spPr>
      </p:sp>
      <p:sp>
        <p:nvSpPr>
          <p:cNvPr id="23" name="edited-text-6">
            <a:extLst xmlns:a="http://schemas.openxmlformats.org/drawingml/2006/main">
              <a:ext uri="{FF2B5EF4-FFF2-40B4-BE49-F238E27FC236}">
                <a16:creationId xmlns:a16="http://schemas.microsoft.com/office/drawing/2014/main" id="{49C31AFF-8E46-4042-828D-9A3BCDB0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R  资源层</a:t>
            </a:r>
          </a:p>
        </p:txBody>
      </p:sp>
      <p:sp>
        <p:nvSpPr>
          <p:cNvPr id="24" name="edited-text-7">
            <a:extLst xmlns:a="http://schemas.openxmlformats.org/drawingml/2006/main">
              <a:ext uri="{FF2B5EF4-FFF2-40B4-BE49-F238E27FC236}">
                <a16:creationId xmlns:a16="http://schemas.microsoft.com/office/drawing/2014/main" id="{C544EE14-D27F-42B1-95EE-C8E187CB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19300"/>
            <a:ext cx="468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6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设备能力与属性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6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状态机与执行反馈</a:t>
            </a:r>
          </a:p>
        </p:txBody>
      </p:sp>
      <p:sp>
        <p:nvSpPr>
          <p:cNvPr id="25" name="edited-text-8">
            <a:extLst xmlns:a="http://schemas.openxmlformats.org/drawingml/2006/main">
              <a:ext uri="{FF2B5EF4-FFF2-40B4-BE49-F238E27FC236}">
                <a16:creationId xmlns:a16="http://schemas.microsoft.com/office/drawing/2014/main" id="{4C4EC03B-8A71-42C3-80F1-30F89387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75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任务过程</a:t>
            </a:r>
          </a:p>
        </p:txBody>
      </p:sp>
      <p:sp>
        <p:nvSpPr>
          <p:cNvPr id="26" name="edited-text-9">
            <a:extLst xmlns:a="http://schemas.openxmlformats.org/drawingml/2006/main">
              <a:ext uri="{FF2B5EF4-FFF2-40B4-BE49-F238E27FC236}">
                <a16:creationId xmlns:a16="http://schemas.microsoft.com/office/drawing/2014/main" id="{C132B304-C63B-43D2-8BB5-73941BE5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步骤与数据如何组织？</a:t>
            </a:r>
          </a:p>
        </p:txBody>
      </p:sp>
      <p:sp>
        <p:nvSpPr>
          <p:cNvPr id="27" name="edited-text-10">
            <a:extLst xmlns:a="http://schemas.openxmlformats.org/drawingml/2006/main">
              <a:ext uri="{FF2B5EF4-FFF2-40B4-BE49-F238E27FC236}">
                <a16:creationId xmlns:a16="http://schemas.microsoft.com/office/drawing/2014/main" id="{A7C53407-793A-4D09-B474-D2260FE2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2099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0">
                <a:solidFill>
                  <a:srgbClr val="2C78AD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C78A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8" name="framework-panel-11">
            <a:extLst xmlns:a="http://schemas.openxmlformats.org/drawingml/2006/main">
              <a:ext uri="{FF2B5EF4-FFF2-40B4-BE49-F238E27FC236}">
                <a16:creationId xmlns:a16="http://schemas.microsoft.com/office/drawing/2014/main" id="{D18D15EB-136B-4D10-8E29-220A5BC0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62275"/>
            <a:ext cx="7629525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6E7F5"/>
          </a:solidFill>
          <a:ln xmlns:a="http://schemas.openxmlformats.org/drawingml/2006/main" w="9525">
            <a:solidFill>
              <a:srgbClr val="74A2C7"/>
            </a:solidFill>
          </a:ln>
        </p:spPr>
      </p:sp>
      <p:sp>
        <p:nvSpPr>
          <p:cNvPr id="29" name="edited-text-12">
            <a:extLst xmlns:a="http://schemas.openxmlformats.org/drawingml/2006/main">
              <a:ext uri="{FF2B5EF4-FFF2-40B4-BE49-F238E27FC236}">
                <a16:creationId xmlns:a16="http://schemas.microsoft.com/office/drawing/2014/main" id="{BCDC57B0-24EA-4FA6-9BC6-37869FEF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28975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F  工作流层</a:t>
            </a:r>
          </a:p>
        </p:txBody>
      </p:sp>
      <p:sp>
        <p:nvSpPr>
          <p:cNvPr id="30" name="edited-text-13">
            <a:extLst xmlns:a="http://schemas.openxmlformats.org/drawingml/2006/main">
              <a:ext uri="{FF2B5EF4-FFF2-40B4-BE49-F238E27FC236}">
                <a16:creationId xmlns:a16="http://schemas.microsoft.com/office/drawing/2014/main" id="{6F4D89C9-09B9-4324-AB62-DD2DC7DD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95625"/>
            <a:ext cx="468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6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任务步骤与数据依赖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6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节点、接口与触发器</a:t>
            </a:r>
          </a:p>
        </p:txBody>
      </p:sp>
      <p:sp>
        <p:nvSpPr>
          <p:cNvPr id="31" name="edited-text-14">
            <a:extLst xmlns:a="http://schemas.openxmlformats.org/drawingml/2006/main">
              <a:ext uri="{FF2B5EF4-FFF2-40B4-BE49-F238E27FC236}">
                <a16:creationId xmlns:a16="http://schemas.microsoft.com/office/drawing/2014/main" id="{056BF958-73FF-40AC-BF92-551F65EC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运行规则</a:t>
            </a:r>
          </a:p>
        </p:txBody>
      </p:sp>
      <p:sp>
        <p:nvSpPr>
          <p:cNvPr id="32" name="edited-text-15">
            <a:extLst xmlns:a="http://schemas.openxmlformats.org/drawingml/2006/main">
              <a:ext uri="{FF2B5EF4-FFF2-40B4-BE49-F238E27FC236}">
                <a16:creationId xmlns:a16="http://schemas.microsoft.com/office/drawing/2014/main" id="{896F889F-5CF4-409D-9E3B-39288E11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什么条件下可以执行？</a:t>
            </a:r>
          </a:p>
        </p:txBody>
      </p:sp>
      <p:sp>
        <p:nvSpPr>
          <p:cNvPr id="33" name="edited-text-16">
            <a:extLst xmlns:a="http://schemas.openxmlformats.org/drawingml/2006/main">
              <a:ext uri="{FF2B5EF4-FFF2-40B4-BE49-F238E27FC236}">
                <a16:creationId xmlns:a16="http://schemas.microsoft.com/office/drawing/2014/main" id="{E3D5B8EE-6A8A-4972-9A37-51838DFF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862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0">
                <a:solidFill>
                  <a:srgbClr val="2C78AD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C78A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4" name="framework-panel-17">
            <a:extLst xmlns:a="http://schemas.openxmlformats.org/drawingml/2006/main">
              <a:ext uri="{FF2B5EF4-FFF2-40B4-BE49-F238E27FC236}">
                <a16:creationId xmlns:a16="http://schemas.microsoft.com/office/drawing/2014/main" id="{4FA25D13-0BDF-491E-BE8B-D32F677F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038600"/>
            <a:ext cx="7629525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74A2C7"/>
            </a:solidFill>
          </a:ln>
        </p:spPr>
      </p:sp>
      <p:sp>
        <p:nvSpPr>
          <p:cNvPr id="35" name="edited-text-18">
            <a:extLst xmlns:a="http://schemas.openxmlformats.org/drawingml/2006/main">
              <a:ext uri="{FF2B5EF4-FFF2-40B4-BE49-F238E27FC236}">
                <a16:creationId xmlns:a16="http://schemas.microsoft.com/office/drawing/2014/main" id="{3004578F-689E-4435-9D0D-E3AB3327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05300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C  约束层</a:t>
            </a:r>
          </a:p>
        </p:txBody>
      </p:sp>
      <p:sp>
        <p:nvSpPr>
          <p:cNvPr id="36" name="edited-text-19">
            <a:extLst xmlns:a="http://schemas.openxmlformats.org/drawingml/2006/main">
              <a:ext uri="{FF2B5EF4-FFF2-40B4-BE49-F238E27FC236}">
                <a16:creationId xmlns:a16="http://schemas.microsoft.com/office/drawing/2014/main" id="{5A6FE50A-8CA2-4479-B269-6CA9392D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71950"/>
            <a:ext cx="468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6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观察资源状态与任务上下文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6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界定执行边界与处理动作</a:t>
            </a:r>
          </a:p>
        </p:txBody>
      </p:sp>
      <p:sp>
        <p:nvSpPr>
          <p:cNvPr id="37" name="framework-panel-20">
            <a:extLst xmlns:a="http://schemas.openxmlformats.org/drawingml/2006/main">
              <a:ext uri="{FF2B5EF4-FFF2-40B4-BE49-F238E27FC236}">
                <a16:creationId xmlns:a16="http://schemas.microsoft.com/office/drawing/2014/main" id="{F8D89779-ABA7-4C1F-B9B4-1F12446D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8966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E7F5"/>
          </a:solidFill>
          <a:ln xmlns:a="http://schemas.openxmlformats.org/drawingml/2006/main" w="9525">
            <a:solidFill>
              <a:srgbClr val="74A2C7"/>
            </a:solidFill>
          </a:ln>
        </p:spPr>
      </p:sp>
      <p:sp>
        <p:nvSpPr>
          <p:cNvPr id="38" name="edited-text-21">
            <a:extLst xmlns:a="http://schemas.openxmlformats.org/drawingml/2006/main">
              <a:ext uri="{FF2B5EF4-FFF2-40B4-BE49-F238E27FC236}">
                <a16:creationId xmlns:a16="http://schemas.microsoft.com/office/drawing/2014/main" id="{859832AA-F10C-4C9E-837B-AE5F0699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1020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Π  跨层协议</a:t>
            </a:r>
          </a:p>
        </p:txBody>
      </p:sp>
      <p:sp>
        <p:nvSpPr>
          <p:cNvPr id="39" name="edited-text-22">
            <a:extLst xmlns:a="http://schemas.openxmlformats.org/drawingml/2006/main">
              <a:ext uri="{FF2B5EF4-FFF2-40B4-BE49-F238E27FC236}">
                <a16:creationId xmlns:a16="http://schemas.microsoft.com/office/drawing/2014/main" id="{11AA9AB7-1945-40A9-8A00-9C5FE4EF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19725"/>
            <a:ext cx="7800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约定各层之间的控制信号、数据类型、端口关系与反馈</a:t>
            </a:r>
          </a:p>
        </p:txBody>
      </p:sp>
      <p:sp>
        <p:nvSpPr>
          <p:cNvPr id="40" name="edited-text-23">
            <a:extLst xmlns:a="http://schemas.openxmlformats.org/drawingml/2006/main">
              <a:ext uri="{FF2B5EF4-FFF2-40B4-BE49-F238E27FC236}">
                <a16:creationId xmlns:a16="http://schemas.microsoft.com/office/drawing/2014/main" id="{B8FCA327-3A93-42DA-9240-88005EE7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L = ⟨R, F, C, Π⟩    模型描述任务，统一执行语义组织运行。</a:t>
            </a:r>
          </a:p>
        </p:txBody>
      </p:sp>
    </p:spTree>
    <p:extLst>
      <p:ext uri="{BB962C8B-B14F-4D97-AF65-F5344CB8AC3E}">
        <p14:creationId xmlns:p14="http://schemas.microsoft.com/office/powerpoint/2010/main" val="10640164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D9BDE3-8A13-44E2-AC20-925D79A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9C8539E-42AB-4026-96CE-D0090B9E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23232C-0C10-4D0F-837A-A76FE677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685800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资源层将设备建成可执行对象模型，由能力模型与状态机构成。</a:t>
            </a:r>
            <a:endParaRPr sz="180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能力模型定义设备属性、可用能力、参数、接口、数据端口和内禀约束。</a:t>
            </a:r>
            <a:endParaRPr sz="180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状态机接收控制请求，依据当前状态处理请求，经 Adapter 发令并回收反馈。</a:t>
            </a:r>
            <a:endParaRPr sz="180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流程、人工和大模型的设备控制请求，都必须经过状态机。</a:t>
            </a:r>
            <a:endParaRPr sz="180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8872A68-79A5-4735-951D-B202F3AC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371600"/>
            <a:ext cx="411480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E6F5"/>
          </a:solidFill>
          <a:ln xmlns:a="http://schemas.openxmlformats.org/drawingml/2006/main" w="1905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设备对象模型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Bef>
                <a:spcPts val="0"/>
              </a:spcBef>
              <a:spcAft>
                <a:spcPts val="700"/>
              </a:spcAft>
              <a:buNone/>
            </a:pP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能力模型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定义可用能力、参数与端口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Bef>
                <a:spcPts val="0"/>
              </a:spcBef>
              <a:spcAft>
                <a:spcPts val="700"/>
              </a:spcAft>
              <a:buNone/>
            </a:pP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状态机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管理状态演化、发令与反馈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553BA0-9F53-4003-84BD-923E5FA0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C461FD1-D3BF-4AC2-9330-93483A9A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377754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5248F6-CDBF-4A61-9D16-94411E77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89CE25A-15EB-4BFA-8C46-77C8DD0D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A840E6D-9188-49A3-B5C4-CB38A5A0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工作流组织任务步骤及数据依赖，节点通过接口和触发器协同执行。</a:t>
            </a:r>
            <a:endParaRPr sz="1875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接口传递控制信号，端口传递实验数据。每个执行节点绑定设备的一项能力，并保存任务变量和生命周期状态。</a:t>
            </a:r>
            <a:endParaRPr sz="1875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功能节点处理分支、同步和等待，触发器在条件成立时更新状态、发出请求或激活后续步骤。</a:t>
            </a:r>
            <a:endParaRPr sz="1875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6914BB-DEFE-495A-BC44-B82AFB21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530816-1304-4C93-91A2-7DAEFD27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082133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B1C6A2-9964-4B27-B63C-DC322063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E63012E-0EBE-49EA-BCC5-DB7071EA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784DB54-8096-49FE-8B5C-BBCC4763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658368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17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三类约束：</a:t>
            </a:r>
            <a:endParaRPr sz="17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lvl="1" algn="l">
              <a:spcAft>
                <a:spcPts val="1000"/>
              </a:spcAft>
              <a:buNone/>
            </a:pPr>
            <a:r>
              <a:rPr sz="15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   – 内禀约束 —— 状态机本地处理</a:t>
            </a:r>
            <a:endParaRPr sz="15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lvl="1" algn="l">
              <a:spcAft>
                <a:spcPts val="1000"/>
              </a:spcAft>
              <a:buNone/>
            </a:pPr>
            <a:r>
              <a:rPr sz="15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   – 实验室基线约束 —— 持续监督运行</a:t>
            </a:r>
            <a:endParaRPr sz="15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lvl="1" algn="l">
              <a:spcAft>
                <a:spcPts val="1000"/>
              </a:spcAft>
              <a:buNone/>
            </a:pPr>
            <a:r>
              <a:rPr sz="15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   – 任务约束 —— 在任务执行期间生效</a:t>
            </a:r>
            <a:endParaRPr sz="15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17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观察空间同时来自资源侧与工作流侧</a:t>
            </a:r>
            <a:endParaRPr sz="17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17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处理：警告 / 报警 / 停止 / 中止</a:t>
            </a:r>
            <a:endParaRPr sz="17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1700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约束观察与处理纳入统一执行语义</a:t>
            </a:r>
            <a:endParaRPr sz="1700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E507EE8-52BD-45D7-AC18-E0D7B184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80160"/>
            <a:ext cx="438912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E6F5"/>
          </a:solidFill>
          <a:ln xmlns:a="http://schemas.openxmlformats.org/drawingml/2006/main" w="1905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内禀约束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设备状态机本地处理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Bef>
                <a:spcPts val="0"/>
              </a:spcBef>
              <a:spcAft>
                <a:spcPts val="700"/>
              </a:spcAft>
              <a:buNone/>
            </a:pP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持续监督实验室运行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Bef>
                <a:spcPts val="0"/>
              </a:spcBef>
              <a:spcAft>
                <a:spcPts val="700"/>
              </a:spcAft>
              <a:buNone/>
            </a:pP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任务约束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在任务执行期间生效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55386A-3E7C-42AD-9DD2-914F5B96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1B731-590D-4F28-8D1B-BB4B1C5C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964549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BD4CE8-8646-4D4E-8FA6-C1AFD6D5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FB768B-1BCB-4E9E-8BFC-04BD7FA2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E03A84-C4BA-49ED-B036-08C9C2B2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11247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三层模型通过控制请求、状态反馈与约束处理，共同完成一次设备执行。</a:t>
            </a:r>
            <a:endParaRPr sz="1725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0E94C6F-302F-482E-95A7-5ED362D9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471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6E28CC8-2B14-4E1B-BA82-79633A3F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9072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流程 / 人 / 大模型  →  设备模型（能力 + 状态机）  →  Adapter  →  物理设备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99DDCD7-309F-47D4-982E-1B1E31CF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3657600" cy="32004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850"/>
              </a:spcAft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1B0381F-8EB4-4B3D-B832-89904A07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05475"/>
            <a:ext cx="4572000" cy="51435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控制意图来源不同，设备执行链路相同。</a:t>
            </a:r>
            <a:endParaRPr sz="17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DF0FA4-693B-4362-8C15-43CED575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E7C17B-1DAB-4E2C-BE62-A8E05115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8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6b4f0f53442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00350"/>
            <a:ext cx="6334125" cy="3331178"/>
          </a:xfrm>
          <a:prstGeom xmlns:a="http://schemas.openxmlformats.org/drawingml/2006/main" prst="rect">
            <a:avLst/>
          </a:prstGeom>
        </p:spPr>
      </p:pic>
      <p:sp>
        <p:nvSpPr>
          <p:cNvPr id="13" name="edited-text-24">
            <a:extLst xmlns:a="http://schemas.openxmlformats.org/drawingml/2006/main">
              <a:ext uri="{FF2B5EF4-FFF2-40B4-BE49-F238E27FC236}">
                <a16:creationId xmlns:a16="http://schemas.microsoft.com/office/drawing/2014/main" id="{060A86B2-1871-4263-AB24-F343796A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62250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任务组织：工作流决定步骤</a:t>
            </a:r>
          </a:p>
        </p:txBody>
      </p:sp>
      <p:sp>
        <p:nvSpPr>
          <p:cNvPr id="14" name="edited-text-25">
            <a:extLst xmlns:a="http://schemas.openxmlformats.org/drawingml/2006/main">
              <a:ext uri="{FF2B5EF4-FFF2-40B4-BE49-F238E27FC236}">
                <a16:creationId xmlns:a16="http://schemas.microsoft.com/office/drawing/2014/main" id="{6E61A9F4-C731-4F9E-8F7E-A77A2F11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90875"/>
            <a:ext cx="4400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安排顺序、数据依赖与推进条件。</a:t>
            </a:r>
          </a:p>
        </p:txBody>
      </p:sp>
      <p:sp>
        <p:nvSpPr>
          <p:cNvPr id="15" name="edited-text-26">
            <a:extLst xmlns:a="http://schemas.openxmlformats.org/drawingml/2006/main">
              <a:ext uri="{FF2B5EF4-FFF2-40B4-BE49-F238E27FC236}">
                <a16:creationId xmlns:a16="http://schemas.microsoft.com/office/drawing/2014/main" id="{E9BEC891-76EB-4A89-85FA-EAB7D8D8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24275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设备执行：状态机处理请求</a:t>
            </a:r>
          </a:p>
        </p:txBody>
      </p:sp>
      <p:sp>
        <p:nvSpPr>
          <p:cNvPr id="16" name="edited-text-27">
            <a:extLst xmlns:a="http://schemas.openxmlformats.org/drawingml/2006/main">
              <a:ext uri="{FF2B5EF4-FFF2-40B4-BE49-F238E27FC236}">
                <a16:creationId xmlns:a16="http://schemas.microsoft.com/office/drawing/2014/main" id="{C8848CF2-E65B-41BD-9AF6-9A0EE465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52900"/>
            <a:ext cx="4400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经 Adapter 发令，并接收状态反馈。</a:t>
            </a:r>
          </a:p>
        </p:txBody>
      </p:sp>
      <p:sp>
        <p:nvSpPr>
          <p:cNvPr id="17" name="edited-text-28">
            <a:extLst xmlns:a="http://schemas.openxmlformats.org/drawingml/2006/main">
              <a:ext uri="{FF2B5EF4-FFF2-40B4-BE49-F238E27FC236}">
                <a16:creationId xmlns:a16="http://schemas.microsoft.com/office/drawing/2014/main" id="{6203ED71-CA99-475E-AA07-86903A77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86300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边界监督：约束贯穿执行</a:t>
            </a:r>
          </a:p>
        </p:txBody>
      </p:sp>
      <p:sp>
        <p:nvSpPr>
          <p:cNvPr id="18" name="edited-text-29">
            <a:extLst xmlns:a="http://schemas.openxmlformats.org/drawingml/2006/main">
              <a:ext uri="{FF2B5EF4-FFF2-40B4-BE49-F238E27FC236}">
                <a16:creationId xmlns:a16="http://schemas.microsoft.com/office/drawing/2014/main" id="{F12DE04E-B559-4C26-BAE4-136C5459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114925"/>
            <a:ext cx="4400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观察资源与任务状态，触发处理。</a:t>
            </a:r>
          </a:p>
        </p:txBody>
      </p:sp>
    </p:spTree>
    <p:extLst>
      <p:ext uri="{BB962C8B-B14F-4D97-AF65-F5344CB8AC3E}">
        <p14:creationId xmlns:p14="http://schemas.microsoft.com/office/powerpoint/2010/main" val="20033768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D4173D-788A-4254-A27F-326AFCD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EC755AA-B9CC-425C-8D9B-C6AB820C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EF90B06-DF20-4FBC-BDE7-E47A0208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在 SmartLab 2.0 原型中，以反应釜加热实例化模型与执行链路。</a:t>
            </a:r>
            <a:endParaRPr sz="1500" b="1">
              <a:solidFill>
                <a:srgbClr val="2E75B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8CA194E-001E-46E1-8254-24966ADF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685800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00"/>
              </a:spcAft>
              <a:buNone/>
            </a:pPr>
            <a:r>
              <a:rPr sz="16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加热节点绑定设备能力，给定任务参数与完成条件</a:t>
            </a:r>
            <a:endParaRPr sz="16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200"/>
              </a:spcAft>
              <a:buNone/>
            </a:pPr>
            <a:r>
              <a:rPr sz="16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状态机处理请求，经 MQTT Adapter 控制反应釜</a:t>
            </a:r>
            <a:endParaRPr sz="16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200"/>
              </a:spcAft>
              <a:buNone/>
            </a:pPr>
            <a:r>
              <a:rPr sz="16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温度与运行状态回传，节点判断是否满足完成条件</a:t>
            </a:r>
            <a:endParaRPr sz="16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200"/>
              </a:spcAft>
              <a:buNone/>
            </a:pPr>
            <a:r>
              <a:rPr sz="16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满足条件后推进后续步骤；越界或异常触发约束处理</a:t>
            </a:r>
            <a:endParaRPr sz="16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200"/>
              </a:spcAft>
              <a:buNone/>
            </a:pPr>
            <a:r>
              <a:rPr sz="16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工作流引擎与状态机引擎执行模型，Adapter 完成协议映射</a:t>
            </a:r>
            <a:endParaRPr sz="16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C8F2E81-414C-4EAD-B388-3ABFFA42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554480"/>
            <a:ext cx="4206240" cy="4206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E6F5"/>
          </a:solidFill>
          <a:ln xmlns:a="http://schemas.openxmlformats.org/drawingml/2006/main" w="1905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反应釜加热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Bef>
                <a:spcPts val="0"/>
              </a:spcBef>
              <a:spcAft>
                <a:spcPts val="1000"/>
              </a:spcAft>
              <a:buNone/>
            </a:pP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加热节点提出请求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状态机经 Adapter 发令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温度与状态回传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满足条件后推进后续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Bef>
                <a:spcPts val="0"/>
              </a:spcBef>
              <a:spcAft>
                <a:spcPts val="1000"/>
              </a:spcAft>
              <a:buNone/>
            </a:pP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越界或异常时由约束介入</a:t>
            </a:r>
            <a:endParaRPr sz="1875" b="0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D7FFE68-576C-49EF-AAFA-EA01C175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6455AEF-C84B-4B49-9972-B13531FF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50676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52EAF-7527-46E2-9F8F-7C4DDBF8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C5C650-05CF-496F-94D7-2FF086A9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D4A960C-D718-44FD-898F-CBF30936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972800" cy="442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Adapter 区分仿真执行与实机执行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EFA6168-261A-4EDF-97CE-EC2BF5F5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仿真执行：接入仿真环境，返回模拟状态与实验数据。</a:t>
            </a:r>
            <a:endParaRPr sz="180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实机执行：接入物理设备，返回实际状态与实验数据。</a:t>
            </a:r>
            <a:endParaRPr sz="180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两种执行模式沿用同一套设备模型、状态机、工作流与约束。</a:t>
            </a:r>
            <a:endParaRPr sz="180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4D51AB-0C44-415D-A655-CC4D0676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大模型决策与反馈调整闭环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0939BC9-8B67-4444-A691-3E07CFE8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大模型决策 → 提出控制请求 → 统一执行链路 → 仿真执行</a:t>
            </a:r>
            <a:endParaRPr sz="20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模拟反馈 → 大模型调整 → 再次决策与仿真</a:t>
            </a:r>
            <a:endParaRPr sz="20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F3EDD79-2B6B-43D3-A355-7016787F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满足预设条件后进入实机执行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942A032-E7A1-45D9-9D8B-EAC7947E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依据仿真结果、约束检查与上机准入条件决定是否执行。</a:t>
            </a:r>
            <a:endParaRPr sz="180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切换到实机后，控制请求仍须经过相同的状态机与约束检查。</a:t>
            </a:r>
            <a:endParaRPr sz="1800" b="0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1E13634-CBED-478A-A5B6-0A091E0A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13FD1DE-4213-4DD4-BB35-350FC595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031544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EA4E4D-6B0B-4223-B737-0188B203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BA489E6-2D27-4B1A-8642-F3CEB5FF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A70110A-2066-4F5A-93CE-49004795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B761A17-F8FB-4B5B-92A6-4C5658D0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谢谢各位，欢迎提问。</a:t>
            </a:r>
            <a:endParaRPr sz="22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FB04C9E-3875-411E-B39A-A85ED4D1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5075022-5A85-4E19-8396-2E476676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ed-text-30">
            <a:extLst xmlns:a="http://schemas.openxmlformats.org/drawingml/2006/main">
              <a:ext uri="{FF2B5EF4-FFF2-40B4-BE49-F238E27FC236}">
                <a16:creationId xmlns:a16="http://schemas.microsoft.com/office/drawing/2014/main" id="{7EC31C0A-743F-4FFA-91FC-ED6A9CCA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统一建模</a:t>
            </a:r>
          </a:p>
        </p:txBody>
      </p:sp>
      <p:sp>
        <p:nvSpPr>
          <p:cNvPr id="10" name="edited-text-31">
            <a:extLst xmlns:a="http://schemas.openxmlformats.org/drawingml/2006/main">
              <a:ext uri="{FF2B5EF4-FFF2-40B4-BE49-F238E27FC236}">
                <a16:creationId xmlns:a16="http://schemas.microsoft.com/office/drawing/2014/main" id="{CDAE211F-9A04-445B-9104-2E9A3C48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7167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资源、工作流与约束共同描述实验室任务执行。</a:t>
            </a:r>
          </a:p>
        </p:txBody>
      </p:sp>
      <p:sp>
        <p:nvSpPr>
          <p:cNvPr id="11" name="edited-text-32">
            <a:extLst xmlns:a="http://schemas.openxmlformats.org/drawingml/2006/main">
              <a:ext uri="{FF2B5EF4-FFF2-40B4-BE49-F238E27FC236}">
                <a16:creationId xmlns:a16="http://schemas.microsoft.com/office/drawing/2014/main" id="{FCE1130A-2221-4051-886F-2266AE8B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明确语义</a:t>
            </a:r>
          </a:p>
        </p:txBody>
      </p:sp>
      <p:sp>
        <p:nvSpPr>
          <p:cNvPr id="12" name="edited-text-33">
            <a:extLst xmlns:a="http://schemas.openxmlformats.org/drawingml/2006/main">
              <a:ext uri="{FF2B5EF4-FFF2-40B4-BE49-F238E27FC236}">
                <a16:creationId xmlns:a16="http://schemas.microsoft.com/office/drawing/2014/main" id="{BA502BB1-5EDA-4A8E-9E45-D8A9DA4B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8450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变量空间、接口、触发器与状态机组织模型运行。</a:t>
            </a:r>
          </a:p>
        </p:txBody>
      </p:sp>
      <p:sp>
        <p:nvSpPr>
          <p:cNvPr id="13" name="edited-text-34">
            <a:extLst xmlns:a="http://schemas.openxmlformats.org/drawingml/2006/main">
              <a:ext uri="{FF2B5EF4-FFF2-40B4-BE49-F238E27FC236}">
                <a16:creationId xmlns:a16="http://schemas.microsoft.com/office/drawing/2014/main" id="{30A7D212-B7AA-49B7-9DFA-C1E5AD3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共同链路</a:t>
            </a:r>
          </a:p>
        </p:txBody>
      </p:sp>
      <p:sp>
        <p:nvSpPr>
          <p:cNvPr id="14" name="edited-text-35">
            <a:extLst xmlns:a="http://schemas.openxmlformats.org/drawingml/2006/main">
              <a:ext uri="{FF2B5EF4-FFF2-40B4-BE49-F238E27FC236}">
                <a16:creationId xmlns:a16="http://schemas.microsoft.com/office/drawing/2014/main" id="{85254E97-D705-47FC-9FD8-22A60DEA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0522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人工、流程与大模型共用执行机制，并支持仿真扩展。</a:t>
            </a:r>
          </a:p>
        </p:txBody>
      </p:sp>
      <p:sp>
        <p:nvSpPr>
          <p:cNvPr id="15" name="edited-text-36">
            <a:extLst xmlns:a="http://schemas.openxmlformats.org/drawingml/2006/main">
              <a:ext uri="{FF2B5EF4-FFF2-40B4-BE49-F238E27FC236}">
                <a16:creationId xmlns:a16="http://schemas.microsoft.com/office/drawing/2014/main" id="{724DB0A6-9FA4-4FCF-8CED-0A7A035F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以模型表达具体实验室与任务，以统一规则驱动执行。</a:t>
            </a:r>
          </a:p>
        </p:txBody>
      </p:sp>
    </p:spTree>
    <p:extLst>
      <p:ext uri="{BB962C8B-B14F-4D97-AF65-F5344CB8AC3E}">
        <p14:creationId xmlns:p14="http://schemas.microsoft.com/office/powerpoint/2010/main" val="17446272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2026-09-09T09:59:38.2840000Z</dcterms:created>
  <dcterms:modified xsi:type="dcterms:W3CDTF">2026-09-09T09:59:38.2840000Z</dcterms:modified>
</coreProperties>
</file>