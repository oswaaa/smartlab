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ae01bde87802491d" Type="http://schemas.openxmlformats.org/package/2006/relationships/metadata/core-properties" Target="docProps/core.xml"/><Relationship Id="Rda948d6551fa455f" Type="http://schemas.openxmlformats.org/officeDocument/2006/relationships/extended-properties" Target="docProps/app.xml"/><Relationship Id="Rffc7740a7fd142f8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b00bb8d63349a5"/>
  </p:sldMasterIdLst>
  <p:notesMasterIdLst>
    <p:notesMasterId xmlns:r="http://schemas.openxmlformats.org/officeDocument/2006/relationships" r:id="R714ce99784b54ac0"/>
  </p:notesMasterIdLst>
  <p:sldIdLst>
    <p:sldId xmlns:r="http://schemas.openxmlformats.org/officeDocument/2006/relationships" id="256" r:id="Rc1aaf8b404a54125"/>
    <p:sldId xmlns:r="http://schemas.openxmlformats.org/officeDocument/2006/relationships" id="257" r:id="Re1ed8e9286f14dee"/>
    <p:sldId xmlns:r="http://schemas.openxmlformats.org/officeDocument/2006/relationships" id="258" r:id="R0377e9641f134e0e"/>
    <p:sldId xmlns:r="http://schemas.openxmlformats.org/officeDocument/2006/relationships" id="259" r:id="R0012dfa39dbf492c"/>
    <p:sldId xmlns:r="http://schemas.openxmlformats.org/officeDocument/2006/relationships" id="260" r:id="R70d2dbae70294b77"/>
    <p:sldId xmlns:r="http://schemas.openxmlformats.org/officeDocument/2006/relationships" id="261" r:id="R972c978200ca43f1"/>
    <p:sldId xmlns:r="http://schemas.openxmlformats.org/officeDocument/2006/relationships" id="262" r:id="Rd0a89590ae0841c8"/>
    <p:sldId xmlns:r="http://schemas.openxmlformats.org/officeDocument/2006/relationships" id="263" r:id="R59255d6adfe34f3d"/>
    <p:sldId xmlns:r="http://schemas.openxmlformats.org/officeDocument/2006/relationships" id="264" r:id="R11506acf9eb34a3e"/>
    <p:sldId xmlns:r="http://schemas.openxmlformats.org/officeDocument/2006/relationships" id="265" r:id="R81cc11a69e044c98"/>
    <p:sldId xmlns:r="http://schemas.openxmlformats.org/officeDocument/2006/relationships" id="266" r:id="Rb8ca5d876eb14342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012dfa39dbf492c" Type="http://schemas.openxmlformats.org/officeDocument/2006/relationships/slide" Target="slides/slide4.xml"/><Relationship Id="R0377e9641f134e0e" Type="http://schemas.openxmlformats.org/officeDocument/2006/relationships/slide" Target="slides/slide3.xml"/><Relationship Id="R11506acf9eb34a3e" Type="http://schemas.openxmlformats.org/officeDocument/2006/relationships/slide" Target="slides/slide9.xml"/><Relationship Id="R14d1cd66a5014825" Type="http://schemas.openxmlformats.org/officeDocument/2006/relationships/tableStyles" Target="tableStyles.xml"/><Relationship Id="R31b00bb8d63349a5" Type="http://schemas.openxmlformats.org/officeDocument/2006/relationships/slideMaster" Target="slideMasters/slideMaster1.xml"/><Relationship Id="R3a78b45350c64ddf" Type="http://schemas.openxmlformats.org/officeDocument/2006/relationships/viewProps" Target="viewProps.xml"/><Relationship Id="R59255d6adfe34f3d" Type="http://schemas.openxmlformats.org/officeDocument/2006/relationships/slide" Target="slides/slide8.xml"/><Relationship Id="R70d2dbae70294b77" Type="http://schemas.openxmlformats.org/officeDocument/2006/relationships/slide" Target="slides/slide5.xml"/><Relationship Id="R714ce99784b54ac0" Type="http://schemas.openxmlformats.org/officeDocument/2006/relationships/notesMaster" Target="notesMasters/notesMaster1.xml"/><Relationship Id="R81cc11a69e044c98" Type="http://schemas.openxmlformats.org/officeDocument/2006/relationships/slide" Target="slides/slide10.xml"/><Relationship Id="R972c978200ca43f1" Type="http://schemas.openxmlformats.org/officeDocument/2006/relationships/slide" Target="slides/slide6.xml"/><Relationship Id="Rb6362f7fedf445f5" Type="http://schemas.openxmlformats.org/officeDocument/2006/relationships/presProps" Target="presProps.xml"/><Relationship Id="Rb8ca5d876eb14342" Type="http://schemas.openxmlformats.org/officeDocument/2006/relationships/slide" Target="slides/slide11.xml"/><Relationship Id="Rc1aaf8b404a54125" Type="http://schemas.openxmlformats.org/officeDocument/2006/relationships/slide" Target="slides/slide1.xml"/><Relationship Id="Rd009ae27088b4366" Type="http://schemas.openxmlformats.org/officeDocument/2006/relationships/theme" Target="theme/theme1.xml"/><Relationship Id="Rd0a89590ae0841c8" Type="http://schemas.openxmlformats.org/officeDocument/2006/relationships/slide" Target="slides/slide7.xml"/><Relationship Id="Re1ed8e9286f14dee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afe839071959471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2920398b237494b" Type="http://schemas.openxmlformats.org/officeDocument/2006/relationships/notesMaster" Target="../notesMasters/notesMaster1.xml"/><Relationship Id="R8725e1df877942f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f9ecc121d2f4f77" Type="http://schemas.openxmlformats.org/officeDocument/2006/relationships/notesMaster" Target="../notesMasters/notesMaster1.xml"/><Relationship Id="Re70e6ae8a245456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91ddfdacfd842a2" Type="http://schemas.openxmlformats.org/officeDocument/2006/relationships/slide" Target="../slides/slide3.xml"/><Relationship Id="R60269115fa134b08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8834b67bb0b4c2d" Type="http://schemas.openxmlformats.org/officeDocument/2006/relationships/notesMaster" Target="../notesMasters/notesMaster1.xml"/><Relationship Id="R3be6c46befd842f7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6c957444392b45c7" Type="http://schemas.openxmlformats.org/officeDocument/2006/relationships/notesMaster" Target="../notesMasters/notesMaster1.xml"/><Relationship Id="Rcd97bd1279dd4d05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8b43cbd90b54c73" Type="http://schemas.openxmlformats.org/officeDocument/2006/relationships/slide" Target="../slides/slide6.xml"/><Relationship Id="R6aaf5209145c48f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806d07c632c425d" Type="http://schemas.openxmlformats.org/officeDocument/2006/relationships/slide" Target="../slides/slide7.xml"/><Relationship Id="Rbbdbf28244214e9c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1b1c08440c3f4fa3" Type="http://schemas.openxmlformats.org/officeDocument/2006/relationships/slide" Target="../slides/slide8.xml"/><Relationship Id="R2536c55e647744b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ec93ab824834802" Type="http://schemas.openxmlformats.org/officeDocument/2006/relationships/notesMaster" Target="../notesMasters/notesMaster1.xml"/><Relationship Id="R3ab262adb7f84363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5e26bf70cf34d3f" Type="http://schemas.openxmlformats.org/officeDocument/2006/relationships/slide" Target="../slides/slide10.xml"/><Relationship Id="Re631e483a30946c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6cd3297df3614575" Type="http://schemas.openxmlformats.org/officeDocument/2006/relationships/notesMaster" Target="../notesMasters/notesMaster1.xml"/><Relationship Id="Rb702a52208bd4dc7" Type="http://schemas.openxmlformats.org/officeDocument/2006/relationships/slide" Target="../slides/slide1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各位同事，大家好。我是北京信息科技大学的于涛。今天汇报我们的工作：面向智慧化学实验室的任务导向可执行建模框架，通讯作者是赵淳老师。我们关注的是实验室任务如何从模型描述进入设备执行，以及人工、工作流和大模型提出的控制意图如何遵守共同的执行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分为六个部分。首先用一页说明实验室自动化和大模型参与的背景，以及为什么必须明确共同的执行边界。第二部分介绍如何把一次实验室任务抽象成资源、工作流和约束，并用跨层协议连接它们。第三部分说明这些模型怎样沿统一执行链路协同运行。随后以 SmartLab 2.0 中的反应釜加热任务说明具体实现，最后介绍仿真反馈闭环并总结工作贡献。背景负责提出需求，方法部分回答怎样建模与执行。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室自动化已经能够按照预先编排的流程执行任务。随着大模型的发展，它开始进一步参与实验决策、任务规划和控制请求的生成。无论有没有大模型，一次任务执行都要说明四件事：使用哪些设备资源，设备与任务的状态怎样变化，实验数据怎样产生和传递，以及哪些操作处于允许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使执行边界问题更加突出，因为它能根据目标和反馈动态提出新的操作或调整方案。这里需要回答的不是它能否生成指令，而是这些请求以什么方式进入设备执行，并遵守哪些规则。我们的原则是不给大模型特权，也不另设绕过模型的控制旁路。来自人工、流程和大模型的设备操作，都进入共同的执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因此，我们要建立一套能够描述实验室任务、也能够组织实际执行的框架，把模型、状态、流程与约束放在一起。下一页开始回答这些内容怎样被组织成模型。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前面提出了资源、状态、数据和边界四个问题，这一页说明它们怎样落到统一框架中。我们用 L 等于资源层 R、工作流层 F、约束层 C 和跨层协议 Π 来表示。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层承载设备能力、属性和状态，设备状态机组织执行过程，设备数据和事件形成反馈。工作流层组织任务步骤及数据关系，节点通过接口、触发器、变量空间和数据端口协同执行。约束层根据资源状态和任务上下文界定允许边界。协议则连接各层，规定接口能够传递什么信号、数据采用什么类型以及反馈怎样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个问题并不需要一一对应为四个独立层。例如资源层和工作流层都有自己的状态，数据也会跨层传递。我们用三层组织对象及职责，用协议协调交互，让资源、状态、数据和边界共同进入任务执行模型。后面分别介绍每层，再说明它们如何协同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层将每台设备表达为可执行的对象模型，其中能力模型和状态机承担不同职责。能力模型说明设备具有哪些属性、支持什么操作、需要哪些参数、能够提供什么数据。例如反应釜的加热能力以及对应参数，都通过模型明确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状态机描述设备当前处于什么状态，能接收哪些信号，以及在什么条件下发生转移和执行动作。控制请求进入设备模型后，由状态机依据规则处理，再经 Adapter 映射成物理设备能够识别的指令。设备返回的数据和事件沿同一条链路更新模型状态。设备内部的局部约束也可以在状态机中处理。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这就把原先人观察设备、选择操作、下达指令、读取反馈的过程纳入模型。上层流程调用的是具有明确能力和行为规则的设备对象。下面再看工作流如何把这些对象组织成一次完整任务。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首先描述整个任务怎样组织：包含哪些步骤，步骤之间有什么顺序和数据依赖，何时分支、同步或等待。再往下看，每个节点是其中一个具有明确语义的执行单元。设备执行节点绑定设备能力，功能节点承担流程组织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点内部变量保存当前值、目标值和业务标志，生命周期描述节点是待执行、运行中还是已完成等状态。接口传递控制信号及载荷，数据端口负责向后续节点传递实验数据。设备属性可以映射到节点变量，节点再按模型定义的关系使用这些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触发器把这些内容连成执行逻辑。它读取变量、接口接收值和生命周期，在条件满足时执行更新或发出信号。以加热节点为例，激活信号使节点开始运行，节点通过接口发出设备请求；完成反馈满足触发条件后，节点更新生命周期并激活后续步骤。收到一般状态反馈并不直接等同于任务完成，仍要依据节点定义的条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因此，节点、接口和触发器应作为一个整体理解。模型明确表达谁接收什么、依据什么条件、产生什么动作。下一页介绍这些执行过程如何受到共同约束。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层关注一次任务运行时是否始终落在允许边界内。它同时观察资源侧和工作流侧的信息：资源侧提供设备属性和状态，工作流侧提供节点生命周期、变量及任务上下文。这些有明确含义的对象进入统一观察空间，构成条件判断的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验室基线约束持续监督实验室运行，任务约束在相应任务执行期间检查目标和允许范围。条件成立后，可以按模型定义执行警告、报警、停止或中止等处理动作。设备内部的局部约束由状态机处理，涉及多个资源或任务上下文的规则由约束层统一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强调的是约束和任务执行使用共同的模型对象。我们能够说明检查的对象是什么、依据哪个值作出判断以及应采取什么动作。资源层、工作流层和约束层至此介绍完毕，接下来用统一执行链路说明它们怎样配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把前面三层连接起来。讲解时先看横向：工作流组织任务节点，节点之间通过接口传递控制信号，通过端口传递实验数据。再看纵向：一个设备执行节点调用资源模型定义的能力，请求由设备状态机处理，状态机通过 Adapter 发令，物理设备完成操作并返回数据和事件。反馈逐层回到状态机和工作流，驱动状态变化以及后续节点推进。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约束层放在链路侧面，观察资源和工作流中的对象，依据规则采取动作。它是共同参与执行的监督机制，不需要被画成每条指令依次经过的串行转发层。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操作、预设流程和大模型提出的控制意图可以不同，但进入设备执行时，都要通过相同的设备模型与状态机。任务级请求可以先由工作流组织，直接的设备控制请求也必须进入资源模型的统一接口。共同要求是设备控制不能绕过模型、状态机及相关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这就是对设备操作过程的建模：模型给出能力、状态和行为依据，框架按照这些规则组织执行。下一页用加热案例把这个结构落实为一次具体过程。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【正式图绘制说明，供制作时参考】</a:t>
            </a:r>
          </a:p>
          <a:p xmlns:a="http://schemas.openxmlformats.org/drawingml/2006/main">
            <a:r>
              <a:t>图 1：统一执行链路。用于 PPT 第 8 页，页内编号 7。占位区域 735×390，约 1.88:1。左侧按工作流、设备资源模型、Adapter、物理设备纵向排列，蓝色向下为控制，绿色向上为反馈。右侧与各层对齐，分别展开节点间接口与端口、设备能力与状态机、协议映射、设备操作与测量。用三个并列来源“人工、任务流程、大模型”标注设备操作的共同入口，所有设备控制均汇入资源模型的控制接口，不直连 Adapter 或物理设备。约束置于侧面，从 R/F 获取观察信息，并把处理动作返回模型执行机制。资源模型中明确能力模型和状态机各自职责，工作流请求连接状态机接口。最重要的是画清共同执行边界和反馈返回，不必列出全部状态、字段或协议报文。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 SmartLab 2.0 原型中，我们以反应釜加热任务实例化上述模型与执行链路。原型通过工作流引擎、接口、状态机引擎和 MQTT 适配器连接设备。这一页重点展示模型如何进入实际任务过程。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先看请求方向。加热节点绑定反应釜的加热能力，在触发条件满足时发出控制请求。设备状态机接收请求，依据当前状态和转移规则产生执行动作。Adapter 将设备模型中的指令映射到具体协议，由物理反应釜执行加热。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再看反馈方向。设备返回温度和状态事件，Adapter 将其带回设备状态机，状态机更新状态并通过接口向节点反馈。节点根据变量、反馈与生命周期判断是否满足完成条件；满足条件后更新为完成并激活后续步骤。运行中的温度更新和最终完成反馈承担不同作用。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同时，任务温度边界和设备异常可以触发相应约束处理。模型和执行引擎决定操作语义，适配器负责协议映射。这个案例展示了框架可以实例化并组织一次任务执行，下一步则是在相同结构下引入仿真执行。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【正式图绘制说明，供制作时参考】</a:t>
            </a:r>
          </a:p>
          <a:p xmlns:a="http://schemas.openxmlformats.org/drawingml/2006/main">
            <a:r>
              <a:t>图 2：反应釜加热执行时序。用于 PPT 第 9 页，页内编号 8。占位区域 735×390，约 1.88:1。四条生命线从左到右为加热节点、设备状态机、Adapter、物理反应釜，时间从上向下。六条箭头逐行错开：①节点向状态机发出加热请求；②状态机向 Adapter 发出设备指令；③Adapter 驱动反应釜加热；④反应釜向 Adapter 返回温度与状态事件；⑤Adapter 把反馈返回状态机；⑥状态机向节点返回执行状态。节点旁注“完成反馈满足条件后，更新生命周期并激活后续”。侧边加小注“任务温度越界或设备异常时，约束按规则介入”。控制箭头用蓝色，反馈箭头用绿色。不要让④出现在③之前，不要把任何温度反馈都画成完成，不虚构温度曲线或测量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在统一框架基础上，可以进一步在 Adapter 层接入仿真环境。上层的工作流、设备模型、状态机和约束保持一致，由不同执行后端分别连接模拟环境或物理设备。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闭环从大模型决策开始。大模型提出任务或控制请求，请求进入统一执行机制并在仿真环境中运行。模拟状态、实验数据和约束检查结果形成反馈，大模型据此调整方案，再次决策与仿真。每次调整后的请求仍然经过同一套模型和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方案满足预设的仿真评估、约束检查和上机条件时，由统一框架发起实机执行。图中实机分支必须从统一框架接出，仿真结果是上机判断的依据，不能变成绕过模型的另一条控制链路。进入实机后，反馈继续返回共同的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这一页介绍框架的扩展方向。它说明大模型可以通过模拟反馈反复调整方案，同时保持明确的设备控制边界。最后回到我们当前工作的整体贡献。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【正式图绘制说明，供制作时参考】</a:t>
            </a:r>
          </a:p>
          <a:p xmlns:a="http://schemas.openxmlformats.org/drawingml/2006/main">
            <a:r>
              <a:t>图 3：仿真反馈闭环。用于 PPT 第 10 页，页内编号 9。占位区域 735×390，约 1.88:1。左侧画大模型决策，上中画统一执行框架（工作流、设备模型与状态机、约束），下中画仿真 Adapter/仿真环境，下左画模拟反馈与方案调整，组成大模型→统一框架→仿真→反馈与调整→大模型的闭环。右侧从统一框架分出另一条执行分支，经“满足预设上机条件”进入实机 Adapter 和物理设备。仿真评估结果可用绿色虚线指向上机条件，表示评估依据；不要画仿真 Adapter 直接向实机 Adapter 发令。标明两种模式共用上层模型与执行规则。实机反馈回到共同模型。该图作为扩展方案表达，不画虚构的性能提升、通过率或已经完成的仿真结果。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我们的工作是面向实验室任务与设备执行，建立明确的建模语言和执行语义。资源、工作流和约束进入统一结构，接口、触发器和状态机使交互与行为有明确的模型依据。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具体实验室的设备与任务逻辑通过模型表达，框架按照共同规则组织执行。可以把模型理解为描述具体工作的一份蓝图，通用执行机制根据这份蓝图驱动系统运行。框架仍然由代码实现，但具体任务的对象、关系和执行依据在模型层面显式表达，因此可以沿模型理解和追踪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人工、流程和大模型的意图最终共用同一套设备执行机制，这为控制边界的一致性和仿真反馈扩展提供基础。我们的关注范围是已建模能力、状态、数据与约束下的任务执行。SmartLab 2.0 和加热案例展示了这一结构的具体实例，后续可以继续扩展仿真和更多设备任务。谢谢各位，欢迎交流。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94264664ec349f4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bbed63fd37bd409b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15239a4ce683479e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c805c4ca9e6645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47b38a12e082404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b026a31a545a4e8b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a7c9932292b84595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5ab113f18c7548df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f9b37626adfe4fca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b671a5fd4f2a4536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a37a29596102483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89DC85-54F5-4264-8AA5-ABE2BEACE3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024B2CF-0C91-4B1A-B97A-0CC6018F68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E78BEE-BC3B-4897-ACB8-CFC63AB315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9967F8-2A92-4480-8CDA-C55843F331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DD52F7-86F4-4DD3-A691-267C2B81AF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7E5EC0-8780-4109-9108-856D8C3DB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3E7247-3CE2-40CE-BF8E-08E8C9AD6A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6B25F1-EA49-41A9-B684-C16A359EB2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8E4320-B3AD-441E-BBB7-6628A66F2D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832057-6783-4296-9C0C-BD3B75AA01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FD48A6-F7AE-489F-8CDD-48CBB3E65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9F6350-A668-48E3-BE9D-F70A8F65D2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CE4BBE-EB84-4807-80A1-400096F096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E677CD-B8E8-4609-85A3-441897DC51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8AEF26-A2A8-4C26-B881-151E6AB2B9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F57711-D861-4167-826E-1C699DB5B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8877F64-A2CA-47A8-925F-0414F58A6A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1A13105-8F19-43FF-BC40-D6B127493B7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542793-A3B0-48C3-935B-214D9CF1DC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BBDC7C5-24A7-4E55-8B8B-1122F6DF5B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8C7EEDA-57E2-4BFC-AABF-864060C668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17BC59-4ECF-4B7D-B29C-02D7A36D5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3D0D23-F9EF-4A9C-9815-8A03DD8899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237916-E258-4387-8EA3-F69F14BC04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C87D74C-3168-4541-8807-92F3DE2CC86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6441DF1-579F-4C84-BB98-4534A167D6B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C447C8B-3B0E-41D2-88FD-90B37EE31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FCE6D9C-A3AA-405E-897D-0BB9D664FD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3FBF5E5-704F-452F-809E-B84DA758F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9E4369-F598-4E50-937D-FF0133C73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9BFD23B-2EC1-4819-99D4-527B79E01C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95A2CF0-A4C6-4995-8038-4C1F84E2FE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E87972B-BAC0-426E-B5FC-DFBA81F220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A485BCE-C3BD-4312-909B-D8DA72E9D0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DB3FD05-5462-42C6-9E2E-856EA1FA6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2568220-1FB3-48D3-B54D-D4C021FB50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5165B9-F882-4E8A-9B85-68433535E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C1B3653-63CE-4E67-A908-F195C2FD25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67E8D05-E91E-4E5F-8112-4F3D45873D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273C5D9-6D87-4395-98A6-873424B0DC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C490EFB-AD64-4F37-9C16-342BB5B82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04AB5C9-AFA5-4894-AE70-5ADC1E8407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5AEC2D-5ADC-4674-B9D5-1E730FDE7E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670C9F9-4433-4E98-9675-BDACFCE0071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68B74B-892B-444B-9366-02D4553138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67B799-E31D-4F2E-A98E-C543C1F80E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610BC3E-3EC2-4F13-85E8-B7713C38AE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D4C378-9535-4637-9537-083270BF82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8D4D2C-1F36-438F-B5D7-5C01DD51BD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B40A84-02BB-464E-BE83-68596CEA1F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9442A3-17D4-4A74-9C7C-9F68561DC8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DB02E6-6893-454A-99EA-0707FB2821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0B1FDF-EF83-4A01-8A9B-EE1DE45BA2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75978D0-1441-4863-9E69-110EF57F5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9D69BB-D056-43F8-8152-AD90AFDFB8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6F5B8D-CB17-4F42-81C4-6C1CBD7C30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C2C652-BD55-45A5-BB10-87D5B91274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CF60E3-53D1-4AD3-8FF7-A96CA6E4E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06d31a55e21406a" Type="http://schemas.openxmlformats.org/officeDocument/2006/relationships/theme" Target="theme/theme2.xml"/><Relationship Id="R0fc4389dba144aea" Type="http://schemas.openxmlformats.org/officeDocument/2006/relationships/slideLayout" Target="../slideLayouts/slideLayout6.xml"/><Relationship Id="R1adb120180194383" Type="http://schemas.openxmlformats.org/officeDocument/2006/relationships/slideLayout" Target="../slideLayouts/slideLayout10.xml"/><Relationship Id="R2868a8d12a054191" Type="http://schemas.openxmlformats.org/officeDocument/2006/relationships/slideLayout" Target="../slideLayouts/slideLayout8.xml"/><Relationship Id="R31c6ce95de7d417c" Type="http://schemas.openxmlformats.org/officeDocument/2006/relationships/slideLayout" Target="../slideLayouts/slideLayout4.xml"/><Relationship Id="R4d1897db22ea4802" Type="http://schemas.openxmlformats.org/officeDocument/2006/relationships/slideLayout" Target="../slideLayouts/slideLayout2.xml"/><Relationship Id="R5cb98d6cf92f4798" Type="http://schemas.openxmlformats.org/officeDocument/2006/relationships/slideLayout" Target="../slideLayouts/slideLayout11.xml"/><Relationship Id="R5e12187ccdba410b" Type="http://schemas.openxmlformats.org/officeDocument/2006/relationships/slideLayout" Target="../slideLayouts/slideLayout5.xml"/><Relationship Id="R935bf6a8116e4a46" Type="http://schemas.openxmlformats.org/officeDocument/2006/relationships/slideLayout" Target="../slideLayouts/slideLayout7.xml"/><Relationship Id="R9498e76a1c494260" Type="http://schemas.openxmlformats.org/officeDocument/2006/relationships/slideLayout" Target="../slideLayouts/slideLayout1.xml"/><Relationship Id="R9c572292e86e4ae9" Type="http://schemas.openxmlformats.org/officeDocument/2006/relationships/slideLayout" Target="../slideLayouts/slideLayout9.xml"/><Relationship Id="Rba8848882e97475b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28C0D63-CA9F-404A-B534-B682079DA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C15D1C-DAAD-4762-9173-03B9AC3FD4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55B65E-F81D-43DB-AF87-01C39EE5D40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E08882-3239-4C53-B5B9-C39E631AB8C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203BF4-0881-41BE-8239-6E0D55CCA8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98e76a1c494260"/>
    <p:sldLayoutId xmlns:r="http://schemas.openxmlformats.org/officeDocument/2006/relationships" id="2147483650" r:id="R4d1897db22ea4802"/>
    <p:sldLayoutId xmlns:r="http://schemas.openxmlformats.org/officeDocument/2006/relationships" id="2147483651" r:id="Rba8848882e97475b"/>
    <p:sldLayoutId xmlns:r="http://schemas.openxmlformats.org/officeDocument/2006/relationships" id="2147483652" r:id="R31c6ce95de7d417c"/>
    <p:sldLayoutId xmlns:r="http://schemas.openxmlformats.org/officeDocument/2006/relationships" id="2147483653" r:id="R5e12187ccdba410b"/>
    <p:sldLayoutId xmlns:r="http://schemas.openxmlformats.org/officeDocument/2006/relationships" id="2147483654" r:id="R0fc4389dba144aea"/>
    <p:sldLayoutId xmlns:r="http://schemas.openxmlformats.org/officeDocument/2006/relationships" id="2147483655" r:id="R935bf6a8116e4a46"/>
    <p:sldLayoutId xmlns:r="http://schemas.openxmlformats.org/officeDocument/2006/relationships" id="2147483656" r:id="R2868a8d12a054191"/>
    <p:sldLayoutId xmlns:r="http://schemas.openxmlformats.org/officeDocument/2006/relationships" id="2147483657" r:id="R9c572292e86e4ae9"/>
    <p:sldLayoutId xmlns:r="http://schemas.openxmlformats.org/officeDocument/2006/relationships" id="2147483658" r:id="R1adb120180194383"/>
    <p:sldLayoutId xmlns:r="http://schemas.openxmlformats.org/officeDocument/2006/relationships" id="2147483659" r:id="R5cb98d6cf92f479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de14f5a7b85444c" Type="http://schemas.openxmlformats.org/officeDocument/2006/relationships/slideLayout" Target="../slideLayouts/slideLayout7.xml"/><Relationship Id="Re2f708890a19439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c7b0975cb9047d6" Type="http://schemas.openxmlformats.org/officeDocument/2006/relationships/notesSlide" Target="../notesSlides/notesSlide2.xml"/><Relationship Id="Rf2477d0336b843ba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341e3123014646ed" Type="http://schemas.openxmlformats.org/officeDocument/2006/relationships/notesSlide" Target="../notesSlides/notesSlide3.xml"/><Relationship Id="Rfa6270bb8807442a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251cb74ef4a54ff6" Type="http://schemas.openxmlformats.org/officeDocument/2006/relationships/notesSlide" Target="../notesSlides/notesSlide4.xml"/><Relationship Id="Rb9bbf6d4fad4480f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3cbf09e9218a420e" Type="http://schemas.openxmlformats.org/officeDocument/2006/relationships/slideLayout" Target="../slideLayouts/slideLayout7.xml"/><Relationship Id="R74b1ab74eb904adf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835e06f52b74753" Type="http://schemas.openxmlformats.org/officeDocument/2006/relationships/notesSlide" Target="../notesSlides/notesSlide6.xml"/><Relationship Id="R6f2bd582fb9a452f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986ec1ed5ba5433e" Type="http://schemas.openxmlformats.org/officeDocument/2006/relationships/slideLayout" Target="../slideLayouts/slideLayout7.xml"/><Relationship Id="Rd68bab86d5a54c8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53af0d1bc4b4523" Type="http://schemas.openxmlformats.org/officeDocument/2006/relationships/slideLayout" Target="../slideLayouts/slideLayout7.xml"/><Relationship Id="R7e32c4e3ba864fd7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5642a5a4da9846e6" Type="http://schemas.openxmlformats.org/officeDocument/2006/relationships/slideLayout" Target="../slideLayouts/slideLayout7.xml"/><Relationship Id="R9f55564157314b95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300b82c8c7b04219" Type="http://schemas.openxmlformats.org/officeDocument/2006/relationships/slideLayout" Target="../slideLayouts/slideLayout7.xml"/><Relationship Id="R481ca85e48754eab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6f5e08005b44459d" Type="http://schemas.openxmlformats.org/officeDocument/2006/relationships/notesSlide" Target="../notesSlides/notesSlide11.xml"/><Relationship Id="Rc5aa4e295fd848cb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8D0283-46CC-4865-85BD-F69594B7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87B968C-3390-4FC4-9F93-F7A4B569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67AB767-6D28-4088-A11B-2DFEFDE7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6640F5-7D8A-4CD8-87CC-97BCBBDA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DF2A41-1F00-4791-AA10-43E22F1B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08879E-6C1A-4C5F-8A94-956EF1B1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665611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C6A048-DF1E-4678-BD75-14DF1393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C5C94B-88A9-4BC6-A7A1-37135C66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3990B9D-1DBD-479C-AB7B-A7B40BA1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44AD840-496B-4114-AE14-4B0951DF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E61E475E-3C07-4C0A-8567-0681B5BD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40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-2">
            <a:extLst xmlns:a="http://schemas.openxmlformats.org/drawingml/2006/main">
              <a:ext uri="{FF2B5EF4-FFF2-40B4-BE49-F238E27FC236}">
                <a16:creationId xmlns:a16="http://schemas.microsoft.com/office/drawing/2014/main" id="{8B7EE6BD-7B1C-4E61-8F08-5DB35860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811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背景与问题</a:t>
            </a:r>
          </a:p>
        </p:txBody>
      </p:sp>
      <p:sp>
        <p:nvSpPr>
          <p:cNvPr id="10" name="text-3">
            <a:extLst xmlns:a="http://schemas.openxmlformats.org/drawingml/2006/main">
              <a:ext uri="{FF2B5EF4-FFF2-40B4-BE49-F238E27FC236}">
                <a16:creationId xmlns:a16="http://schemas.microsoft.com/office/drawing/2014/main" id="{1C3B7A3E-59B1-4833-BC07-8B99F0D1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00175"/>
            <a:ext cx="668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大模型参与后的执行边界</a:t>
            </a:r>
          </a:p>
        </p:txBody>
      </p:sp>
      <p:sp>
        <p:nvSpPr>
          <p:cNvPr id="11" name="rule-4">
            <a:extLst xmlns:a="http://schemas.openxmlformats.org/drawingml/2006/main">
              <a:ext uri="{FF2B5EF4-FFF2-40B4-BE49-F238E27FC236}">
                <a16:creationId xmlns:a16="http://schemas.microsoft.com/office/drawing/2014/main" id="{5167DBBB-208A-4710-8D8A-FF26DC1C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95475"/>
            <a:ext cx="10182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2" name="text-5">
            <a:extLst xmlns:a="http://schemas.openxmlformats.org/drawingml/2006/main">
              <a:ext uri="{FF2B5EF4-FFF2-40B4-BE49-F238E27FC236}">
                <a16:creationId xmlns:a16="http://schemas.microsoft.com/office/drawing/2014/main" id="{FE551AFD-9E0F-4132-92E2-74B0CDE1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40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-6">
            <a:extLst xmlns:a="http://schemas.openxmlformats.org/drawingml/2006/main">
              <a:ext uri="{FF2B5EF4-FFF2-40B4-BE49-F238E27FC236}">
                <a16:creationId xmlns:a16="http://schemas.microsoft.com/office/drawing/2014/main" id="{F1DE4E0F-D595-4061-84D4-B7224117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669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建模框架</a:t>
            </a:r>
          </a:p>
        </p:txBody>
      </p:sp>
      <p:sp>
        <p:nvSpPr>
          <p:cNvPr id="14" name="text-7">
            <a:extLst xmlns:a="http://schemas.openxmlformats.org/drawingml/2006/main">
              <a:ext uri="{FF2B5EF4-FFF2-40B4-BE49-F238E27FC236}">
                <a16:creationId xmlns:a16="http://schemas.microsoft.com/office/drawing/2014/main" id="{0B1A2E52-FA9F-4DF3-B2E5-AD64C657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85975"/>
            <a:ext cx="668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资源、工作流、约束与跨层协议</a:t>
            </a:r>
          </a:p>
        </p:txBody>
      </p:sp>
      <p:sp>
        <p:nvSpPr>
          <p:cNvPr id="15" name="rule-8">
            <a:extLst xmlns:a="http://schemas.openxmlformats.org/drawingml/2006/main">
              <a:ext uri="{FF2B5EF4-FFF2-40B4-BE49-F238E27FC236}">
                <a16:creationId xmlns:a16="http://schemas.microsoft.com/office/drawing/2014/main" id="{42934BB1-CEA6-4082-B08F-A07CE0C7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10182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6" name="text-9">
            <a:extLst xmlns:a="http://schemas.openxmlformats.org/drawingml/2006/main">
              <a:ext uri="{FF2B5EF4-FFF2-40B4-BE49-F238E27FC236}">
                <a16:creationId xmlns:a16="http://schemas.microsoft.com/office/drawing/2014/main" id="{BAAADF21-637D-4D6C-A4B1-4874D886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40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CDAFDBE8-1BAE-4F81-A06E-9D0F1381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执行机制</a:t>
            </a:r>
          </a:p>
        </p:txBody>
      </p:sp>
      <p:sp>
        <p:nvSpPr>
          <p:cNvPr id="18" name="text-11">
            <a:extLst xmlns:a="http://schemas.openxmlformats.org/drawingml/2006/main">
              <a:ext uri="{FF2B5EF4-FFF2-40B4-BE49-F238E27FC236}">
                <a16:creationId xmlns:a16="http://schemas.microsoft.com/office/drawing/2014/main" id="{F1833099-CFE9-466A-985E-0A5231D6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71775"/>
            <a:ext cx="668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共同的设备执行链路</a:t>
            </a:r>
          </a:p>
        </p:txBody>
      </p:sp>
      <p:sp>
        <p:nvSpPr>
          <p:cNvPr id="19" name="rule-12">
            <a:extLst xmlns:a="http://schemas.openxmlformats.org/drawingml/2006/main">
              <a:ext uri="{FF2B5EF4-FFF2-40B4-BE49-F238E27FC236}">
                <a16:creationId xmlns:a16="http://schemas.microsoft.com/office/drawing/2014/main" id="{7A3256F1-EF44-455B-A23C-D1DC34C5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67075"/>
            <a:ext cx="10182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0" name="text-13">
            <a:extLst xmlns:a="http://schemas.openxmlformats.org/drawingml/2006/main">
              <a:ext uri="{FF2B5EF4-FFF2-40B4-BE49-F238E27FC236}">
                <a16:creationId xmlns:a16="http://schemas.microsoft.com/office/drawing/2014/main" id="{583DA677-6B14-4D4C-877D-535810C5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40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-14">
            <a:extLst xmlns:a="http://schemas.openxmlformats.org/drawingml/2006/main">
              <a:ext uri="{FF2B5EF4-FFF2-40B4-BE49-F238E27FC236}">
                <a16:creationId xmlns:a16="http://schemas.microsoft.com/office/drawing/2014/main" id="{46BAC6E9-01A0-4B91-9F9D-97809CEE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385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实现与案例</a:t>
            </a:r>
          </a:p>
        </p:txBody>
      </p:sp>
      <p:sp>
        <p:nvSpPr>
          <p:cNvPr id="22" name="text-15">
            <a:extLst xmlns:a="http://schemas.openxmlformats.org/drawingml/2006/main">
              <a:ext uri="{FF2B5EF4-FFF2-40B4-BE49-F238E27FC236}">
                <a16:creationId xmlns:a16="http://schemas.microsoft.com/office/drawing/2014/main" id="{77A0A076-B250-4A38-837A-8C1C78C9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57575"/>
            <a:ext cx="668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SmartLab 2.0 与反应釜加热</a:t>
            </a:r>
          </a:p>
        </p:txBody>
      </p:sp>
      <p:sp>
        <p:nvSpPr>
          <p:cNvPr id="23" name="rule-16">
            <a:extLst xmlns:a="http://schemas.openxmlformats.org/drawingml/2006/main">
              <a:ext uri="{FF2B5EF4-FFF2-40B4-BE49-F238E27FC236}">
                <a16:creationId xmlns:a16="http://schemas.microsoft.com/office/drawing/2014/main" id="{2C342D10-C154-4D05-B410-369F1451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52875"/>
            <a:ext cx="10182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9D74D078-DDFF-4FA3-8C40-1A1E271D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40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5" name="text-18">
            <a:extLst xmlns:a="http://schemas.openxmlformats.org/drawingml/2006/main">
              <a:ext uri="{FF2B5EF4-FFF2-40B4-BE49-F238E27FC236}">
                <a16:creationId xmlns:a16="http://schemas.microsoft.com/office/drawing/2014/main" id="{D820CBFF-90C3-4DBC-B5D5-56F4E61C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243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扩展与展望</a:t>
            </a:r>
          </a:p>
        </p:txBody>
      </p:sp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8B5DC824-9E96-4DFE-A940-15AEE1D2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43375"/>
            <a:ext cx="668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仿真反馈闭环与上机条件</a:t>
            </a:r>
          </a:p>
        </p:txBody>
      </p:sp>
      <p:sp>
        <p:nvSpPr>
          <p:cNvPr id="27" name="rule-20">
            <a:extLst xmlns:a="http://schemas.openxmlformats.org/drawingml/2006/main">
              <a:ext uri="{FF2B5EF4-FFF2-40B4-BE49-F238E27FC236}">
                <a16:creationId xmlns:a16="http://schemas.microsoft.com/office/drawing/2014/main" id="{0ECB101F-2FD5-41B4-9110-B89FD5D2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38675"/>
            <a:ext cx="10182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395F5FD9-23A1-4DAA-AFCC-11D475C8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40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9" name="text-22">
            <a:extLst xmlns:a="http://schemas.openxmlformats.org/drawingml/2006/main">
              <a:ext uri="{FF2B5EF4-FFF2-40B4-BE49-F238E27FC236}">
                <a16:creationId xmlns:a16="http://schemas.microsoft.com/office/drawing/2014/main" id="{176B25C4-12D3-4BA9-9544-C3314C6D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01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30" name="text-23">
            <a:extLst xmlns:a="http://schemas.openxmlformats.org/drawingml/2006/main">
              <a:ext uri="{FF2B5EF4-FFF2-40B4-BE49-F238E27FC236}">
                <a16:creationId xmlns:a16="http://schemas.microsoft.com/office/drawing/2014/main" id="{B420144B-1D2C-4600-A4A8-5D40A8A3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29175"/>
            <a:ext cx="6686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建模语言、执行语义与框架贡献</a:t>
            </a:r>
          </a:p>
        </p:txBody>
      </p:sp>
      <p:sp>
        <p:nvSpPr>
          <p:cNvPr id="31" name="rule-24">
            <a:extLst xmlns:a="http://schemas.openxmlformats.org/drawingml/2006/main">
              <a:ext uri="{FF2B5EF4-FFF2-40B4-BE49-F238E27FC236}">
                <a16:creationId xmlns:a16="http://schemas.microsoft.com/office/drawing/2014/main" id="{50F2D3C0-77C0-454C-BCDC-E397A0DB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32" name="text-25">
            <a:extLst xmlns:a="http://schemas.openxmlformats.org/drawingml/2006/main">
              <a:ext uri="{FF2B5EF4-FFF2-40B4-BE49-F238E27FC236}">
                <a16:creationId xmlns:a16="http://schemas.microsoft.com/office/drawing/2014/main" id="{295C2BF0-5616-48ED-8E32-B47CE2E3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先说明建模需求，再介绍模型结构、执行机制和具体案例。</a:t>
            </a:r>
          </a:p>
        </p:txBody>
      </p:sp>
    </p:spTree>
    <p:extLst>
      <p:ext uri="{BB962C8B-B14F-4D97-AF65-F5344CB8AC3E}">
        <p14:creationId xmlns:p14="http://schemas.microsoft.com/office/powerpoint/2010/main" val="6531173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59544A-4150-4003-91A4-7B5981B6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0A0AB52-1B8A-445B-950F-E53A7DCB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2D8EC2F-B214-40A0-8781-D913BF30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8E191EA-4D91-4D29-8980-C3BABE0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6">
            <a:extLst xmlns:a="http://schemas.openxmlformats.org/drawingml/2006/main">
              <a:ext uri="{FF2B5EF4-FFF2-40B4-BE49-F238E27FC236}">
                <a16:creationId xmlns:a16="http://schemas.microsoft.com/office/drawing/2014/main" id="{96CF32A8-64D7-4A23-8EEC-64D1A634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实验室已能自动执行流程，大模型进一步参与决策与控制。</a:t>
            </a:r>
          </a:p>
        </p:txBody>
      </p:sp>
      <p:sp>
        <p:nvSpPr>
          <p:cNvPr id="8" name="text-27">
            <a:extLst xmlns:a="http://schemas.openxmlformats.org/drawingml/2006/main">
              <a:ext uri="{FF2B5EF4-FFF2-40B4-BE49-F238E27FC236}">
                <a16:creationId xmlns:a16="http://schemas.microsoft.com/office/drawing/2014/main" id="{CCEE2503-B1D3-434F-88C3-1C93549C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一次执行始终需要说清四件事</a:t>
            </a:r>
          </a:p>
        </p:txBody>
      </p:sp>
      <p:sp>
        <p:nvSpPr>
          <p:cNvPr id="9" name="text-28">
            <a:extLst xmlns:a="http://schemas.openxmlformats.org/drawingml/2006/main">
              <a:ext uri="{FF2B5EF4-FFF2-40B4-BE49-F238E27FC236}">
                <a16:creationId xmlns:a16="http://schemas.microsoft.com/office/drawing/2014/main" id="{B3AB5612-5458-4D27-B6EF-A586DBB7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27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</a:p>
        </p:txBody>
      </p:sp>
      <p:sp>
        <p:nvSpPr>
          <p:cNvPr id="10" name="text-29">
            <a:extLst xmlns:a="http://schemas.openxmlformats.org/drawingml/2006/main">
              <a:ext uri="{FF2B5EF4-FFF2-40B4-BE49-F238E27FC236}">
                <a16:creationId xmlns:a16="http://schemas.microsoft.com/office/drawing/2014/main" id="{A85FF0C2-8CC7-4F5C-AB16-B9CD3C82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如何组织与调用</a:t>
            </a:r>
          </a:p>
        </p:txBody>
      </p:sp>
      <p:sp>
        <p:nvSpPr>
          <p:cNvPr id="11" name="separator-30">
            <a:extLst xmlns:a="http://schemas.openxmlformats.org/drawingml/2006/main">
              <a:ext uri="{FF2B5EF4-FFF2-40B4-BE49-F238E27FC236}">
                <a16:creationId xmlns:a16="http://schemas.microsoft.com/office/drawing/2014/main" id="{C078411E-DDF7-4946-869B-921FA583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67000"/>
            <a:ext cx="9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2" name="text-31">
            <a:extLst xmlns:a="http://schemas.openxmlformats.org/drawingml/2006/main">
              <a:ext uri="{FF2B5EF4-FFF2-40B4-BE49-F238E27FC236}">
                <a16:creationId xmlns:a16="http://schemas.microsoft.com/office/drawing/2014/main" id="{1B73BFE4-FB49-4A45-87F6-F9511251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86050"/>
            <a:ext cx="227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13" name="text-32">
            <a:extLst xmlns:a="http://schemas.openxmlformats.org/drawingml/2006/main">
              <a:ext uri="{FF2B5EF4-FFF2-40B4-BE49-F238E27FC236}">
                <a16:creationId xmlns:a16="http://schemas.microsoft.com/office/drawing/2014/main" id="{D611A883-1D64-4780-909E-CE35A1A5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194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如何随执行演化</a:t>
            </a:r>
          </a:p>
        </p:txBody>
      </p:sp>
      <p:sp>
        <p:nvSpPr>
          <p:cNvPr id="14" name="separator-33">
            <a:extLst xmlns:a="http://schemas.openxmlformats.org/drawingml/2006/main">
              <a:ext uri="{FF2B5EF4-FFF2-40B4-BE49-F238E27FC236}">
                <a16:creationId xmlns:a16="http://schemas.microsoft.com/office/drawing/2014/main" id="{F290B294-CED3-423C-A80D-4C80C5F2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67000"/>
            <a:ext cx="9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62CBD017-DAA2-40EB-AA7B-EE66B130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27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16" name="text-35">
            <a:extLst xmlns:a="http://schemas.openxmlformats.org/drawingml/2006/main">
              <a:ext uri="{FF2B5EF4-FFF2-40B4-BE49-F238E27FC236}">
                <a16:creationId xmlns:a16="http://schemas.microsoft.com/office/drawing/2014/main" id="{92AF6EFF-C21B-44E0-BC38-E3375675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如何产生与传递</a:t>
            </a:r>
          </a:p>
        </p:txBody>
      </p:sp>
      <p:sp>
        <p:nvSpPr>
          <p:cNvPr id="17" name="separator-36">
            <a:extLst xmlns:a="http://schemas.openxmlformats.org/drawingml/2006/main">
              <a:ext uri="{FF2B5EF4-FFF2-40B4-BE49-F238E27FC236}">
                <a16:creationId xmlns:a16="http://schemas.microsoft.com/office/drawing/2014/main" id="{1F679773-0CEC-4773-807D-980F759E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67000"/>
            <a:ext cx="9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8" name="text-37">
            <a:extLst xmlns:a="http://schemas.openxmlformats.org/drawingml/2006/main">
              <a:ext uri="{FF2B5EF4-FFF2-40B4-BE49-F238E27FC236}">
                <a16:creationId xmlns:a16="http://schemas.microsoft.com/office/drawing/2014/main" id="{6EC19151-770B-46B4-A06D-88D189EB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27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19" name="text-38">
            <a:extLst xmlns:a="http://schemas.openxmlformats.org/drawingml/2006/main">
              <a:ext uri="{FF2B5EF4-FFF2-40B4-BE49-F238E27FC236}">
                <a16:creationId xmlns:a16="http://schemas.microsoft.com/office/drawing/2014/main" id="{CC97AFBA-7723-49FE-9673-FC2C25D4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哪些操作允许执行</a:t>
            </a:r>
          </a:p>
        </p:txBody>
      </p:sp>
      <p:sp>
        <p:nvSpPr>
          <p:cNvPr id="20" name="text-39">
            <a:extLst xmlns:a="http://schemas.openxmlformats.org/drawingml/2006/main">
              <a:ext uri="{FF2B5EF4-FFF2-40B4-BE49-F238E27FC236}">
                <a16:creationId xmlns:a16="http://schemas.microsoft.com/office/drawing/2014/main" id="{F3714BE3-32BD-4877-BF7A-946C6795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动态决策使执行边界问题更加突出。</a:t>
            </a:r>
          </a:p>
        </p:txBody>
      </p:sp>
      <p:sp>
        <p:nvSpPr>
          <p:cNvPr id="21" name="text-40">
            <a:extLst xmlns:a="http://schemas.openxmlformats.org/drawingml/2006/main">
              <a:ext uri="{FF2B5EF4-FFF2-40B4-BE49-F238E27FC236}">
                <a16:creationId xmlns:a16="http://schemas.microsoft.com/office/drawing/2014/main" id="{6CEF9B1C-1F67-47D6-8B64-0DE02A8E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基本原则：不设特权旁路，所有控制请求共用执行机制。</a:t>
            </a:r>
          </a:p>
        </p:txBody>
      </p:sp>
      <p:sp>
        <p:nvSpPr>
          <p:cNvPr id="22" name="text-41">
            <a:extLst xmlns:a="http://schemas.openxmlformats.org/drawingml/2006/main">
              <a:ext uri="{FF2B5EF4-FFF2-40B4-BE49-F238E27FC236}">
                <a16:creationId xmlns:a16="http://schemas.microsoft.com/office/drawing/2014/main" id="{955F396B-6693-4467-8CE7-98BA362B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我们的工作：将模型、状态、流程与约束纳入统一可执行框架。</a:t>
            </a:r>
          </a:p>
        </p:txBody>
      </p:sp>
      <p:sp>
        <p:nvSpPr>
          <p:cNvPr id="23" name="rule-42">
            <a:extLst xmlns:a="http://schemas.openxmlformats.org/drawingml/2006/main">
              <a:ext uri="{FF2B5EF4-FFF2-40B4-BE49-F238E27FC236}">
                <a16:creationId xmlns:a16="http://schemas.microsoft.com/office/drawing/2014/main" id="{6F9332E3-4335-4E62-B4B6-8D8D2A98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4" name="text-43">
            <a:extLst xmlns:a="http://schemas.openxmlformats.org/drawingml/2006/main">
              <a:ext uri="{FF2B5EF4-FFF2-40B4-BE49-F238E27FC236}">
                <a16:creationId xmlns:a16="http://schemas.microsoft.com/office/drawing/2014/main" id="{8F2B2E9E-41BB-4393-B4F8-239ECF34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大模型的参与，使统一执行边界的需求更加突出。</a:t>
            </a:r>
          </a:p>
        </p:txBody>
      </p:sp>
    </p:spTree>
    <p:extLst>
      <p:ext uri="{BB962C8B-B14F-4D97-AF65-F5344CB8AC3E}">
        <p14:creationId xmlns:p14="http://schemas.microsoft.com/office/powerpoint/2010/main" val="20193763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DB1527-8C0F-401F-8516-77B16C03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DED688-C690-43F6-8690-CE2B6348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统一建模框架：L = ⟨R, F, C, Π⟩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6642D7E-4B01-4235-AF51-2C3F27E5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1766548-9FCA-4D53-B49B-4956B626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-44">
            <a:extLst xmlns:a="http://schemas.openxmlformats.org/drawingml/2006/main">
              <a:ext uri="{FF2B5EF4-FFF2-40B4-BE49-F238E27FC236}">
                <a16:creationId xmlns:a16="http://schemas.microsoft.com/office/drawing/2014/main" id="{48C0508D-4935-44A8-BF2B-A2E4340A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用统一模型描述资源、状态、数据与执行边界。</a:t>
            </a:r>
          </a:p>
        </p:txBody>
      </p:sp>
      <p:sp>
        <p:nvSpPr>
          <p:cNvPr id="19" name="text-45">
            <a:extLst xmlns:a="http://schemas.openxmlformats.org/drawingml/2006/main">
              <a:ext uri="{FF2B5EF4-FFF2-40B4-BE49-F238E27FC236}">
                <a16:creationId xmlns:a16="http://schemas.microsoft.com/office/drawing/2014/main" id="{16C1194B-8F8E-4069-B284-109104D4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R 资源层</a:t>
            </a:r>
          </a:p>
        </p:txBody>
      </p:sp>
      <p:sp>
        <p:nvSpPr>
          <p:cNvPr id="20" name="text-46">
            <a:extLst xmlns:a="http://schemas.openxmlformats.org/drawingml/2006/main">
              <a:ext uri="{FF2B5EF4-FFF2-40B4-BE49-F238E27FC236}">
                <a16:creationId xmlns:a16="http://schemas.microsoft.com/office/drawing/2014/main" id="{42D1EAEC-B6ED-40AC-A5C9-B66F6941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设备能力与属性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状态机与执行反馈</a:t>
            </a:r>
          </a:p>
        </p:txBody>
      </p:sp>
      <p:sp>
        <p:nvSpPr>
          <p:cNvPr id="21" name="separator-47">
            <a:extLst xmlns:a="http://schemas.openxmlformats.org/drawingml/2006/main">
              <a:ext uri="{FF2B5EF4-FFF2-40B4-BE49-F238E27FC236}">
                <a16:creationId xmlns:a16="http://schemas.microsoft.com/office/drawing/2014/main" id="{A67C4A1D-4D81-43B7-843A-6C18CC7B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38375"/>
            <a:ext cx="952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2" name="text-48">
            <a:extLst xmlns:a="http://schemas.openxmlformats.org/drawingml/2006/main">
              <a:ext uri="{FF2B5EF4-FFF2-40B4-BE49-F238E27FC236}">
                <a16:creationId xmlns:a16="http://schemas.microsoft.com/office/drawing/2014/main" id="{E6F75839-49B5-42D2-A380-FE9CCD0B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57425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F 工作流层</a:t>
            </a:r>
          </a:p>
        </p:txBody>
      </p:sp>
      <p:sp>
        <p:nvSpPr>
          <p:cNvPr id="23" name="text-49">
            <a:extLst xmlns:a="http://schemas.openxmlformats.org/drawingml/2006/main">
              <a:ext uri="{FF2B5EF4-FFF2-40B4-BE49-F238E27FC236}">
                <a16:creationId xmlns:a16="http://schemas.microsoft.com/office/drawing/2014/main" id="{C8200935-5D08-452A-9C80-E24DA0BE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任务步骤与数据依赖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节点、接口与触发器</a:t>
            </a:r>
          </a:p>
        </p:txBody>
      </p:sp>
      <p:sp>
        <p:nvSpPr>
          <p:cNvPr id="24" name="separator-50">
            <a:extLst xmlns:a="http://schemas.openxmlformats.org/drawingml/2006/main">
              <a:ext uri="{FF2B5EF4-FFF2-40B4-BE49-F238E27FC236}">
                <a16:creationId xmlns:a16="http://schemas.microsoft.com/office/drawing/2014/main" id="{0E8C3417-1DED-4975-A63F-F801D4E7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38375"/>
            <a:ext cx="952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5" name="text-51">
            <a:extLst xmlns:a="http://schemas.openxmlformats.org/drawingml/2006/main">
              <a:ext uri="{FF2B5EF4-FFF2-40B4-BE49-F238E27FC236}">
                <a16:creationId xmlns:a16="http://schemas.microsoft.com/office/drawing/2014/main" id="{512D4E1F-5EA8-4FC9-810C-9C61B739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57425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C 约束层</a:t>
            </a:r>
          </a:p>
        </p:txBody>
      </p:sp>
      <p:sp>
        <p:nvSpPr>
          <p:cNvPr id="26" name="text-52">
            <a:extLst xmlns:a="http://schemas.openxmlformats.org/drawingml/2006/main">
              <a:ext uri="{FF2B5EF4-FFF2-40B4-BE49-F238E27FC236}">
                <a16:creationId xmlns:a16="http://schemas.microsoft.com/office/drawing/2014/main" id="{E69758C8-61F5-4697-99C6-F6F08110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实验室基线与任务边界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观察条件与处理动作</a:t>
            </a:r>
          </a:p>
        </p:txBody>
      </p:sp>
      <p:sp>
        <p:nvSpPr>
          <p:cNvPr id="27" name="text-53">
            <a:extLst xmlns:a="http://schemas.openxmlformats.org/drawingml/2006/main">
              <a:ext uri="{FF2B5EF4-FFF2-40B4-BE49-F238E27FC236}">
                <a16:creationId xmlns:a16="http://schemas.microsoft.com/office/drawing/2014/main" id="{F4FEA4E7-0A8B-4517-9E5C-C8498BB3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Π 跨层协议：约定控制信号、数据类型与反馈格式。</a:t>
            </a:r>
          </a:p>
        </p:txBody>
      </p:sp>
      <p:sp>
        <p:nvSpPr>
          <p:cNvPr id="28" name="text-54">
            <a:extLst xmlns:a="http://schemas.openxmlformats.org/drawingml/2006/main">
              <a:ext uri="{FF2B5EF4-FFF2-40B4-BE49-F238E27FC236}">
                <a16:creationId xmlns:a16="http://schemas.microsoft.com/office/drawing/2014/main" id="{9504BD00-8902-4B11-9B52-C15D024C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模型定义对象与规则，统一执行机制解释并运行模型。</a:t>
            </a:r>
          </a:p>
        </p:txBody>
      </p:sp>
      <p:sp>
        <p:nvSpPr>
          <p:cNvPr id="29" name="rule-55">
            <a:extLst xmlns:a="http://schemas.openxmlformats.org/drawingml/2006/main">
              <a:ext uri="{FF2B5EF4-FFF2-40B4-BE49-F238E27FC236}">
                <a16:creationId xmlns:a16="http://schemas.microsoft.com/office/drawing/2014/main" id="{0401B976-5C2F-4B5C-B060-3CF305DD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30" name="text-56">
            <a:extLst xmlns:a="http://schemas.openxmlformats.org/drawingml/2006/main">
              <a:ext uri="{FF2B5EF4-FFF2-40B4-BE49-F238E27FC236}">
                <a16:creationId xmlns:a16="http://schemas.microsoft.com/office/drawing/2014/main" id="{EDF7846A-C2EF-414C-B489-A4A42A33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资源、工作流与约束共同构成实验室任务执行模型。</a:t>
            </a:r>
          </a:p>
        </p:txBody>
      </p:sp>
    </p:spTree>
    <p:extLst>
      <p:ext uri="{BB962C8B-B14F-4D97-AF65-F5344CB8AC3E}">
        <p14:creationId xmlns:p14="http://schemas.microsoft.com/office/powerpoint/2010/main" val="18167011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94A7FCF-90AA-4A43-A59B-460F639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6B6F955-271D-494A-9C8C-34DC837C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2C22E5-345A-4C5B-84E1-6CE6E251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034F3B0-DC9C-4B8B-AD4A-E5E1AADF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57">
            <a:extLst xmlns:a="http://schemas.openxmlformats.org/drawingml/2006/main">
              <a:ext uri="{FF2B5EF4-FFF2-40B4-BE49-F238E27FC236}">
                <a16:creationId xmlns:a16="http://schemas.microsoft.com/office/drawing/2014/main" id="{83344250-4185-4882-8D38-DFB0C371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设备对象模型由能力模型与状态机构成。</a:t>
            </a:r>
          </a:p>
        </p:txBody>
      </p:sp>
      <p:sp>
        <p:nvSpPr>
          <p:cNvPr id="9" name="text-58">
            <a:extLst xmlns:a="http://schemas.openxmlformats.org/drawingml/2006/main">
              <a:ext uri="{FF2B5EF4-FFF2-40B4-BE49-F238E27FC236}">
                <a16:creationId xmlns:a16="http://schemas.microsoft.com/office/drawing/2014/main" id="{58C3BCF3-4305-4D8E-AEDB-68CFD6AC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10" name="text-59">
            <a:extLst xmlns:a="http://schemas.openxmlformats.org/drawingml/2006/main">
              <a:ext uri="{FF2B5EF4-FFF2-40B4-BE49-F238E27FC236}">
                <a16:creationId xmlns:a16="http://schemas.microsoft.com/office/drawing/2014/main" id="{03C84070-7C4A-4835-9D5C-B20A0447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47339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设备属性、能力参数与数据端口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定义可调用的设备操作</a:t>
            </a:r>
          </a:p>
        </p:txBody>
      </p:sp>
      <p:sp>
        <p:nvSpPr>
          <p:cNvPr id="11" name="separator-60">
            <a:extLst xmlns:a="http://schemas.openxmlformats.org/drawingml/2006/main">
              <a:ext uri="{FF2B5EF4-FFF2-40B4-BE49-F238E27FC236}">
                <a16:creationId xmlns:a16="http://schemas.microsoft.com/office/drawing/2014/main" id="{E425626C-2D13-40C4-A74E-71A854B5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600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2309BB8D-4C47-4E83-80EA-D100E409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13" name="text-62">
            <a:extLst xmlns:a="http://schemas.openxmlformats.org/drawingml/2006/main">
              <a:ext uri="{FF2B5EF4-FFF2-40B4-BE49-F238E27FC236}">
                <a16:creationId xmlns:a16="http://schemas.microsoft.com/office/drawing/2014/main" id="{EF76383A-1BB5-44D0-AD4F-6BF3A4FE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24175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状态、接口与转移规则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管理请求处理、发令与反馈</a:t>
            </a:r>
          </a:p>
        </p:txBody>
      </p:sp>
      <p:sp>
        <p:nvSpPr>
          <p:cNvPr id="14" name="text-63">
            <a:extLst xmlns:a="http://schemas.openxmlformats.org/drawingml/2006/main">
              <a:ext uri="{FF2B5EF4-FFF2-40B4-BE49-F238E27FC236}">
                <a16:creationId xmlns:a16="http://schemas.microsoft.com/office/drawing/2014/main" id="{363CC989-0F40-41F8-B4D4-7A3256E9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状态机经 Adapter 发令，设备反馈更新模型状态。</a:t>
            </a:r>
          </a:p>
        </p:txBody>
      </p: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14E7E2B4-1355-4268-959E-100741C7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设备控制请求都须经过模型与状态机。</a:t>
            </a:r>
          </a:p>
        </p:txBody>
      </p:sp>
      <p:sp>
        <p:nvSpPr>
          <p:cNvPr id="16" name="rule-65">
            <a:extLst xmlns:a="http://schemas.openxmlformats.org/drawingml/2006/main">
              <a:ext uri="{FF2B5EF4-FFF2-40B4-BE49-F238E27FC236}">
                <a16:creationId xmlns:a16="http://schemas.microsoft.com/office/drawing/2014/main" id="{E69BB8F7-3F86-4D0D-8235-E1FABC4B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7" name="text-66">
            <a:extLst xmlns:a="http://schemas.openxmlformats.org/drawingml/2006/main">
              <a:ext uri="{FF2B5EF4-FFF2-40B4-BE49-F238E27FC236}">
                <a16:creationId xmlns:a16="http://schemas.microsoft.com/office/drawing/2014/main" id="{C72723F2-B3A5-4C72-A34C-2BC5BB22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能力定义可执行的操作，状态机组织操作的执行过程。</a:t>
            </a:r>
          </a:p>
        </p:txBody>
      </p:sp>
    </p:spTree>
    <p:extLst>
      <p:ext uri="{BB962C8B-B14F-4D97-AF65-F5344CB8AC3E}">
        <p14:creationId xmlns:p14="http://schemas.microsoft.com/office/powerpoint/2010/main" val="12090647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FB015B-0AC2-4375-B396-EC594F9C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2D7CB1-0F5E-4F18-89EB-41A3EFD9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671BB5-68C1-40CE-8322-D04B2FFC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497B97-1CF4-40A7-B28F-62B2D535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67">
            <a:extLst xmlns:a="http://schemas.openxmlformats.org/drawingml/2006/main">
              <a:ext uri="{FF2B5EF4-FFF2-40B4-BE49-F238E27FC236}">
                <a16:creationId xmlns:a16="http://schemas.microsoft.com/office/drawing/2014/main" id="{FACC7201-C8F3-4105-835E-30FDD844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工作流组织任务步骤及数据依赖，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节点通过接口和触发器协同执行。</a:t>
            </a:r>
          </a:p>
        </p:txBody>
      </p:sp>
      <p:sp>
        <p:nvSpPr>
          <p:cNvPr id="8" name="text-68">
            <a:extLst xmlns:a="http://schemas.openxmlformats.org/drawingml/2006/main">
              <a:ext uri="{FF2B5EF4-FFF2-40B4-BE49-F238E27FC236}">
                <a16:creationId xmlns:a16="http://schemas.microsoft.com/office/drawing/2014/main" id="{E0817A15-DCBA-4670-9833-23F4881E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节点与变量</a:t>
            </a:r>
          </a:p>
        </p:txBody>
      </p:sp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D24F41BC-019D-402E-8082-E25310BB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819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变量保存任务数据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生命周期描述执行进度</a:t>
            </a:r>
          </a:p>
        </p:txBody>
      </p:sp>
      <p:sp>
        <p:nvSpPr>
          <p:cNvPr id="10" name="separator-70">
            <a:extLst xmlns:a="http://schemas.openxmlformats.org/drawingml/2006/main">
              <a:ext uri="{FF2B5EF4-FFF2-40B4-BE49-F238E27FC236}">
                <a16:creationId xmlns:a16="http://schemas.microsoft.com/office/drawing/2014/main" id="{1BD29D22-0E89-460A-ADA0-3046B411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71725"/>
            <a:ext cx="95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1" name="text-71">
            <a:extLst xmlns:a="http://schemas.openxmlformats.org/drawingml/2006/main">
              <a:ext uri="{FF2B5EF4-FFF2-40B4-BE49-F238E27FC236}">
                <a16:creationId xmlns:a16="http://schemas.microsoft.com/office/drawing/2014/main" id="{B329A30D-1AA8-4F70-A361-234F5AC2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98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接口与端口</a:t>
            </a:r>
          </a:p>
        </p:txBody>
      </p:sp>
      <p:sp>
        <p:nvSpPr>
          <p:cNvPr id="12" name="text-72">
            <a:extLst xmlns:a="http://schemas.openxmlformats.org/drawingml/2006/main">
              <a:ext uri="{FF2B5EF4-FFF2-40B4-BE49-F238E27FC236}">
                <a16:creationId xmlns:a16="http://schemas.microsoft.com/office/drawing/2014/main" id="{50DB8B4A-2054-4DF5-8123-9AEC1858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接口传递控制信号与载荷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端口传递实验数据</a:t>
            </a:r>
          </a:p>
        </p:txBody>
      </p:sp>
      <p:sp>
        <p:nvSpPr>
          <p:cNvPr id="13" name="text-73">
            <a:extLst xmlns:a="http://schemas.openxmlformats.org/drawingml/2006/main">
              <a:ext uri="{FF2B5EF4-FFF2-40B4-BE49-F238E27FC236}">
                <a16:creationId xmlns:a16="http://schemas.microsoft.com/office/drawing/2014/main" id="{AEE12B10-390E-408D-8AB4-F5CC6826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触发器判断条件，更新节点状态或发出控制信号。</a:t>
            </a:r>
          </a:p>
        </p:txBody>
      </p:sp>
      <p:sp>
        <p:nvSpPr>
          <p:cNvPr id="14" name="text-74">
            <a:extLst xmlns:a="http://schemas.openxmlformats.org/drawingml/2006/main">
              <a:ext uri="{FF2B5EF4-FFF2-40B4-BE49-F238E27FC236}">
                <a16:creationId xmlns:a16="http://schemas.microsoft.com/office/drawing/2014/main" id="{35E765BE-0E4D-4FB1-AF14-0B3CF0C7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分支、同步与等待共同组织任务执行。</a:t>
            </a:r>
          </a:p>
        </p:txBody>
      </p:sp>
      <p:sp>
        <p:nvSpPr>
          <p:cNvPr id="15" name="rule-75">
            <a:extLst xmlns:a="http://schemas.openxmlformats.org/drawingml/2006/main">
              <a:ext uri="{FF2B5EF4-FFF2-40B4-BE49-F238E27FC236}">
                <a16:creationId xmlns:a16="http://schemas.microsoft.com/office/drawing/2014/main" id="{019A07ED-C737-4DD5-BCE7-007EE6C8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6" name="text-76">
            <a:extLst xmlns:a="http://schemas.openxmlformats.org/drawingml/2006/main">
              <a:ext uri="{FF2B5EF4-FFF2-40B4-BE49-F238E27FC236}">
                <a16:creationId xmlns:a16="http://schemas.microsoft.com/office/drawing/2014/main" id="{35643969-4D87-4511-A777-9BD707DA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节点、接口与触发器共同定义任务步骤的执行逻辑。</a:t>
            </a:r>
          </a:p>
        </p:txBody>
      </p:sp>
    </p:spTree>
    <p:extLst>
      <p:ext uri="{BB962C8B-B14F-4D97-AF65-F5344CB8AC3E}">
        <p14:creationId xmlns:p14="http://schemas.microsoft.com/office/powerpoint/2010/main" val="10288220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FC6F03-03A4-49D8-8EB4-4CA1D722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C2C8577-8ED3-4077-B2BB-07103EFE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E4616B2-5401-4B5C-9052-F6431BD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8344C7A-A4AF-4C74-B7FE-8CD38F6F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77">
            <a:extLst xmlns:a="http://schemas.openxmlformats.org/drawingml/2006/main">
              <a:ext uri="{FF2B5EF4-FFF2-40B4-BE49-F238E27FC236}">
                <a16:creationId xmlns:a16="http://schemas.microsoft.com/office/drawing/2014/main" id="{A7E6B0E8-8D54-48D4-8979-E4C891A5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约束统一观察资源状态与工作流上下文。</a:t>
            </a:r>
          </a:p>
        </p:txBody>
      </p:sp>
      <p:sp>
        <p:nvSpPr>
          <p:cNvPr id="9" name="text-78">
            <a:extLst xmlns:a="http://schemas.openxmlformats.org/drawingml/2006/main">
              <a:ext uri="{FF2B5EF4-FFF2-40B4-BE49-F238E27FC236}">
                <a16:creationId xmlns:a16="http://schemas.microsoft.com/office/drawing/2014/main" id="{53C3C4A0-F251-407D-A9D2-5E16F3FA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观察对象</a:t>
            </a:r>
          </a:p>
        </p:txBody>
      </p:sp>
      <p:sp>
        <p:nvSpPr>
          <p:cNvPr id="10" name="text-79">
            <a:extLst xmlns:a="http://schemas.openxmlformats.org/drawingml/2006/main">
              <a:ext uri="{FF2B5EF4-FFF2-40B4-BE49-F238E27FC236}">
                <a16:creationId xmlns:a16="http://schemas.microsoft.com/office/drawing/2014/main" id="{F8E1CFCC-F4AA-4CDA-90F5-3ABEA0C2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762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资源侧：设备属性与状态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工作流侧：节点状态与任务数据</a:t>
            </a:r>
          </a:p>
        </p:txBody>
      </p:sp>
      <p:sp>
        <p:nvSpPr>
          <p:cNvPr id="11" name="separator-80">
            <a:extLst xmlns:a="http://schemas.openxmlformats.org/drawingml/2006/main">
              <a:ext uri="{FF2B5EF4-FFF2-40B4-BE49-F238E27FC236}">
                <a16:creationId xmlns:a16="http://schemas.microsoft.com/office/drawing/2014/main" id="{D475E692-1A38-44D3-866C-5E65E169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6000"/>
            <a:ext cx="9525" cy="1990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2" name="text-81">
            <a:extLst xmlns:a="http://schemas.openxmlformats.org/drawingml/2006/main">
              <a:ext uri="{FF2B5EF4-FFF2-40B4-BE49-F238E27FC236}">
                <a16:creationId xmlns:a16="http://schemas.microsoft.com/office/drawing/2014/main" id="{430ACB0C-9443-4496-AAF5-6515E2DA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约束类型</a:t>
            </a:r>
          </a:p>
        </p:txBody>
      </p:sp>
      <p:sp>
        <p:nvSpPr>
          <p:cNvPr id="13" name="text-82">
            <a:extLst xmlns:a="http://schemas.openxmlformats.org/drawingml/2006/main">
              <a:ext uri="{FF2B5EF4-FFF2-40B4-BE49-F238E27FC236}">
                <a16:creationId xmlns:a16="http://schemas.microsoft.com/office/drawing/2014/main" id="{377E1C92-2F86-4556-8689-A51BD158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4762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任务目标与允许边界</a:t>
            </a:r>
          </a:p>
        </p:txBody>
      </p:sp>
      <p:sp>
        <p:nvSpPr>
          <p:cNvPr id="14" name="text-83">
            <a:extLst xmlns:a="http://schemas.openxmlformats.org/drawingml/2006/main">
              <a:ext uri="{FF2B5EF4-FFF2-40B4-BE49-F238E27FC236}">
                <a16:creationId xmlns:a16="http://schemas.microsoft.com/office/drawing/2014/main" id="{2DC8FEC4-55A5-42AD-AE9C-9481783E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条件成立时，执行警告、报警、停止或中止等动作。</a:t>
            </a:r>
          </a:p>
        </p:txBody>
      </p:sp>
      <p:sp>
        <p:nvSpPr>
          <p:cNvPr id="15" name="text-84">
            <a:extLst xmlns:a="http://schemas.openxmlformats.org/drawingml/2006/main">
              <a:ext uri="{FF2B5EF4-FFF2-40B4-BE49-F238E27FC236}">
                <a16:creationId xmlns:a16="http://schemas.microsoft.com/office/drawing/2014/main" id="{9FF9DEDF-1D30-4DBB-98D3-01CDAFCF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设备内部约束由状态机本地处理。</a:t>
            </a:r>
          </a:p>
        </p:txBody>
      </p:sp>
      <p:sp>
        <p:nvSpPr>
          <p:cNvPr id="16" name="rule-85">
            <a:extLst xmlns:a="http://schemas.openxmlformats.org/drawingml/2006/main">
              <a:ext uri="{FF2B5EF4-FFF2-40B4-BE49-F238E27FC236}">
                <a16:creationId xmlns:a16="http://schemas.microsoft.com/office/drawing/2014/main" id="{31FE1C39-FE1D-47E4-BE08-96952DA9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7" name="text-86">
            <a:extLst xmlns:a="http://schemas.openxmlformats.org/drawingml/2006/main">
              <a:ext uri="{FF2B5EF4-FFF2-40B4-BE49-F238E27FC236}">
                <a16:creationId xmlns:a16="http://schemas.microsoft.com/office/drawing/2014/main" id="{A1C9C63E-7576-426D-A350-BA956A3B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约束与任务执行共用模型对象，使执行边界可以被观察和检查。</a:t>
            </a:r>
          </a:p>
        </p:txBody>
      </p:sp>
    </p:spTree>
    <p:extLst>
      <p:ext uri="{BB962C8B-B14F-4D97-AF65-F5344CB8AC3E}">
        <p14:creationId xmlns:p14="http://schemas.microsoft.com/office/powerpoint/2010/main" val="6884730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9163D9-980C-4714-9783-06B13EF9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42BFAFE-011B-498E-BFF0-F7B9F1D1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E3775A6-0E45-48C4-825B-1CF0C273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2AF8FB-DF12-4C2C-BEB7-A611C57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-87">
            <a:extLst xmlns:a="http://schemas.openxmlformats.org/drawingml/2006/main">
              <a:ext uri="{FF2B5EF4-FFF2-40B4-BE49-F238E27FC236}">
                <a16:creationId xmlns:a16="http://schemas.microsoft.com/office/drawing/2014/main" id="{BC2E20AE-FBC0-41E4-8701-A0091440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流程调用设备模型，状态机经 Adapter 控制设备。</a:t>
            </a:r>
          </a:p>
        </p:txBody>
      </p:sp>
      <p:sp>
        <p:nvSpPr>
          <p:cNvPr id="13" name="FORMAL_FIGURE_1_PLACEHOLDER">
            <a:extLst xmlns:a="http://schemas.openxmlformats.org/drawingml/2006/main">
              <a:ext uri="{FF2B5EF4-FFF2-40B4-BE49-F238E27FC236}">
                <a16:creationId xmlns:a16="http://schemas.microsoft.com/office/drawing/2014/main" id="{F21C2770-CFDE-4AC4-9742-A859065F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000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B6C9D9"/>
            </a:solidFill>
            <a:prstDash val="dash"/>
          </a:ln>
        </p:spPr>
      </p:sp>
      <p:sp>
        <p:nvSpPr>
          <p:cNvPr id="14" name="text-88">
            <a:extLst xmlns:a="http://schemas.openxmlformats.org/drawingml/2006/main">
              <a:ext uri="{FF2B5EF4-FFF2-40B4-BE49-F238E27FC236}">
                <a16:creationId xmlns:a16="http://schemas.microsoft.com/office/drawing/2014/main" id="{BD64CD51-7CE1-477D-A2C9-13AE6A4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" name="text-89">
            <a:extLst xmlns:a="http://schemas.openxmlformats.org/drawingml/2006/main">
              <a:ext uri="{FF2B5EF4-FFF2-40B4-BE49-F238E27FC236}">
                <a16:creationId xmlns:a16="http://schemas.microsoft.com/office/drawing/2014/main" id="{E6EA4561-DEF2-4497-9F50-DF333589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924300"/>
            <a:ext cx="59150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text-90">
            <a:extLst xmlns:a="http://schemas.openxmlformats.org/drawingml/2006/main">
              <a:ext uri="{FF2B5EF4-FFF2-40B4-BE49-F238E27FC236}">
                <a16:creationId xmlns:a16="http://schemas.microsoft.com/office/drawing/2014/main" id="{18FE06E3-67DB-420E-BE63-AED9FC93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86000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横向组织任务</a:t>
            </a:r>
          </a:p>
        </p:txBody>
      </p:sp>
      <p:sp>
        <p:nvSpPr>
          <p:cNvPr id="17" name="text-91">
            <a:extLst xmlns:a="http://schemas.openxmlformats.org/drawingml/2006/main">
              <a:ext uri="{FF2B5EF4-FFF2-40B4-BE49-F238E27FC236}">
                <a16:creationId xmlns:a16="http://schemas.microsoft.com/office/drawing/2014/main" id="{38990CCA-53AC-4753-8AD7-083A4296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24150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节点通过接口与端口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连接步骤和数据</a:t>
            </a:r>
          </a:p>
        </p:txBody>
      </p:sp>
      <p:sp>
        <p:nvSpPr>
          <p:cNvPr id="18" name="text-92">
            <a:extLst xmlns:a="http://schemas.openxmlformats.org/drawingml/2006/main">
              <a:ext uri="{FF2B5EF4-FFF2-40B4-BE49-F238E27FC236}">
                <a16:creationId xmlns:a16="http://schemas.microsoft.com/office/drawing/2014/main" id="{F1917F4C-783F-4E44-8458-86DC89E5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95675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纵向完成执行</a:t>
            </a:r>
          </a:p>
        </p:txBody>
      </p:sp>
      <p:sp>
        <p:nvSpPr>
          <p:cNvPr id="19" name="text-93">
            <a:extLst xmlns:a="http://schemas.openxmlformats.org/drawingml/2006/main">
              <a:ext uri="{FF2B5EF4-FFF2-40B4-BE49-F238E27FC236}">
                <a16:creationId xmlns:a16="http://schemas.microsoft.com/office/drawing/2014/main" id="{744FF4D6-47AF-4F6B-9D95-BFBDE0D7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33825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设备状态机经 Adapter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发令并接收反馈</a:t>
            </a:r>
          </a:p>
        </p:txBody>
      </p:sp>
      <p:sp>
        <p:nvSpPr>
          <p:cNvPr id="20" name="text-94">
            <a:extLst xmlns:a="http://schemas.openxmlformats.org/drawingml/2006/main">
              <a:ext uri="{FF2B5EF4-FFF2-40B4-BE49-F238E27FC236}">
                <a16:creationId xmlns:a16="http://schemas.microsoft.com/office/drawing/2014/main" id="{86D6CA7B-ACBA-4DC2-8FB4-B54128EA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705350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共同执行边界</a:t>
            </a:r>
          </a:p>
        </p:txBody>
      </p:sp>
      <p:sp>
        <p:nvSpPr>
          <p:cNvPr id="21" name="text-95">
            <a:extLst xmlns:a="http://schemas.openxmlformats.org/drawingml/2006/main">
              <a:ext uri="{FF2B5EF4-FFF2-40B4-BE49-F238E27FC236}">
                <a16:creationId xmlns:a16="http://schemas.microsoft.com/office/drawing/2014/main" id="{ABAB0604-CFF6-4DBE-B554-0AADC7EE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143500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人、流程和大模型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共用设备执行机制</a:t>
            </a:r>
          </a:p>
        </p:txBody>
      </p:sp>
      <p:sp>
        <p:nvSpPr>
          <p:cNvPr id="22" name="rule-96">
            <a:extLst xmlns:a="http://schemas.openxmlformats.org/drawingml/2006/main">
              <a:ext uri="{FF2B5EF4-FFF2-40B4-BE49-F238E27FC236}">
                <a16:creationId xmlns:a16="http://schemas.microsoft.com/office/drawing/2014/main" id="{C41B6339-FEC5-483F-BE97-14878570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3" name="text-97">
            <a:extLst xmlns:a="http://schemas.openxmlformats.org/drawingml/2006/main">
              <a:ext uri="{FF2B5EF4-FFF2-40B4-BE49-F238E27FC236}">
                <a16:creationId xmlns:a16="http://schemas.microsoft.com/office/drawing/2014/main" id="{474604B6-B6D4-47A2-9135-BDD660AA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意图来源可以不同，设备执行都须经过模型、状态机与共同约束。</a:t>
            </a:r>
          </a:p>
        </p:txBody>
      </p:sp>
      <p:pic xmlns:a="http://schemas.openxmlformats.org/drawingml/2006/main" xmlns:r="http://schemas.openxmlformats.org/officeDocument/2006/relationships">
        <p:nvPicPr>
          <p:cNvPr id="24" name="Picture 23" descr="figure_1_unified_exec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95500"/>
            <a:ext cx="70008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742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B27CB85-55C8-43AF-9304-B7FA6028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A869FD-6C18-4E93-9D47-26F99429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EA28A86-C763-43A0-ACEB-B8E854EF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7E5A4A-B8A6-4AAB-A2B0-47DB1427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98">
            <a:extLst xmlns:a="http://schemas.openxmlformats.org/drawingml/2006/main">
              <a:ext uri="{FF2B5EF4-FFF2-40B4-BE49-F238E27FC236}">
                <a16:creationId xmlns:a16="http://schemas.microsoft.com/office/drawing/2014/main" id="{EAC27FD8-BA79-4F88-B5C9-564DB114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在 SmartLab 2.0 原型中实例化加热任务及其执行链路。</a:t>
            </a:r>
          </a:p>
        </p:txBody>
      </p:sp>
      <p:sp>
        <p:nvSpPr>
          <p:cNvPr id="10" name="FORMAL_FIGURE_2_PLACEHOLDER">
            <a:extLst xmlns:a="http://schemas.openxmlformats.org/drawingml/2006/main">
              <a:ext uri="{FF2B5EF4-FFF2-40B4-BE49-F238E27FC236}">
                <a16:creationId xmlns:a16="http://schemas.microsoft.com/office/drawing/2014/main" id="{F67ADF77-AD13-4686-965E-3FBA3652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000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B6C9D9"/>
            </a:solidFill>
            <a:prstDash val="dash"/>
          </a:ln>
        </p:spPr>
      </p:sp>
      <p:sp>
        <p:nvSpPr>
          <p:cNvPr id="11" name="text-99">
            <a:extLst xmlns:a="http://schemas.openxmlformats.org/drawingml/2006/main">
              <a:ext uri="{FF2B5EF4-FFF2-40B4-BE49-F238E27FC236}">
                <a16:creationId xmlns:a16="http://schemas.microsoft.com/office/drawing/2014/main" id="{90C84CDE-8E37-4B47-B24E-500DC172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text-100">
            <a:extLst xmlns:a="http://schemas.openxmlformats.org/drawingml/2006/main">
              <a:ext uri="{FF2B5EF4-FFF2-40B4-BE49-F238E27FC236}">
                <a16:creationId xmlns:a16="http://schemas.microsoft.com/office/drawing/2014/main" id="{B03D81C8-D540-4988-999B-6038E824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924300"/>
            <a:ext cx="59150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3" name="text-101">
            <a:extLst xmlns:a="http://schemas.openxmlformats.org/drawingml/2006/main">
              <a:ext uri="{FF2B5EF4-FFF2-40B4-BE49-F238E27FC236}">
                <a16:creationId xmlns:a16="http://schemas.microsoft.com/office/drawing/2014/main" id="{F30CDD52-96BA-47B9-A72C-91AE60C4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86000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模型绑定</a:t>
            </a:r>
          </a:p>
        </p:txBody>
      </p:sp>
      <p:sp>
        <p:nvSpPr>
          <p:cNvPr id="14" name="text-102">
            <a:extLst xmlns:a="http://schemas.openxmlformats.org/drawingml/2006/main">
              <a:ext uri="{FF2B5EF4-FFF2-40B4-BE49-F238E27FC236}">
                <a16:creationId xmlns:a16="http://schemas.microsoft.com/office/drawing/2014/main" id="{B7DCD908-4258-49BA-B6FF-333BFA35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24150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加热节点绑定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反应釜加热能力</a:t>
            </a:r>
          </a:p>
        </p:txBody>
      </p:sp>
      <p:sp>
        <p:nvSpPr>
          <p:cNvPr id="15" name="text-103">
            <a:extLst xmlns:a="http://schemas.openxmlformats.org/drawingml/2006/main">
              <a:ext uri="{FF2B5EF4-FFF2-40B4-BE49-F238E27FC236}">
                <a16:creationId xmlns:a16="http://schemas.microsoft.com/office/drawing/2014/main" id="{0469BF41-4EE0-4551-808D-1624DB1B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95675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反馈推进</a:t>
            </a:r>
          </a:p>
        </p:txBody>
      </p:sp>
      <p:sp>
        <p:nvSpPr>
          <p:cNvPr id="16" name="text-104">
            <a:extLst xmlns:a="http://schemas.openxmlformats.org/drawingml/2006/main">
              <a:ext uri="{FF2B5EF4-FFF2-40B4-BE49-F238E27FC236}">
                <a16:creationId xmlns:a16="http://schemas.microsoft.com/office/drawing/2014/main" id="{C95D247B-3461-42B6-83D7-271EAD6A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33825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满足完成条件后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节点推进后续步骤</a:t>
            </a:r>
          </a:p>
        </p:txBody>
      </p:sp>
      <p:sp>
        <p:nvSpPr>
          <p:cNvPr id="17" name="text-105">
            <a:extLst xmlns:a="http://schemas.openxmlformats.org/drawingml/2006/main">
              <a:ext uri="{FF2B5EF4-FFF2-40B4-BE49-F238E27FC236}">
                <a16:creationId xmlns:a16="http://schemas.microsoft.com/office/drawing/2014/main" id="{A0202D86-533E-4563-8AA9-054AF37A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705350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约束介入</a:t>
            </a:r>
          </a:p>
        </p:txBody>
      </p:sp>
      <p:sp>
        <p:nvSpPr>
          <p:cNvPr id="18" name="text-106">
            <a:extLst xmlns:a="http://schemas.openxmlformats.org/drawingml/2006/main">
              <a:ext uri="{FF2B5EF4-FFF2-40B4-BE49-F238E27FC236}">
                <a16:creationId xmlns:a16="http://schemas.microsoft.com/office/drawing/2014/main" id="{5F854CE2-615C-4B74-B126-71D20401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143500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温度越界或异常时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按规则采取动作</a:t>
            </a:r>
          </a:p>
        </p:txBody>
      </p:sp>
      <p:sp>
        <p:nvSpPr>
          <p:cNvPr id="19" name="rule-107">
            <a:extLst xmlns:a="http://schemas.openxmlformats.org/drawingml/2006/main">
              <a:ext uri="{FF2B5EF4-FFF2-40B4-BE49-F238E27FC236}">
                <a16:creationId xmlns:a16="http://schemas.microsoft.com/office/drawing/2014/main" id="{50489994-4E03-4C69-BC63-1C040A07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0" name="text-108">
            <a:extLst xmlns:a="http://schemas.openxmlformats.org/drawingml/2006/main">
              <a:ext uri="{FF2B5EF4-FFF2-40B4-BE49-F238E27FC236}">
                <a16:creationId xmlns:a16="http://schemas.microsoft.com/office/drawing/2014/main" id="{E4E95C1B-1793-4F5A-A94D-A5ABF97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原型以具体任务展示模型如何参与设备执行。</a:t>
            </a:r>
          </a:p>
        </p:txBody>
      </p:sp>
      <p:pic xmlns:a="http://schemas.openxmlformats.org/drawingml/2006/main" xmlns:r="http://schemas.openxmlformats.org/officeDocument/2006/relationships">
        <p:nvPicPr>
          <p:cNvPr id="21" name="Picture 20" descr="figure_2_heating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95500"/>
            <a:ext cx="70008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7683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5033A-D4CA-48F2-BDCB-C2EB1667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FFE515C-5B26-483C-A7BB-20103441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B08595F-4D9E-4316-9F77-73F8F914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260D063-1D0E-4375-87F0-251AE5F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-109">
            <a:extLst xmlns:a="http://schemas.openxmlformats.org/drawingml/2006/main">
              <a:ext uri="{FF2B5EF4-FFF2-40B4-BE49-F238E27FC236}">
                <a16:creationId xmlns:a16="http://schemas.microsoft.com/office/drawing/2014/main" id="{4B4C020B-C968-4285-A773-847E64CD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仿真与实机在 Adapter 层区分，上层沿用相同模型与规则。</a:t>
            </a:r>
          </a:p>
        </p:txBody>
      </p:sp>
      <p:sp>
        <p:nvSpPr>
          <p:cNvPr id="13" name="FORMAL_FIGURE_3_PLACEHOLDER">
            <a:extLst xmlns:a="http://schemas.openxmlformats.org/drawingml/2006/main">
              <a:ext uri="{FF2B5EF4-FFF2-40B4-BE49-F238E27FC236}">
                <a16:creationId xmlns:a16="http://schemas.microsoft.com/office/drawing/2014/main" id="{FCF75301-1CB4-49B9-BEFF-8B409A4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000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B6C9D9"/>
            </a:solidFill>
            <a:prstDash val="dash"/>
          </a:ln>
        </p:spPr>
      </p:sp>
      <p:sp>
        <p:nvSpPr>
          <p:cNvPr id="14" name="text-110">
            <a:extLst xmlns:a="http://schemas.openxmlformats.org/drawingml/2006/main">
              <a:ext uri="{FF2B5EF4-FFF2-40B4-BE49-F238E27FC236}">
                <a16:creationId xmlns:a16="http://schemas.microsoft.com/office/drawing/2014/main" id="{A4EC869A-C48B-43D9-B680-6374441C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" name="text-111">
            <a:extLst xmlns:a="http://schemas.openxmlformats.org/drawingml/2006/main">
              <a:ext uri="{FF2B5EF4-FFF2-40B4-BE49-F238E27FC236}">
                <a16:creationId xmlns:a16="http://schemas.microsoft.com/office/drawing/2014/main" id="{A79EF330-0C74-45AD-B148-5D1E4669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924300"/>
            <a:ext cx="59150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text-112">
            <a:extLst xmlns:a="http://schemas.openxmlformats.org/drawingml/2006/main">
              <a:ext uri="{FF2B5EF4-FFF2-40B4-BE49-F238E27FC236}">
                <a16:creationId xmlns:a16="http://schemas.microsoft.com/office/drawing/2014/main" id="{B0229931-7640-494D-8431-361F53D2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86000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仿真执行</a:t>
            </a:r>
          </a:p>
        </p:txBody>
      </p:sp>
      <p:sp>
        <p:nvSpPr>
          <p:cNvPr id="17" name="text-113">
            <a:extLst xmlns:a="http://schemas.openxmlformats.org/drawingml/2006/main">
              <a:ext uri="{FF2B5EF4-FFF2-40B4-BE49-F238E27FC236}">
                <a16:creationId xmlns:a16="http://schemas.microsoft.com/office/drawing/2014/main" id="{959A491B-4EB8-43E9-8951-53119780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24150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统一链路接入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模拟设备与环境</a:t>
            </a:r>
          </a:p>
        </p:txBody>
      </p:sp>
      <p:sp>
        <p:nvSpPr>
          <p:cNvPr id="18" name="text-114">
            <a:extLst xmlns:a="http://schemas.openxmlformats.org/drawingml/2006/main">
              <a:ext uri="{FF2B5EF4-FFF2-40B4-BE49-F238E27FC236}">
                <a16:creationId xmlns:a16="http://schemas.microsoft.com/office/drawing/2014/main" id="{AC92F1B4-7FB5-4818-B865-D6B39C40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95675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反馈调整</a:t>
            </a:r>
          </a:p>
        </p:txBody>
      </p:sp>
      <p:sp>
        <p:nvSpPr>
          <p:cNvPr id="19" name="text-115">
            <a:extLst xmlns:a="http://schemas.openxmlformats.org/drawingml/2006/main">
              <a:ext uri="{FF2B5EF4-FFF2-40B4-BE49-F238E27FC236}">
                <a16:creationId xmlns:a16="http://schemas.microsoft.com/office/drawing/2014/main" id="{96030EA4-BDE5-47F0-835E-6241D1E5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33825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模拟结果驱动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大模型调整方案</a:t>
            </a:r>
          </a:p>
        </p:txBody>
      </p:sp>
      <p:sp>
        <p:nvSpPr>
          <p:cNvPr id="20" name="text-116">
            <a:extLst xmlns:a="http://schemas.openxmlformats.org/drawingml/2006/main">
              <a:ext uri="{FF2B5EF4-FFF2-40B4-BE49-F238E27FC236}">
                <a16:creationId xmlns:a16="http://schemas.microsoft.com/office/drawing/2014/main" id="{8D1D5E3F-E47D-4F70-BC59-79F5D825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705350"/>
            <a:ext cx="3324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满足条件后上机</a:t>
            </a:r>
          </a:p>
        </p:txBody>
      </p:sp>
      <p:sp>
        <p:nvSpPr>
          <p:cNvPr id="21" name="text-117">
            <a:extLst xmlns:a="http://schemas.openxmlformats.org/drawingml/2006/main">
              <a:ext uri="{FF2B5EF4-FFF2-40B4-BE49-F238E27FC236}">
                <a16:creationId xmlns:a16="http://schemas.microsoft.com/office/drawing/2014/main" id="{2DA1FD3B-7043-47A8-A9EE-F140FFF1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143500"/>
            <a:ext cx="33242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通过预设评估与检查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沿相同机制执行</a:t>
            </a:r>
          </a:p>
        </p:txBody>
      </p:sp>
      <p:sp>
        <p:nvSpPr>
          <p:cNvPr id="22" name="rule-118">
            <a:extLst xmlns:a="http://schemas.openxmlformats.org/drawingml/2006/main">
              <a:ext uri="{FF2B5EF4-FFF2-40B4-BE49-F238E27FC236}">
                <a16:creationId xmlns:a16="http://schemas.microsoft.com/office/drawing/2014/main" id="{992C84C8-4ED1-4B99-93DF-F70D7109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23" name="text-119">
            <a:extLst xmlns:a="http://schemas.openxmlformats.org/drawingml/2006/main">
              <a:ext uri="{FF2B5EF4-FFF2-40B4-BE49-F238E27FC236}">
                <a16:creationId xmlns:a16="http://schemas.microsoft.com/office/drawing/2014/main" id="{5D6089B0-B058-42E1-B558-5AEF8BFB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仿真反馈闭环作为统一执行框架的扩展方向。</a:t>
            </a:r>
          </a:p>
        </p:txBody>
      </p:sp>
      <p:pic xmlns:a="http://schemas.openxmlformats.org/drawingml/2006/main" xmlns:r="http://schemas.openxmlformats.org/officeDocument/2006/relationships">
        <p:nvPicPr>
          <p:cNvPr id="24" name="Picture 23" descr="figure_3_simulation_closed_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95500"/>
            <a:ext cx="70008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60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B71D5-E4C1-4847-B96E-4FA452B3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86F66A-581B-4598-B506-5F72CD56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7763E56-E0C0-48F0-B0B3-5F12994E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AE642F9-B282-4741-8019-EDB273CB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120">
            <a:extLst xmlns:a="http://schemas.openxmlformats.org/drawingml/2006/main">
              <a:ext uri="{FF2B5EF4-FFF2-40B4-BE49-F238E27FC236}">
                <a16:creationId xmlns:a16="http://schemas.microsoft.com/office/drawing/2014/main" id="{DDFE24CC-9F0A-4970-B5D0-8D9F0ABD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明确的建模语言与执行语义</a:t>
            </a:r>
          </a:p>
        </p:txBody>
      </p:sp>
      <p:sp>
        <p:nvSpPr>
          <p:cNvPr id="10" name="text-121">
            <a:extLst xmlns:a="http://schemas.openxmlformats.org/drawingml/2006/main">
              <a:ext uri="{FF2B5EF4-FFF2-40B4-BE49-F238E27FC236}">
                <a16:creationId xmlns:a16="http://schemas.microsoft.com/office/drawing/2014/main" id="{1AD4F320-18F1-45E7-9D9A-139F395E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统一结构</a:t>
            </a:r>
          </a:p>
        </p:txBody>
      </p:sp>
      <p:sp>
        <p:nvSpPr>
          <p:cNvPr id="11" name="text-122">
            <a:extLst xmlns:a="http://schemas.openxmlformats.org/drawingml/2006/main">
              <a:ext uri="{FF2B5EF4-FFF2-40B4-BE49-F238E27FC236}">
                <a16:creationId xmlns:a16="http://schemas.microsoft.com/office/drawing/2014/main" id="{DC29E597-D03F-4414-A02C-2F7F6EFE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43175"/>
            <a:ext cx="848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资源、工作流与约束共同描述任务执行。</a:t>
            </a:r>
          </a:p>
        </p:txBody>
      </p:sp>
      <p:sp>
        <p:nvSpPr>
          <p:cNvPr id="12" name="rule-123">
            <a:extLst xmlns:a="http://schemas.openxmlformats.org/drawingml/2006/main">
              <a:ext uri="{FF2B5EF4-FFF2-40B4-BE49-F238E27FC236}">
                <a16:creationId xmlns:a16="http://schemas.microsoft.com/office/drawing/2014/main" id="{5A85BF26-9C3B-4645-8F88-A189D1E1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0375"/>
            <a:ext cx="853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3" name="text-124">
            <a:extLst xmlns:a="http://schemas.openxmlformats.org/drawingml/2006/main">
              <a:ext uri="{FF2B5EF4-FFF2-40B4-BE49-F238E27FC236}">
                <a16:creationId xmlns:a16="http://schemas.microsoft.com/office/drawing/2014/main" id="{DFD195ED-F0A6-4087-A7BC-CF15F12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明确逻辑</a:t>
            </a:r>
          </a:p>
        </p:txBody>
      </p:sp>
      <p:sp>
        <p:nvSpPr>
          <p:cNvPr id="14" name="text-125">
            <a:extLst xmlns:a="http://schemas.openxmlformats.org/drawingml/2006/main">
              <a:ext uri="{FF2B5EF4-FFF2-40B4-BE49-F238E27FC236}">
                <a16:creationId xmlns:a16="http://schemas.microsoft.com/office/drawing/2014/main" id="{E55E2E02-F901-464A-AE24-606F7A65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848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接口、触发器与状态机定义交互和行为。</a:t>
            </a:r>
          </a:p>
        </p:txBody>
      </p:sp>
      <p:sp>
        <p:nvSpPr>
          <p:cNvPr id="15" name="rule-126">
            <a:extLst xmlns:a="http://schemas.openxmlformats.org/drawingml/2006/main">
              <a:ext uri="{FF2B5EF4-FFF2-40B4-BE49-F238E27FC236}">
                <a16:creationId xmlns:a16="http://schemas.microsoft.com/office/drawing/2014/main" id="{D3A3912A-4111-4808-98ED-466CD45D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38550"/>
            <a:ext cx="853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6" name="text-127">
            <a:extLst xmlns:a="http://schemas.openxmlformats.org/drawingml/2006/main">
              <a:ext uri="{FF2B5EF4-FFF2-40B4-BE49-F238E27FC236}">
                <a16:creationId xmlns:a16="http://schemas.microsoft.com/office/drawing/2014/main" id="{CE42134D-18E7-4F95-BBD5-999982FE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模型驱动</a:t>
            </a:r>
          </a:p>
        </p:txBody>
      </p:sp>
      <p:sp>
        <p:nvSpPr>
          <p:cNvPr id="17" name="text-128">
            <a:extLst xmlns:a="http://schemas.openxmlformats.org/drawingml/2006/main">
              <a:ext uri="{FF2B5EF4-FFF2-40B4-BE49-F238E27FC236}">
                <a16:creationId xmlns:a16="http://schemas.microsoft.com/office/drawing/2014/main" id="{15CC3414-4549-4B2D-BA41-EE4F5CDC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19525"/>
            <a:ext cx="848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具体实验室与任务通过模型表达。</a:t>
            </a:r>
          </a:p>
        </p:txBody>
      </p:sp>
      <p:sp>
        <p:nvSpPr>
          <p:cNvPr id="18" name="rule-129">
            <a:extLst xmlns:a="http://schemas.openxmlformats.org/drawingml/2006/main">
              <a:ext uri="{FF2B5EF4-FFF2-40B4-BE49-F238E27FC236}">
                <a16:creationId xmlns:a16="http://schemas.microsoft.com/office/drawing/2014/main" id="{A5449A78-3CB3-4D81-B070-8FF4E379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76725"/>
            <a:ext cx="853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D9"/>
          </a:solidFill>
          <a:ln xmlns:a="http://schemas.openxmlformats.org/drawingml/2006/main" w="0">
            <a:noFill/>
          </a:ln>
        </p:spPr>
      </p:sp>
      <p:sp>
        <p:nvSpPr>
          <p:cNvPr id="19" name="text-130">
            <a:extLst xmlns:a="http://schemas.openxmlformats.org/drawingml/2006/main">
              <a:ext uri="{FF2B5EF4-FFF2-40B4-BE49-F238E27FC236}">
                <a16:creationId xmlns:a16="http://schemas.microsoft.com/office/drawing/2014/main" id="{0BCFBE6A-DEB2-432B-9011-7133846A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共同边界</a:t>
            </a:r>
          </a:p>
        </p:txBody>
      </p:sp>
      <p:sp>
        <p:nvSpPr>
          <p:cNvPr id="20" name="text-131">
            <a:extLst xmlns:a="http://schemas.openxmlformats.org/drawingml/2006/main">
              <a:ext uri="{FF2B5EF4-FFF2-40B4-BE49-F238E27FC236}">
                <a16:creationId xmlns:a16="http://schemas.microsoft.com/office/drawing/2014/main" id="{88545163-B261-4CB1-AB65-75D56226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57700"/>
            <a:ext cx="848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人、流程和大模型共用设备执行机制。</a:t>
            </a:r>
          </a:p>
        </p:txBody>
      </p:sp>
      <p:sp>
        <p:nvSpPr>
          <p:cNvPr id="21" name="text-132">
            <a:extLst xmlns:a="http://schemas.openxmlformats.org/drawingml/2006/main">
              <a:ext uri="{FF2B5EF4-FFF2-40B4-BE49-F238E27FC236}">
                <a16:creationId xmlns:a16="http://schemas.microsoft.com/office/drawing/2014/main" id="{AEEE2B21-6FC1-4EAD-B398-14126EC4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面向实验室任务与设备执行，统一组织已建模的能力、状态、数据和约束。</a:t>
            </a:r>
          </a:p>
        </p:txBody>
      </p:sp>
      <p:sp>
        <p:nvSpPr>
          <p:cNvPr id="22" name="text-133">
            <a:extLst xmlns:a="http://schemas.openxmlformats.org/drawingml/2006/main">
              <a:ext uri="{FF2B5EF4-FFF2-40B4-BE49-F238E27FC236}">
                <a16:creationId xmlns:a16="http://schemas.microsoft.com/office/drawing/2014/main" id="{F5680A2F-8C37-4814-BCDF-566C44A0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谢谢各位，欢迎交流。</a:t>
            </a:r>
          </a:p>
        </p:txBody>
      </p:sp>
    </p:spTree>
    <p:extLst>
      <p:ext uri="{BB962C8B-B14F-4D97-AF65-F5344CB8AC3E}">
        <p14:creationId xmlns:p14="http://schemas.microsoft.com/office/powerpoint/2010/main" val="5551531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2026-09-09T03:50:41.7170000Z</dcterms:created>
  <dcterms:modified xsi:type="dcterms:W3CDTF">2026-09-09T03:50:41.7170000Z</dcterms:modified>
</coreProperties>
</file>