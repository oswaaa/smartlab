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794519642846e2" /><Relationship Type="http://schemas.openxmlformats.org/officeDocument/2006/relationships/extended-properties" Target="/docProps/app.xml" Id="Re4260dbc84cb4bc2" /><Relationship Type="http://schemas.openxmlformats.org/officeDocument/2006/relationships/officeDocument" Target="/ppt/presentation.xml" Id="R92942cd2a94641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196430168c4439"/>
  </p:sldMasterIdLst>
  <p:notesMasterIdLst>
    <p:notesMasterId xmlns:r="http://schemas.openxmlformats.org/officeDocument/2006/relationships" r:id="R48f631783be04c5a"/>
  </p:notesMasterIdLst>
  <p:sldIdLst>
    <p:sldId xmlns:r="http://schemas.openxmlformats.org/officeDocument/2006/relationships" id="256" r:id="R1be4d75ef9df4052"/>
    <p:sldId xmlns:r="http://schemas.openxmlformats.org/officeDocument/2006/relationships" id="257" r:id="R4948466ccde84349"/>
    <p:sldId xmlns:r="http://schemas.openxmlformats.org/officeDocument/2006/relationships" id="258" r:id="R2ec73d174027435c"/>
    <p:sldId xmlns:r="http://schemas.openxmlformats.org/officeDocument/2006/relationships" id="259" r:id="Rc9817850a9084892"/>
    <p:sldId xmlns:r="http://schemas.openxmlformats.org/officeDocument/2006/relationships" id="260" r:id="Rca18a75c414d421d"/>
    <p:sldId xmlns:r="http://schemas.openxmlformats.org/officeDocument/2006/relationships" id="261" r:id="R62fd45a3d095470b"/>
    <p:sldId xmlns:r="http://schemas.openxmlformats.org/officeDocument/2006/relationships" id="262" r:id="Rd6ef3a390ebd4ae9"/>
    <p:sldId xmlns:r="http://schemas.openxmlformats.org/officeDocument/2006/relationships" id="263" r:id="R0e817c56943a4c02"/>
    <p:sldId xmlns:r="http://schemas.openxmlformats.org/officeDocument/2006/relationships" id="264" r:id="R60551aea2a884565"/>
    <p:sldId xmlns:r="http://schemas.openxmlformats.org/officeDocument/2006/relationships" id="265" r:id="R6cc53545488b484a"/>
    <p:sldId xmlns:r="http://schemas.openxmlformats.org/officeDocument/2006/relationships" id="266" r:id="R06c080513f894c1f"/>
  </p:sldIdLst>
  <p:sldSz cx="12191365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1612ef8d424901" /><Relationship Type="http://schemas.openxmlformats.org/officeDocument/2006/relationships/slideMaster" Target="/ppt/slideMasters/slideMaster1.xml" Id="R13196430168c4439" /><Relationship Type="http://schemas.openxmlformats.org/officeDocument/2006/relationships/notesMaster" Target="/ppt/notesMasters/notesMaster1.xml" Id="R48f631783be04c5a" /><Relationship Type="http://schemas.openxmlformats.org/officeDocument/2006/relationships/presProps" Target="/ppt/presProps.xml" Id="R2d0a025a944543fa" /><Relationship Type="http://schemas.openxmlformats.org/officeDocument/2006/relationships/viewProps" Target="/ppt/viewProps.xml" Id="Rcba9f35a8a1e4f29" /><Relationship Type="http://schemas.openxmlformats.org/officeDocument/2006/relationships/tableStyles" Target="/ppt/tableStyles.xml" Id="Rfe5c61995d6f456e" /><Relationship Type="http://schemas.openxmlformats.org/officeDocument/2006/relationships/slide" Target="/ppt/slides/slide1.xml" Id="R1be4d75ef9df4052" /><Relationship Type="http://schemas.openxmlformats.org/officeDocument/2006/relationships/slide" Target="/ppt/slides/slide2.xml" Id="R4948466ccde84349" /><Relationship Type="http://schemas.openxmlformats.org/officeDocument/2006/relationships/slide" Target="/ppt/slides/slide3.xml" Id="R2ec73d174027435c" /><Relationship Type="http://schemas.openxmlformats.org/officeDocument/2006/relationships/slide" Target="/ppt/slides/slide4.xml" Id="Rc9817850a9084892" /><Relationship Type="http://schemas.openxmlformats.org/officeDocument/2006/relationships/slide" Target="/ppt/slides/slide5.xml" Id="Rca18a75c414d421d" /><Relationship Type="http://schemas.openxmlformats.org/officeDocument/2006/relationships/slide" Target="/ppt/slides/slide6.xml" Id="R62fd45a3d095470b" /><Relationship Type="http://schemas.openxmlformats.org/officeDocument/2006/relationships/slide" Target="/ppt/slides/slide7.xml" Id="Rd6ef3a390ebd4ae9" /><Relationship Type="http://schemas.openxmlformats.org/officeDocument/2006/relationships/slide" Target="/ppt/slides/slide8.xml" Id="R0e817c56943a4c02" /><Relationship Type="http://schemas.openxmlformats.org/officeDocument/2006/relationships/slide" Target="/ppt/slides/slide9.xml" Id="R60551aea2a884565" /><Relationship Type="http://schemas.openxmlformats.org/officeDocument/2006/relationships/slide" Target="/ppt/slides/slide10.xml" Id="R6cc53545488b484a" /><Relationship Type="http://schemas.openxmlformats.org/officeDocument/2006/relationships/slide" Target="/ppt/slides/slide11.xml" Id="R06c080513f894c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9443dc22004aa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5f49e1841b1421c" /><Relationship Type="http://schemas.openxmlformats.org/officeDocument/2006/relationships/notesMaster" Target="/ppt/notesMasters/notesMaster1.xml" Id="R91d14200d1d643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f64814531b440d7" /><Relationship Type="http://schemas.openxmlformats.org/officeDocument/2006/relationships/notesMaster" Target="/ppt/notesMasters/notesMaster1.xml" Id="Rbbfa4317d8e24b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78f4ecd193e466c" /><Relationship Type="http://schemas.openxmlformats.org/officeDocument/2006/relationships/notesMaster" Target="/ppt/notesMasters/notesMaster1.xml" Id="Rc3f821e586e345f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906ef1474084375" /><Relationship Type="http://schemas.openxmlformats.org/officeDocument/2006/relationships/notesMaster" Target="/ppt/notesMasters/notesMaster1.xml" Id="R0ce8c015d7ff4bd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d65ed9c2ad241bb" /><Relationship Type="http://schemas.openxmlformats.org/officeDocument/2006/relationships/notesMaster" Target="/ppt/notesMasters/notesMaster1.xml" Id="R6e042fef7d8e4c5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10f3d0af79e47fc" /><Relationship Type="http://schemas.openxmlformats.org/officeDocument/2006/relationships/notesMaster" Target="/ppt/notesMasters/notesMaster1.xml" Id="Rc6ee74e3939741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4e7eabf2fd4557" /><Relationship Type="http://schemas.openxmlformats.org/officeDocument/2006/relationships/notesMaster" Target="/ppt/notesMasters/notesMaster1.xml" Id="R7b6853dcd52c4f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1d7ed1a81b24cd1" /><Relationship Type="http://schemas.openxmlformats.org/officeDocument/2006/relationships/notesMaster" Target="/ppt/notesMasters/notesMaster1.xml" Id="Re8f453ec3619486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5784021826842c0" /><Relationship Type="http://schemas.openxmlformats.org/officeDocument/2006/relationships/notesMaster" Target="/ppt/notesMasters/notesMaster1.xml" Id="R03fea80add68486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4359294fb04e3b" /><Relationship Type="http://schemas.openxmlformats.org/officeDocument/2006/relationships/notesMaster" Target="/ppt/notesMasters/notesMaster1.xml" Id="R39d5fcc636c949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587369ab4e846ff" /><Relationship Type="http://schemas.openxmlformats.org/officeDocument/2006/relationships/notesMaster" Target="/ppt/notesMasters/notesMaster1.xml" Id="R5c3eb41f3e4f47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0 页 · 封面（20 秒）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各位老师、各位同事，大家好。我是北京信息科技大学的于涛。今天汇报我们的工作：面向智慧化学实验室的任务导向可执行建模框架。通讯作者是赵淳老师。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按照六个层次展开。先讲实验室自动化与大模型参与带来的背景问题，再说明一次任务执行需要建模哪些内容。随后给出资源、工作流、约束的统一框架，说明各层如何通过同一条执行链路协同运行。最后用反应釜加热说明具体执行，并介绍仿真反馈闭环和总体贡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随着大模型发展，智慧化学实验室从能够自动执行任务流程，进入大模型参与决策与控制的阶段。一次任务执行始终需要说明资源如何组织、状态如何演化、数据如何传递以及执行是否处在允许边界内。大模型加入后，这个问题更加突出，因为它可以根据目标和反馈动态提出控制请求。我们的原则是不能为大模型开特权，也不能另设直达设备的旁路，所有控制请求都进入同一套执行机制。因此后面要介绍的不是一个额外的大模型接口，而是一套把模型、状态、流程和约束放在一起的可执行框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统一框架用 L 等于资源层、工作流层、约束层和跨层协议表示。资源层描述设备的能力、属性、状态和反馈。工作流层描述任务节点、生命周期、接口、触发器、变量和数据端口。约束层描述实验室基线、任务目标和允许边界。跨层协议规定控制信号、数据类型和反馈格式。这样一次任务执行所涉及的对象、关系和规则都进入同一个模型体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资源层把每台设备表达为一个可执行的对象模型。能力模型描述设备属性、能力参数、接口和数据端口，回答设备能做什么、能接收什么、能返回什么。状态机描述设备的状态空间、接口和转移规则，回答请求如何被接受、执行、反馈和结束。Adapter 负责把模型中的请求映射到设备协议，并把设备事件和数据带回模型。这样来自流程、人工和大模型的设备控制请求都要经过状态机。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工作流层不把节点、接口和触发器拆成相互独立的模块。一个节点就是一次任务操作的语义单元，它保存变量和生命周期，接口承载控制信号，数据端口传递实验数据。触发器读取这些对象，在条件成立时执行动作，例如更新节点状态，或者通过指定接口发出设备执行请求。设备反馈又会更新节点的变量和生命周期，推动后续步骤。节点因此不只是脚本中的一个函数调用，而是具有清晰对象、关系和行为规则的模型单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约束层观察资源侧的设备属性和状态，也观察工作流侧的节点状态和执行上下文。它们进入统一观察空间后，约束可以判断实验室基线是否满足、任务目标是否越界，并采取警告、报警、停止或中止等处理动作。设备内部的局部约束由状态机本地处理，跨设备、跨流程的规则由约束层统一观察。约束由此参与执行过程，而不是执行之外的一段说明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这页保留原 PPT 中的链路图，用来说明统一执行路径。无论控制意图来自任务流程、人工还是大模型，都先进入设备模型。设备模型由能力模型和状态机构成，流程调用模型定义的能力，状态机根据当前状态处理请求并通过 Adapter 控制物理设备。物理设备返回的状态和数据再沿同一条链路反馈给模型和工作流。这里的关键不是增加一个大模型旁路，而是把人的设备操作过程完整地建模进执行链路。这样模型、状态、流程和约束都在同一套语义中运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反应釜加热案例只需要抓住一条链路。加热节点通过触发器提出执行请求，设备状态机接收请求并发生状态转移，Adapter 将请求映射到设备协议。反应釜返回温度和状态事件，Adapter 把反馈带回模型，状态机更新设备状态，节点据此完成当前步骤并激活后续步骤。约束在温度越界或设备异常时介入。这个案例说明模型如何参与具体任务执行，也说明为什么流程、设备、反馈和约束需要共享一套语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在统一执行机制基础上，可以在 Adapter 层区分仿真执行和实机执行。大模型提出控制请求后，仍然先经过同一套工作流、设备模型、状态机和约束检查，在仿真环境中获得模拟状态与实验数据。反馈驱动大模型调整方案并再次决策，满足预设条件后才进入实机执行。仿真与实机只是不同的执行后端，上层模型和执行语义保持一致。这一页作为后续扩展与展望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最后收束为三点。第一，资源、工作流和约束构成统一的建模框架。第二，节点、接口、触发器、状态机和 Adapter 构成完整的执行语义。第三，人工、流程和大模型共用同一条设备执行链路，不存在特权旁路。具体实验室和任务通过模型表达，通用框架按照统一语义组织执行。仿真反馈闭环则是这套机制的扩展方向。谢谢各位，欢迎交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f43ad866bc4a7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bf56443af44ba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e14d44151140b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86caa10a264f0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eccc30ad4ad490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11e2dd03c64c4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53a760b0f3418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bc3ba9101342e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348e34d2a43b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d0d447bd944338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b5e68a292b43d5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189DC85-54F5-4264-8AA5-ABE2BEACE35D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9024B2CF-0C91-4B1A-B97A-0CC6018F683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BE78BEE-BC3B-4897-ACB8-CFC63AB3151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39967F8-2A92-4480-8CDA-C55843F331A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1DD52F7-86F4-4DD3-A691-267C2B81AFD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7E5EC0-8780-4109-9108-856D8C3DBD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D3E7247-3CE2-40CE-BF8E-08E8C9AD6A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6B25F1-EA49-41A9-B684-C16A359EB2F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D8E4320-B3AD-441E-BBB7-6628A66F2DC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8832057-6783-4296-9C0C-BD3B75AA011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7FD48A6-F7AE-489F-8CDD-48CBB3E65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9F6350-A668-48E3-BE9D-F70A8F65D29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7CE4BBE-EB84-4807-80A1-400096F096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1E677CD-B8E8-4609-85A3-441897DC51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98AEF26-A2A8-4C26-B881-151E6AB2B9B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F57711-D861-4167-826E-1C699DB5BD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8877F64-A2CA-47A8-925F-0414F58A6AD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21A13105-8F19-43FF-BC40-D6B127493B7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5542793-A3B0-48C3-935B-214D9CF1DCA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8BBDC7C5-24A7-4E55-8B8B-1122F6DF5B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68C7EEDA-57E2-4BFC-AABF-864060C668E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A17BC59-4ECF-4B7D-B29C-02D7A36D57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3D0D23-F9EF-4A9C-9815-8A03DD88996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3E237916-E258-4387-8EA3-F69F14BC04DF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6C87D74C-3168-4541-8807-92F3DE2CC866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76441DF1-579F-4C84-BB98-4534A167D6B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7C447C8B-3B0E-41D2-88FD-90B37EE31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FCE6D9C-A3AA-405E-897D-0BB9D664FDB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D3FBF5E5-704F-452F-809E-B84DA758FEB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189E4369-F598-4E50-937D-FF0133C73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B9BFD23B-2EC1-4819-99D4-527B79E01CD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295A2CF0-A4C6-4995-8038-4C1F84E2FE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9E87972B-BAC0-426E-B5FC-DFBA81F220A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7A485BCE-C3BD-4312-909B-D8DA72E9D03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1DB3FD05-5462-42C6-9E2E-856EA1FA6DB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52568220-1FB3-48D3-B54D-D4C021FB50A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25165B9-F882-4E8A-9B85-68433535E1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C1B3653-63CE-4E67-A908-F195C2FD25A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67E8D05-E91E-4E5F-8112-4F3D45873DC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B273C5D9-6D87-4395-98A6-873424B0DC9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C490EFB-AD64-4F37-9C16-342BB5B8221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04AB5C9-AFA5-4894-AE70-5ADC1E84072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15AEC2D-5ADC-4674-B9D5-1E730FDE7E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C670C9F9-4433-4E98-9675-BDACFCE0071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968B74B-892B-444B-9366-02D4553138F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7167B799-E31D-4F2E-A98E-C543C1F80E3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610BC3E-3EC2-4F13-85E8-B7713C38AE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2D4C378-9535-4637-9537-083270BF82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58D4D2C-1F36-438F-B5D7-5C01DD51BD5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BB40A84-02BB-464E-BE83-68596CEA1F3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D9442A3-17D4-4A74-9C7C-9F68561DC8D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1DB02E6-6893-454A-99EA-0707FB2821D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F0B1FDF-EF83-4A01-8A9B-EE1DE45BA2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275978D0-1441-4863-9E69-110EF57F598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9D69BB-D056-43F8-8152-AD90AFDFB83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D6F5B8D-CB17-4F42-81C4-6C1CBD7C309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8C2C652-BD55-45A5-BB10-87D5B91274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BCF60E3-53D1-4AD3-8FF7-A96CA6E4E6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3ecce86ac8d4607" /><Relationship Type="http://schemas.openxmlformats.org/officeDocument/2006/relationships/slideLayout" Target="/ppt/slideLayouts/slideLayout1.xml" Id="R76b1ffb2fa0e4730" /><Relationship Type="http://schemas.openxmlformats.org/officeDocument/2006/relationships/slideLayout" Target="/ppt/slideLayouts/slideLayout2.xml" Id="Rd973c3e8515c4f2d" /><Relationship Type="http://schemas.openxmlformats.org/officeDocument/2006/relationships/slideLayout" Target="/ppt/slideLayouts/slideLayout3.xml" Id="Rbace97d1d9c443a1" /><Relationship Type="http://schemas.openxmlformats.org/officeDocument/2006/relationships/slideLayout" Target="/ppt/slideLayouts/slideLayout4.xml" Id="Rdb8d9c5edcbe4721" /><Relationship Type="http://schemas.openxmlformats.org/officeDocument/2006/relationships/slideLayout" Target="/ppt/slideLayouts/slideLayout5.xml" Id="R57e71420a886461d" /><Relationship Type="http://schemas.openxmlformats.org/officeDocument/2006/relationships/slideLayout" Target="/ppt/slideLayouts/slideLayout6.xml" Id="Ra8a29860a3a34b15" /><Relationship Type="http://schemas.openxmlformats.org/officeDocument/2006/relationships/slideLayout" Target="/ppt/slideLayouts/slideLayout7.xml" Id="R799602cbb0514169" /><Relationship Type="http://schemas.openxmlformats.org/officeDocument/2006/relationships/slideLayout" Target="/ppt/slideLayouts/slideLayout8.xml" Id="R9532209b54d449bb" /><Relationship Type="http://schemas.openxmlformats.org/officeDocument/2006/relationships/slideLayout" Target="/ppt/slideLayouts/slideLayout9.xml" Id="R603b4e8b52ec4870" /><Relationship Type="http://schemas.openxmlformats.org/officeDocument/2006/relationships/slideLayout" Target="/ppt/slideLayouts/slideLayout10.xml" Id="Rc33b40e52d6648b4" /><Relationship Type="http://schemas.openxmlformats.org/officeDocument/2006/relationships/slideLayout" Target="/ppt/slideLayouts/slideLayout11.xml" Id="Ra84c7cad807a4fb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28C0D63-CA9F-404A-B534-B682079DA1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C15D1C-DAAD-4762-9173-03B9AC3FD45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  <a:endParaRPr/>
          </a:p>
          <a:p xmlns:a="http://schemas.openxmlformats.org/drawingml/2006/main">
            <a:pPr lvl="1">
              <a:buNone/>
            </a:pPr>
            <a:r>
              <a:t>Second level</a:t>
            </a:r>
            <a:endParaRPr/>
          </a:p>
          <a:p xmlns:a="http://schemas.openxmlformats.org/drawingml/2006/main">
            <a:pPr lvl="2">
              <a:buNone/>
            </a:pPr>
            <a:r>
              <a:t>Third level</a:t>
            </a:r>
            <a:endParaRPr/>
          </a:p>
          <a:p xmlns:a="http://schemas.openxmlformats.org/drawingml/2006/main">
            <a:pPr lvl="3">
              <a:buNone/>
            </a:pPr>
            <a:r>
              <a:t>Fourth level</a:t>
            </a:r>
            <a:endParaRPr/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755B65E-F81D-43DB-AF87-01C39EE5D40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7E08882-3239-4C53-B5B9-C39E631AB8C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203BF4-0881-41BE-8239-6E0D55CCA83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6b1ffb2fa0e4730"/>
    <p:sldLayoutId xmlns:r="http://schemas.openxmlformats.org/officeDocument/2006/relationships" id="2147483650" r:id="Rd973c3e8515c4f2d"/>
    <p:sldLayoutId xmlns:r="http://schemas.openxmlformats.org/officeDocument/2006/relationships" id="2147483651" r:id="Rbace97d1d9c443a1"/>
    <p:sldLayoutId xmlns:r="http://schemas.openxmlformats.org/officeDocument/2006/relationships" id="2147483652" r:id="Rdb8d9c5edcbe4721"/>
    <p:sldLayoutId xmlns:r="http://schemas.openxmlformats.org/officeDocument/2006/relationships" id="2147483653" r:id="R57e71420a886461d"/>
    <p:sldLayoutId xmlns:r="http://schemas.openxmlformats.org/officeDocument/2006/relationships" id="2147483654" r:id="Ra8a29860a3a34b15"/>
    <p:sldLayoutId xmlns:r="http://schemas.openxmlformats.org/officeDocument/2006/relationships" id="2147483655" r:id="R799602cbb0514169"/>
    <p:sldLayoutId xmlns:r="http://schemas.openxmlformats.org/officeDocument/2006/relationships" id="2147483656" r:id="R9532209b54d449bb"/>
    <p:sldLayoutId xmlns:r="http://schemas.openxmlformats.org/officeDocument/2006/relationships" id="2147483657" r:id="R603b4e8b52ec4870"/>
    <p:sldLayoutId xmlns:r="http://schemas.openxmlformats.org/officeDocument/2006/relationships" id="2147483658" r:id="Rc33b40e52d6648b4"/>
    <p:sldLayoutId xmlns:r="http://schemas.openxmlformats.org/officeDocument/2006/relationships" id="2147483659" r:id="Ra84c7cad807a4fb6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b25df978bed405f" /><Relationship Type="http://schemas.openxmlformats.org/officeDocument/2006/relationships/notesSlide" Target="/ppt/notesSlides/notesSlide1.xml" Id="R2d60c71562e447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71e7b5f81ca4770" /><Relationship Type="http://schemas.openxmlformats.org/officeDocument/2006/relationships/notesSlide" Target="/ppt/notesSlides/notesSlide2.xml" Id="Rfdaff5df364347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7f356ebdbe945b6" /><Relationship Type="http://schemas.openxmlformats.org/officeDocument/2006/relationships/notesSlide" Target="/ppt/notesSlides/notesSlide3.xml" Id="R433a97e14ba84a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99404626a6147f2" /><Relationship Type="http://schemas.openxmlformats.org/officeDocument/2006/relationships/notesSlide" Target="/ppt/notesSlides/notesSlide4.xml" Id="R359335408af44e3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0bc88a4937a4f4f" /><Relationship Type="http://schemas.openxmlformats.org/officeDocument/2006/relationships/notesSlide" Target="/ppt/notesSlides/notesSlide5.xml" Id="R121fa6a68ff445b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940c9567db943d1" /><Relationship Type="http://schemas.openxmlformats.org/officeDocument/2006/relationships/notesSlide" Target="/ppt/notesSlides/notesSlide6.xml" Id="R429bd256ea4e41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cc12b978b10449d" /><Relationship Type="http://schemas.openxmlformats.org/officeDocument/2006/relationships/notesSlide" Target="/ppt/notesSlides/notesSlide7.xml" Id="Rbb0fc8ee3b8642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5720d03ddf0403a" /><Relationship Type="http://schemas.openxmlformats.org/officeDocument/2006/relationships/image" Target="/ppt/media/image.png" Id="Re46bd011788449ea" /><Relationship Type="http://schemas.openxmlformats.org/officeDocument/2006/relationships/notesSlide" Target="/ppt/notesSlides/notesSlide8.xml" Id="Rea44a50a032045a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90dfbc966494fc5" /><Relationship Type="http://schemas.openxmlformats.org/officeDocument/2006/relationships/notesSlide" Target="/ppt/notesSlides/notesSlide9.xml" Id="R586e5210b3cd456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87437ccea64429a" /><Relationship Type="http://schemas.openxmlformats.org/officeDocument/2006/relationships/notesSlide" Target="/ppt/notesSlides/notesSlide10.xml" Id="R1f7c1a84d47446c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5fe4ccdd2bc459f" /><Relationship Type="http://schemas.openxmlformats.org/officeDocument/2006/relationships/notesSlide" Target="/ppt/notesSlides/notesSlide11.xml" Id="Ra91e8a196dfe493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C8D0283-46CC-4865-85BD-F69594B7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B87B968C-3390-4FC4-9F93-F7A4B569C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03520"/>
            <a:ext cx="12191695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5B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467AB767-6D28-4088-A11B-2DFEFDE75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828800"/>
            <a:ext cx="1051560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面向智慧化学实验室的任务导向可执行建模框架</a:t>
            </a:r>
            <a:endParaRPr sz="32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EE6640F5-7D8A-4CD8-87CC-97BCBBDA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383280"/>
            <a:ext cx="1051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A Task-Oriented Executable Modeling Framework for Smart Chemical Laboratories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5DF2A41-1F00-4791-AA10-43E22F1B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206240"/>
            <a:ext cx="10515600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报告人：于涛（北京信息科技大学）　　通讯作者：</a:t>
            </a:r>
            <a:r>
              <a:rPr sz="18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赵淳</a:t>
            </a:r>
            <a:endParaRPr sz="1800" b="0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E08879E-6C1A-4C5F-8A94-956EF1B1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515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0">
                <a:solidFill>
                  <a:srgbClr val="B8D0E8"/>
                </a:solidFill>
                <a:latin typeface="微软雅黑"/>
                <a:ea typeface="微软雅黑"/>
                <a:cs typeface="微软雅黑"/>
              </a:rPr>
              <a:t>EUROSIM 2026  ·  Genova, Italy</a:t>
            </a:r>
            <a:endParaRPr sz="1600" b="0">
              <a:solidFill>
                <a:srgbClr val="B8D0E8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76656116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DC6A048-DF1E-4678-BD75-14DF1393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D2C5C94B-88A9-4BC6-A7A1-37135C66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  目录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3990B9D-1DBD-479C-AB7B-A7B40BA1E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44AD840-496B-4114-AE14-4B0951DFF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1">
            <a:extLst xmlns:a="http://schemas.openxmlformats.org/drawingml/2006/main">
              <a:ext uri="{FF2B5EF4-FFF2-40B4-BE49-F238E27FC236}">
                <a16:creationId xmlns:a16="http://schemas.microsoft.com/office/drawing/2014/main" id="{B5C18C60-9E68-49FF-84D4-2631D67C6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525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9" name="text-2">
            <a:extLst xmlns:a="http://schemas.openxmlformats.org/drawingml/2006/main">
              <a:ext uri="{FF2B5EF4-FFF2-40B4-BE49-F238E27FC236}">
                <a16:creationId xmlns:a16="http://schemas.microsoft.com/office/drawing/2014/main" id="{4F1E8907-CCAD-4212-8A6E-EB7EC430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3525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背景与问题</a:t>
            </a:r>
          </a:p>
        </p:txBody>
      </p:sp>
      <p:sp>
        <p:nvSpPr>
          <p:cNvPr id="10" name="text-3">
            <a:extLst xmlns:a="http://schemas.openxmlformats.org/drawingml/2006/main">
              <a:ext uri="{FF2B5EF4-FFF2-40B4-BE49-F238E27FC236}">
                <a16:creationId xmlns:a16="http://schemas.microsoft.com/office/drawing/2014/main" id="{3AEFC742-FC9B-4159-9C7C-8B3097B7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13716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自动化流程进入大模型参与决策的阶段</a:t>
            </a:r>
          </a:p>
        </p:txBody>
      </p:sp>
      <p:sp>
        <p:nvSpPr>
          <p:cNvPr id="11" name="anchor-4">
            <a:extLst xmlns:a="http://schemas.openxmlformats.org/drawingml/2006/main">
              <a:ext uri="{FF2B5EF4-FFF2-40B4-BE49-F238E27FC236}">
                <a16:creationId xmlns:a16="http://schemas.microsoft.com/office/drawing/2014/main" id="{F4253A36-E174-40AE-9AAE-7C933D50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95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5">
            <a:extLst xmlns:a="http://schemas.openxmlformats.org/drawingml/2006/main">
              <a:ext uri="{FF2B5EF4-FFF2-40B4-BE49-F238E27FC236}">
                <a16:creationId xmlns:a16="http://schemas.microsoft.com/office/drawing/2014/main" id="{6289E3EA-A081-4F0E-968F-2A967AE0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18954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1333500" y="1905000"/>
            <a:ext cx="102012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6">
            <a:extLst xmlns:a="http://schemas.openxmlformats.org/drawingml/2006/main">
              <a:ext uri="{FF2B5EF4-FFF2-40B4-BE49-F238E27FC236}">
                <a16:creationId xmlns:a16="http://schemas.microsoft.com/office/drawing/2014/main" id="{0FFEF9B8-1363-49C4-BE4A-8AABF71A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336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text-7">
            <a:extLst xmlns:a="http://schemas.openxmlformats.org/drawingml/2006/main">
              <a:ext uri="{FF2B5EF4-FFF2-40B4-BE49-F238E27FC236}">
                <a16:creationId xmlns:a16="http://schemas.microsoft.com/office/drawing/2014/main" id="{ACB28FEB-E2A9-469D-9253-E1EA80309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1336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建模框架</a:t>
            </a:r>
          </a:p>
        </p:txBody>
      </p:sp>
      <p:sp>
        <p:nvSpPr>
          <p:cNvPr id="16" name="text-8">
            <a:extLst xmlns:a="http://schemas.openxmlformats.org/drawingml/2006/main">
              <a:ext uri="{FF2B5EF4-FFF2-40B4-BE49-F238E27FC236}">
                <a16:creationId xmlns:a16="http://schemas.microsoft.com/office/drawing/2014/main" id="{3DC69913-6B61-456B-A427-6F45D27EF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1526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资源、工作流、约束及其统一表达</a:t>
            </a:r>
          </a:p>
        </p:txBody>
      </p:sp>
      <p:sp>
        <p:nvSpPr>
          <p:cNvPr id="17" name="anchor-9">
            <a:extLst xmlns:a="http://schemas.openxmlformats.org/drawingml/2006/main">
              <a:ext uri="{FF2B5EF4-FFF2-40B4-BE49-F238E27FC236}">
                <a16:creationId xmlns:a16="http://schemas.microsoft.com/office/drawing/2014/main" id="{85C30810-2EAD-4227-9B6A-927452F2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765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anchor-10">
            <a:extLst xmlns:a="http://schemas.openxmlformats.org/drawingml/2006/main">
              <a:ext uri="{FF2B5EF4-FFF2-40B4-BE49-F238E27FC236}">
                <a16:creationId xmlns:a16="http://schemas.microsoft.com/office/drawing/2014/main" id="{6764B025-2F11-4C1D-AF1F-CCA5740D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26765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4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1333500" y="2686050"/>
            <a:ext cx="102012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0" name="text-11">
            <a:extLst xmlns:a="http://schemas.openxmlformats.org/drawingml/2006/main">
              <a:ext uri="{FF2B5EF4-FFF2-40B4-BE49-F238E27FC236}">
                <a16:creationId xmlns:a16="http://schemas.microsoft.com/office/drawing/2014/main" id="{816895EA-C6E9-41DB-BD83-50D4035BA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146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1" name="text-12">
            <a:extLst xmlns:a="http://schemas.openxmlformats.org/drawingml/2006/main">
              <a:ext uri="{FF2B5EF4-FFF2-40B4-BE49-F238E27FC236}">
                <a16:creationId xmlns:a16="http://schemas.microsoft.com/office/drawing/2014/main" id="{FC1D3CD7-6DE4-48A5-B158-C4CC202BE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29146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执行机制</a:t>
            </a:r>
          </a:p>
        </p:txBody>
      </p:sp>
      <p:sp>
        <p:nvSpPr>
          <p:cNvPr id="22" name="text-13">
            <a:extLst xmlns:a="http://schemas.openxmlformats.org/drawingml/2006/main">
              <a:ext uri="{FF2B5EF4-FFF2-40B4-BE49-F238E27FC236}">
                <a16:creationId xmlns:a16="http://schemas.microsoft.com/office/drawing/2014/main" id="{70DCA03D-444C-4BEB-8198-081A22629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9337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各层如何沿同一条链路协同运行</a:t>
            </a:r>
          </a:p>
        </p:txBody>
      </p:sp>
      <p:sp>
        <p:nvSpPr>
          <p:cNvPr id="23" name="anchor-14">
            <a:extLst xmlns:a="http://schemas.openxmlformats.org/drawingml/2006/main">
              <a:ext uri="{FF2B5EF4-FFF2-40B4-BE49-F238E27FC236}">
                <a16:creationId xmlns:a16="http://schemas.microsoft.com/office/drawing/2014/main" id="{67E0D786-DD5C-4D3E-8496-A7C47B5D6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575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4" name="anchor-15">
            <a:extLst xmlns:a="http://schemas.openxmlformats.org/drawingml/2006/main">
              <a:ext uri="{FF2B5EF4-FFF2-40B4-BE49-F238E27FC236}">
                <a16:creationId xmlns:a16="http://schemas.microsoft.com/office/drawing/2014/main" id="{5E5C4E5D-0B0C-4DF5-8DC4-FEB01962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34575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0" name="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1333500" y="3467100"/>
            <a:ext cx="102012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6" name="text-16">
            <a:extLst xmlns:a="http://schemas.openxmlformats.org/drawingml/2006/main">
              <a:ext uri="{FF2B5EF4-FFF2-40B4-BE49-F238E27FC236}">
                <a16:creationId xmlns:a16="http://schemas.microsoft.com/office/drawing/2014/main" id="{8538B8A5-572D-4AA3-BEA4-AD3E5A8AD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9570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7" name="text-17">
            <a:extLst xmlns:a="http://schemas.openxmlformats.org/drawingml/2006/main">
              <a:ext uri="{FF2B5EF4-FFF2-40B4-BE49-F238E27FC236}">
                <a16:creationId xmlns:a16="http://schemas.microsoft.com/office/drawing/2014/main" id="{DED1B87E-2952-41B4-8B5B-43F42F27B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6957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实现与案例</a:t>
            </a:r>
          </a:p>
        </p:txBody>
      </p:sp>
      <p:sp>
        <p:nvSpPr>
          <p:cNvPr id="28" name="text-18">
            <a:extLst xmlns:a="http://schemas.openxmlformats.org/drawingml/2006/main">
              <a:ext uri="{FF2B5EF4-FFF2-40B4-BE49-F238E27FC236}">
                <a16:creationId xmlns:a16="http://schemas.microsoft.com/office/drawing/2014/main" id="{8A2E6527-FF5F-4351-9A5B-85E24855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7147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模型如何参与具体任务执行</a:t>
            </a:r>
          </a:p>
        </p:txBody>
      </p:sp>
      <p:sp>
        <p:nvSpPr>
          <p:cNvPr id="29" name="anchor-19">
            <a:extLst xmlns:a="http://schemas.openxmlformats.org/drawingml/2006/main">
              <a:ext uri="{FF2B5EF4-FFF2-40B4-BE49-F238E27FC236}">
                <a16:creationId xmlns:a16="http://schemas.microsoft.com/office/drawing/2014/main" id="{0FF1A47E-D15D-4EDB-B89E-F92F8686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386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20">
            <a:extLst xmlns:a="http://schemas.openxmlformats.org/drawingml/2006/main">
              <a:ext uri="{FF2B5EF4-FFF2-40B4-BE49-F238E27FC236}">
                <a16:creationId xmlns:a16="http://schemas.microsoft.com/office/drawing/2014/main" id="{2C23DED8-854E-47AA-B904-EAF49F92A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34775" y="42386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6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1333500" y="4248150"/>
            <a:ext cx="102012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2" name="text-21">
            <a:extLst xmlns:a="http://schemas.openxmlformats.org/drawingml/2006/main">
              <a:ext uri="{FF2B5EF4-FFF2-40B4-BE49-F238E27FC236}">
                <a16:creationId xmlns:a16="http://schemas.microsoft.com/office/drawing/2014/main" id="{B0DDF843-7238-4419-A3CA-9DCFBBBCD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476750"/>
            <a:ext cx="400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33" name="text-22">
            <a:extLst xmlns:a="http://schemas.openxmlformats.org/drawingml/2006/main">
              <a:ext uri="{FF2B5EF4-FFF2-40B4-BE49-F238E27FC236}">
                <a16:creationId xmlns:a16="http://schemas.microsoft.com/office/drawing/2014/main" id="{3CF9BACC-346C-4285-B53C-5E8DC26BE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44767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扩展与总结</a:t>
            </a:r>
          </a:p>
        </p:txBody>
      </p:sp>
      <p:sp>
        <p:nvSpPr>
          <p:cNvPr id="34" name="text-23">
            <a:extLst xmlns:a="http://schemas.openxmlformats.org/drawingml/2006/main">
              <a:ext uri="{FF2B5EF4-FFF2-40B4-BE49-F238E27FC236}">
                <a16:creationId xmlns:a16="http://schemas.microsoft.com/office/drawing/2014/main" id="{D3069DBC-ECD7-4DF2-B964-902B6A12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49580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仿真反馈闭环与工作贡献</a:t>
            </a:r>
          </a:p>
        </p:txBody>
      </p:sp>
      <p:sp>
        <p:nvSpPr>
          <p:cNvPr id="35" name="anchor-24">
            <a:extLst xmlns:a="http://schemas.openxmlformats.org/drawingml/2006/main">
              <a:ext uri="{FF2B5EF4-FFF2-40B4-BE49-F238E27FC236}">
                <a16:creationId xmlns:a16="http://schemas.microsoft.com/office/drawing/2014/main" id="{AA9A4AB5-835B-4B61-8F97-D6D5C9B9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anchor-25">
            <a:extLst xmlns:a="http://schemas.openxmlformats.org/drawingml/2006/main">
              <a:ext uri="{FF2B5EF4-FFF2-40B4-BE49-F238E27FC236}">
                <a16:creationId xmlns:a16="http://schemas.microsoft.com/office/drawing/2014/main" id="{94B469E2-5E65-444E-B3CA-8682FA7EC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72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8" name="text-26">
            <a:extLst xmlns:a="http://schemas.openxmlformats.org/drawingml/2006/main">
              <a:ext uri="{FF2B5EF4-FFF2-40B4-BE49-F238E27FC236}">
                <a16:creationId xmlns:a16="http://schemas.microsoft.com/office/drawing/2014/main" id="{B791B935-AD59-41C1-B0CE-DC300396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汇报主线：模型描述实验室与任务，执行机制组织实际运行。</a:t>
            </a:r>
          </a:p>
        </p:txBody>
      </p:sp>
    </p:spTree>
    <p:extLst>
      <p:ext uri="{BB962C8B-B14F-4D97-AF65-F5344CB8AC3E}">
        <p14:creationId xmlns:p14="http://schemas.microsoft.com/office/powerpoint/2010/main" val="6531173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359544A-4150-4003-91A4-7B5981B6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0A0AB52-1B8A-445B-950F-E53A7DCB5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  背景与问题：大模型参与后的执行边界</a:t>
            </a: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B2D8EC2F-B214-40A0-8781-D913BF30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8E191EA-4D91-4D29-8980-C3BABE05E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2/10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27">
            <a:extLst xmlns:a="http://schemas.openxmlformats.org/drawingml/2006/main">
              <a:ext uri="{FF2B5EF4-FFF2-40B4-BE49-F238E27FC236}">
                <a16:creationId xmlns:a16="http://schemas.microsoft.com/office/drawing/2014/main" id="{190461D7-DA1C-41A1-B078-1AC7AFD56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62075"/>
            <a:ext cx="10620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实验室已经能够自动执行任务流程，大模型进一步参与决策与控制。</a:t>
            </a:r>
          </a:p>
        </p:txBody>
      </p:sp>
      <p:sp>
        <p:nvSpPr>
          <p:cNvPr id="8" name="text-28">
            <a:extLst xmlns:a="http://schemas.openxmlformats.org/drawingml/2006/main">
              <a:ext uri="{FF2B5EF4-FFF2-40B4-BE49-F238E27FC236}">
                <a16:creationId xmlns:a16="http://schemas.microsoft.com/office/drawing/2014/main" id="{6989F4DE-16C3-4669-9228-8CF23B9F6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10620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无论意图来自哪里，一次任务执行始终需要说清四件事：</a:t>
            </a:r>
          </a:p>
        </p:txBody>
      </p:sp>
      <p:sp>
        <p:nvSpPr>
          <p:cNvPr id="9" name="text-29">
            <a:extLst xmlns:a="http://schemas.openxmlformats.org/drawingml/2006/main">
              <a:ext uri="{FF2B5EF4-FFF2-40B4-BE49-F238E27FC236}">
                <a16:creationId xmlns:a16="http://schemas.microsoft.com/office/drawing/2014/main" id="{33B44757-5258-41F7-8802-9DA22E98F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6098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资源</a:t>
            </a:r>
          </a:p>
        </p:txBody>
      </p:sp>
      <p:sp>
        <p:nvSpPr>
          <p:cNvPr id="10" name="text-30">
            <a:extLst xmlns:a="http://schemas.openxmlformats.org/drawingml/2006/main">
              <a:ext uri="{FF2B5EF4-FFF2-40B4-BE49-F238E27FC236}">
                <a16:creationId xmlns:a16="http://schemas.microsoft.com/office/drawing/2014/main" id="{00030E30-92BA-4F15-85AC-3E7D2AAA0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31146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如何组织与调用</a:t>
            </a:r>
          </a:p>
        </p:txBody>
      </p:sp>
      <p:sp>
        <p:nvSpPr>
          <p:cNvPr id="11" name="anchor-31">
            <a:extLst xmlns:a="http://schemas.openxmlformats.org/drawingml/2006/main">
              <a:ext uri="{FF2B5EF4-FFF2-40B4-BE49-F238E27FC236}">
                <a16:creationId xmlns:a16="http://schemas.microsoft.com/office/drawing/2014/main" id="{4FD86CBF-4C08-48C1-8073-0C28C9CAD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562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32">
            <a:extLst xmlns:a="http://schemas.openxmlformats.org/drawingml/2006/main">
              <a:ext uri="{FF2B5EF4-FFF2-40B4-BE49-F238E27FC236}">
                <a16:creationId xmlns:a16="http://schemas.microsoft.com/office/drawing/2014/main" id="{3A05B21C-1159-4A4D-8156-62960CE51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6957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3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3171825" y="25812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33">
            <a:extLst xmlns:a="http://schemas.openxmlformats.org/drawingml/2006/main">
              <a:ext uri="{FF2B5EF4-FFF2-40B4-BE49-F238E27FC236}">
                <a16:creationId xmlns:a16="http://schemas.microsoft.com/office/drawing/2014/main" id="{7D4949ED-B63A-4470-9006-A8CDE6985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6098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</a:t>
            </a:r>
          </a:p>
        </p:txBody>
      </p:sp>
      <p:sp>
        <p:nvSpPr>
          <p:cNvPr id="15" name="text-34">
            <a:extLst xmlns:a="http://schemas.openxmlformats.org/drawingml/2006/main">
              <a:ext uri="{FF2B5EF4-FFF2-40B4-BE49-F238E27FC236}">
                <a16:creationId xmlns:a16="http://schemas.microsoft.com/office/drawing/2014/main" id="{268A66C9-FD3B-420E-8E1A-A369D460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146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如何随执行演化</a:t>
            </a:r>
          </a:p>
        </p:txBody>
      </p:sp>
      <p:sp>
        <p:nvSpPr>
          <p:cNvPr id="16" name="anchor-35">
            <a:extLst xmlns:a="http://schemas.openxmlformats.org/drawingml/2006/main">
              <a:ext uri="{FF2B5EF4-FFF2-40B4-BE49-F238E27FC236}">
                <a16:creationId xmlns:a16="http://schemas.microsoft.com/office/drawing/2014/main" id="{06C0336C-B559-4179-9055-3710E2C41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562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36">
            <a:extLst xmlns:a="http://schemas.openxmlformats.org/drawingml/2006/main">
              <a:ext uri="{FF2B5EF4-FFF2-40B4-BE49-F238E27FC236}">
                <a16:creationId xmlns:a16="http://schemas.microsoft.com/office/drawing/2014/main" id="{B1D4CCEB-F3A1-45F9-99D4-173EEC9D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6957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8" name=""/>
          <p:cNvCxnSpPr>
            <a:stCxn xmlns:a="http://schemas.openxmlformats.org/drawingml/2006/main" id="16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5895975" y="25812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9" name="text-37">
            <a:extLst xmlns:a="http://schemas.openxmlformats.org/drawingml/2006/main">
              <a:ext uri="{FF2B5EF4-FFF2-40B4-BE49-F238E27FC236}">
                <a16:creationId xmlns:a16="http://schemas.microsoft.com/office/drawing/2014/main" id="{6270F473-66C4-4799-A5FB-129FF279A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098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数据</a:t>
            </a:r>
          </a:p>
        </p:txBody>
      </p:sp>
      <p:sp>
        <p:nvSpPr>
          <p:cNvPr id="20" name="text-38">
            <a:extLst xmlns:a="http://schemas.openxmlformats.org/drawingml/2006/main">
              <a:ext uri="{FF2B5EF4-FFF2-40B4-BE49-F238E27FC236}">
                <a16:creationId xmlns:a16="http://schemas.microsoft.com/office/drawing/2014/main" id="{C4607940-75E0-43F3-996C-3EC7EC3C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1146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如何产生与传递</a:t>
            </a:r>
          </a:p>
        </p:txBody>
      </p:sp>
      <p:sp>
        <p:nvSpPr>
          <p:cNvPr id="21" name="anchor-39">
            <a:extLst xmlns:a="http://schemas.openxmlformats.org/drawingml/2006/main">
              <a:ext uri="{FF2B5EF4-FFF2-40B4-BE49-F238E27FC236}">
                <a16:creationId xmlns:a16="http://schemas.microsoft.com/office/drawing/2014/main" id="{C7431204-D45F-4C56-8099-62BD0A7BC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62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40">
            <a:extLst xmlns:a="http://schemas.openxmlformats.org/drawingml/2006/main">
              <a:ext uri="{FF2B5EF4-FFF2-40B4-BE49-F238E27FC236}">
                <a16:creationId xmlns:a16="http://schemas.microsoft.com/office/drawing/2014/main" id="{8C4EE040-8EA7-426C-BC98-0FA758DCE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957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3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8620125" y="2581275"/>
            <a:ext cx="0" cy="11144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4" name="text-41">
            <a:extLst xmlns:a="http://schemas.openxmlformats.org/drawingml/2006/main">
              <a:ext uri="{FF2B5EF4-FFF2-40B4-BE49-F238E27FC236}">
                <a16:creationId xmlns:a16="http://schemas.microsoft.com/office/drawing/2014/main" id="{6CF066B5-7CBF-4D2A-9A03-FEDD2B00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2609850"/>
            <a:ext cx="2190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边界</a:t>
            </a:r>
          </a:p>
        </p:txBody>
      </p:sp>
      <p:sp>
        <p:nvSpPr>
          <p:cNvPr id="25" name="text-42">
            <a:extLst xmlns:a="http://schemas.openxmlformats.org/drawingml/2006/main">
              <a:ext uri="{FF2B5EF4-FFF2-40B4-BE49-F238E27FC236}">
                <a16:creationId xmlns:a16="http://schemas.microsoft.com/office/drawing/2014/main" id="{71747FE4-BD15-4BB5-91EF-A4FD015D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114675"/>
            <a:ext cx="2333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执行是否处于允许范围</a:t>
            </a:r>
          </a:p>
        </p:txBody>
      </p:sp>
      <p:sp>
        <p:nvSpPr>
          <p:cNvPr id="26" name="text-43">
            <a:extLst xmlns:a="http://schemas.openxmlformats.org/drawingml/2006/main">
              <a:ext uri="{FF2B5EF4-FFF2-40B4-BE49-F238E27FC236}">
                <a16:creationId xmlns:a16="http://schemas.microsoft.com/office/drawing/2014/main" id="{79D5E354-A94B-450D-8D64-5C6908FAE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大模型接入后，执行边界问题更加突出：它可以提出哪些控制请求？</a:t>
            </a:r>
          </a:p>
        </p:txBody>
      </p:sp>
      <p:sp>
        <p:nvSpPr>
          <p:cNvPr id="27" name="text-44">
            <a:extLst xmlns:a="http://schemas.openxmlformats.org/drawingml/2006/main">
              <a:ext uri="{FF2B5EF4-FFF2-40B4-BE49-F238E27FC236}">
                <a16:creationId xmlns:a16="http://schemas.microsoft.com/office/drawing/2014/main" id="{1378F5E3-9625-479F-993D-D3A63B442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基本原则：大模型不能拥有特权旁路，所有控制请求共用统一执行机制。</a:t>
            </a:r>
          </a:p>
        </p:txBody>
      </p:sp>
      <p:sp>
        <p:nvSpPr>
          <p:cNvPr id="28" name="text-45">
            <a:extLst xmlns:a="http://schemas.openxmlformats.org/drawingml/2006/main">
              <a:ext uri="{FF2B5EF4-FFF2-40B4-BE49-F238E27FC236}">
                <a16:creationId xmlns:a16="http://schemas.microsoft.com/office/drawing/2014/main" id="{95E727FB-1D23-4CC1-800B-FA9F2ECD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5302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因此，需要把模型、状态、流程与约束放进同一套可执行框架。</a:t>
            </a:r>
          </a:p>
        </p:txBody>
      </p:sp>
      <p:sp>
        <p:nvSpPr>
          <p:cNvPr id="29" name="anchor-46">
            <a:extLst xmlns:a="http://schemas.openxmlformats.org/drawingml/2006/main">
              <a:ext uri="{FF2B5EF4-FFF2-40B4-BE49-F238E27FC236}">
                <a16:creationId xmlns:a16="http://schemas.microsoft.com/office/drawing/2014/main" id="{782A825C-4025-4758-985F-1249D1FC2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anchor-47">
            <a:extLst xmlns:a="http://schemas.openxmlformats.org/drawingml/2006/main">
              <a:ext uri="{FF2B5EF4-FFF2-40B4-BE49-F238E27FC236}">
                <a16:creationId xmlns:a16="http://schemas.microsoft.com/office/drawing/2014/main" id="{15B69366-7733-49B9-B1F2-CEFA48D6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61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2" name="text-48">
            <a:extLst xmlns:a="http://schemas.openxmlformats.org/drawingml/2006/main">
              <a:ext uri="{FF2B5EF4-FFF2-40B4-BE49-F238E27FC236}">
                <a16:creationId xmlns:a16="http://schemas.microsoft.com/office/drawing/2014/main" id="{D91DC66F-D779-4A3E-84AD-1846D9A2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背景问题由“能否自动执行”转向“怎样在共同边界内执行”。</a:t>
            </a:r>
          </a:p>
        </p:txBody>
      </p:sp>
    </p:spTree>
    <p:extLst>
      <p:ext uri="{BB962C8B-B14F-4D97-AF65-F5344CB8AC3E}">
        <p14:creationId xmlns:p14="http://schemas.microsoft.com/office/powerpoint/2010/main" val="20193763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DDB1527-8C0F-401F-8516-77B16C03E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21DED688-C690-43F6-8690-CE2B6348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  统一建模框架：L = ⟨R, F, C, Π⟩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6642D7E-4B01-4235-AF51-2C3F27E5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91766548-9FCA-4D53-B49B-4956B626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3/10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text-49">
            <a:extLst xmlns:a="http://schemas.openxmlformats.org/drawingml/2006/main">
              <a:ext uri="{FF2B5EF4-FFF2-40B4-BE49-F238E27FC236}">
                <a16:creationId xmlns:a16="http://schemas.microsoft.com/office/drawing/2014/main" id="{69A29FC5-3A5F-47A5-A1EB-F4A30786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10648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一次任务执行需要同时描述对象、过程、状态和边界。</a:t>
            </a:r>
          </a:p>
        </p:txBody>
      </p:sp>
      <p:sp>
        <p:nvSpPr>
          <p:cNvPr id="19" name="text-50">
            <a:extLst xmlns:a="http://schemas.openxmlformats.org/drawingml/2006/main">
              <a:ext uri="{FF2B5EF4-FFF2-40B4-BE49-F238E27FC236}">
                <a16:creationId xmlns:a16="http://schemas.microsoft.com/office/drawing/2014/main" id="{B393E4A5-33BC-4EFF-AB20-D87BD58D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240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R 资源层</a:t>
            </a:r>
          </a:p>
        </p:txBody>
      </p:sp>
      <p:sp>
        <p:nvSpPr>
          <p:cNvPr id="20" name="text-51">
            <a:extLst xmlns:a="http://schemas.openxmlformats.org/drawingml/2006/main">
              <a:ext uri="{FF2B5EF4-FFF2-40B4-BE49-F238E27FC236}">
                <a16:creationId xmlns:a16="http://schemas.microsoft.com/office/drawing/2014/main" id="{30E20E11-3483-4979-9CD8-4E1154006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304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设备能力与属性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设备状态机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设备数据与反馈</a:t>
            </a:r>
          </a:p>
        </p:txBody>
      </p:sp>
      <p:sp>
        <p:nvSpPr>
          <p:cNvPr id="21" name="anchor-52">
            <a:extLst xmlns:a="http://schemas.openxmlformats.org/drawingml/2006/main">
              <a:ext uri="{FF2B5EF4-FFF2-40B4-BE49-F238E27FC236}">
                <a16:creationId xmlns:a16="http://schemas.microsoft.com/office/drawing/2014/main" id="{D199E3D6-0ECC-48AB-A3C9-F1279028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0669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53">
            <a:extLst xmlns:a="http://schemas.openxmlformats.org/drawingml/2006/main">
              <a:ext uri="{FF2B5EF4-FFF2-40B4-BE49-F238E27FC236}">
                <a16:creationId xmlns:a16="http://schemas.microsoft.com/office/drawing/2014/main" id="{E3C65E5C-47FE-41E7-931D-480640B7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467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6" name=""/>
          <p:cNvCxnSpPr>
            <a:stCxn xmlns:a="http://schemas.openxmlformats.org/drawingml/2006/main" id="2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4000500" y="2085975"/>
            <a:ext cx="0" cy="2381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4" name="text-54">
            <a:extLst xmlns:a="http://schemas.openxmlformats.org/drawingml/2006/main">
              <a:ext uri="{FF2B5EF4-FFF2-40B4-BE49-F238E27FC236}">
                <a16:creationId xmlns:a16="http://schemas.microsoft.com/office/drawing/2014/main" id="{060E9CF1-897F-4660-851C-D08AFF6C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1240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F 工作流层</a:t>
            </a:r>
          </a:p>
        </p:txBody>
      </p:sp>
      <p:sp>
        <p:nvSpPr>
          <p:cNvPr id="25" name="text-55">
            <a:extLst xmlns:a="http://schemas.openxmlformats.org/drawingml/2006/main">
              <a:ext uri="{FF2B5EF4-FFF2-40B4-BE49-F238E27FC236}">
                <a16:creationId xmlns:a16="http://schemas.microsoft.com/office/drawing/2014/main" id="{00474071-97E8-434C-830D-60C47EF7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86050"/>
            <a:ext cx="304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任务节点与生命周期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接口、触发器与变量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数据端口与执行关系</a:t>
            </a:r>
          </a:p>
        </p:txBody>
      </p:sp>
      <p:sp>
        <p:nvSpPr>
          <p:cNvPr id="26" name="anchor-56">
            <a:extLst xmlns:a="http://schemas.openxmlformats.org/drawingml/2006/main">
              <a:ext uri="{FF2B5EF4-FFF2-40B4-BE49-F238E27FC236}">
                <a16:creationId xmlns:a16="http://schemas.microsoft.com/office/drawing/2014/main" id="{2DDCEA0D-36EC-4B75-BB17-4C49A171F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20669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7" name="anchor-57">
            <a:extLst xmlns:a="http://schemas.openxmlformats.org/drawingml/2006/main">
              <a:ext uri="{FF2B5EF4-FFF2-40B4-BE49-F238E27FC236}">
                <a16:creationId xmlns:a16="http://schemas.microsoft.com/office/drawing/2014/main" id="{9DA5C178-830D-410A-B1F1-8F1787BDD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4467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" name=""/>
          <p:cNvCxnSpPr>
            <a:stCxn xmlns:a="http://schemas.openxmlformats.org/drawingml/2006/main" id="26" idx="2"/>
            <a:endCxn xmlns:a="http://schemas.openxmlformats.org/drawingml/2006/main" id="27" idx="0"/>
          </p:cNvCxnSpPr>
          <p:nvPr/>
        </p:nvCxnSpPr>
        <p:spPr>
          <a:xfrm xmlns:a="http://schemas.openxmlformats.org/drawingml/2006/main">
            <a:off x="7639050" y="2085975"/>
            <a:ext cx="0" cy="2381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9" name="text-58">
            <a:extLst xmlns:a="http://schemas.openxmlformats.org/drawingml/2006/main">
              <a:ext uri="{FF2B5EF4-FFF2-40B4-BE49-F238E27FC236}">
                <a16:creationId xmlns:a16="http://schemas.microsoft.com/office/drawing/2014/main" id="{B29A8FC3-088F-47F8-9844-D5BCB5E5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2407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C 约束层</a:t>
            </a:r>
          </a:p>
        </p:txBody>
      </p:sp>
      <p:sp>
        <p:nvSpPr>
          <p:cNvPr id="30" name="text-59">
            <a:extLst xmlns:a="http://schemas.openxmlformats.org/drawingml/2006/main">
              <a:ext uri="{FF2B5EF4-FFF2-40B4-BE49-F238E27FC236}">
                <a16:creationId xmlns:a16="http://schemas.microsoft.com/office/drawing/2014/main" id="{5198EBF8-7B8F-41AF-A14E-B60FFB66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686050"/>
            <a:ext cx="304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任务目标与执行边界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观察条件与处理动作</a:t>
            </a:r>
          </a:p>
        </p:txBody>
      </p:sp>
      <p:sp>
        <p:nvSpPr>
          <p:cNvPr id="31" name="text-60">
            <a:extLst xmlns:a="http://schemas.openxmlformats.org/drawingml/2006/main">
              <a:ext uri="{FF2B5EF4-FFF2-40B4-BE49-F238E27FC236}">
                <a16:creationId xmlns:a16="http://schemas.microsoft.com/office/drawing/2014/main" id="{4C31B048-FDEB-4131-8C79-81E72297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629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Π 跨层协议：规定接口类型、允许信号、数据类型与反馈格式。</a:t>
            </a:r>
          </a:p>
        </p:txBody>
      </p:sp>
      <p:sp>
        <p:nvSpPr>
          <p:cNvPr id="32" name="text-61">
            <a:extLst xmlns:a="http://schemas.openxmlformats.org/drawingml/2006/main">
              <a:ext uri="{FF2B5EF4-FFF2-40B4-BE49-F238E27FC236}">
                <a16:creationId xmlns:a16="http://schemas.microsoft.com/office/drawing/2014/main" id="{3A0FBFE0-9A55-46C6-B4A9-DB9B4DB4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1062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三层共同描述任务执行，跨层协议保证它们使用同一套执行语义。</a:t>
            </a:r>
          </a:p>
        </p:txBody>
      </p:sp>
      <p:sp>
        <p:nvSpPr>
          <p:cNvPr id="33" name="anchor-62">
            <a:extLst xmlns:a="http://schemas.openxmlformats.org/drawingml/2006/main">
              <a:ext uri="{FF2B5EF4-FFF2-40B4-BE49-F238E27FC236}">
                <a16:creationId xmlns:a16="http://schemas.microsoft.com/office/drawing/2014/main" id="{E74CCEED-9DD0-4704-BC68-EABB5D10D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4" name="anchor-63">
            <a:extLst xmlns:a="http://schemas.openxmlformats.org/drawingml/2006/main">
              <a:ext uri="{FF2B5EF4-FFF2-40B4-BE49-F238E27FC236}">
                <a16:creationId xmlns:a16="http://schemas.microsoft.com/office/drawing/2014/main" id="{45724E16-C551-4FA7-956E-157C2D8C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8" name="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6" name="text-64">
            <a:extLst xmlns:a="http://schemas.openxmlformats.org/drawingml/2006/main">
              <a:ext uri="{FF2B5EF4-FFF2-40B4-BE49-F238E27FC236}">
                <a16:creationId xmlns:a16="http://schemas.microsoft.com/office/drawing/2014/main" id="{87817395-B842-475A-B5C9-F854D4A17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框架把实验室任务从“脚本调用”提升为“对象、关系与规则的统一表达”。</a:t>
            </a:r>
          </a:p>
        </p:txBody>
      </p:sp>
    </p:spTree>
    <p:extLst>
      <p:ext uri="{BB962C8B-B14F-4D97-AF65-F5344CB8AC3E}">
        <p14:creationId xmlns:p14="http://schemas.microsoft.com/office/powerpoint/2010/main" val="181670117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94A7FCF-90AA-4A43-A59B-460F63979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E6B6F955-271D-494A-9C8C-34DC837C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  资源层：设备能力与状态机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2C22E5-345A-4C5B-84E1-6CE6E251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034F3B0-DC9C-4B8B-AD4A-E5E1AADFE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4/10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65">
            <a:extLst xmlns:a="http://schemas.openxmlformats.org/drawingml/2006/main">
              <a:ext uri="{FF2B5EF4-FFF2-40B4-BE49-F238E27FC236}">
                <a16:creationId xmlns:a16="http://schemas.microsoft.com/office/drawing/2014/main" id="{A57BE678-B008-49FE-B470-F49D7459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29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每台设备先被表达为可执行的对象模型。</a:t>
            </a:r>
          </a:p>
        </p:txBody>
      </p:sp>
      <p:sp>
        <p:nvSpPr>
          <p:cNvPr id="9" name="text-66">
            <a:extLst xmlns:a="http://schemas.openxmlformats.org/drawingml/2006/main">
              <a:ext uri="{FF2B5EF4-FFF2-40B4-BE49-F238E27FC236}">
                <a16:creationId xmlns:a16="http://schemas.microsoft.com/office/drawing/2014/main" id="{6EAD1D01-E403-4C96-8F0C-89EB7605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能力模型</a:t>
            </a:r>
          </a:p>
        </p:txBody>
      </p:sp>
      <p:sp>
        <p:nvSpPr>
          <p:cNvPr id="10" name="text-67">
            <a:extLst xmlns:a="http://schemas.openxmlformats.org/drawingml/2006/main">
              <a:ext uri="{FF2B5EF4-FFF2-40B4-BE49-F238E27FC236}">
                <a16:creationId xmlns:a16="http://schemas.microsoft.com/office/drawing/2014/main" id="{BC8665AD-821D-4CD9-9F99-936286D9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属性、能力参数、接口与数据端口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说明设备能做什么、接收什么、返回什么</a:t>
            </a:r>
          </a:p>
        </p:txBody>
      </p:sp>
      <p:sp>
        <p:nvSpPr>
          <p:cNvPr id="11" name="anchor-68">
            <a:extLst xmlns:a="http://schemas.openxmlformats.org/drawingml/2006/main">
              <a:ext uri="{FF2B5EF4-FFF2-40B4-BE49-F238E27FC236}">
                <a16:creationId xmlns:a16="http://schemas.microsoft.com/office/drawing/2014/main" id="{0947A66E-D560-4900-A8BC-FBB702928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0193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69">
            <a:extLst xmlns:a="http://schemas.openxmlformats.org/drawingml/2006/main">
              <a:ext uri="{FF2B5EF4-FFF2-40B4-BE49-F238E27FC236}">
                <a16:creationId xmlns:a16="http://schemas.microsoft.com/office/drawing/2014/main" id="{3C9F9EB2-1FF6-42F2-9F03-0DD1985FF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75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4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981700" y="2038350"/>
            <a:ext cx="0" cy="27146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70">
            <a:extLst xmlns:a="http://schemas.openxmlformats.org/drawingml/2006/main">
              <a:ext uri="{FF2B5EF4-FFF2-40B4-BE49-F238E27FC236}">
                <a16:creationId xmlns:a16="http://schemas.microsoft.com/office/drawing/2014/main" id="{399BC271-E35D-49BD-8D89-23D6D1212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764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状态机</a:t>
            </a:r>
          </a:p>
        </p:txBody>
      </p:sp>
      <p:sp>
        <p:nvSpPr>
          <p:cNvPr id="15" name="text-71">
            <a:extLst xmlns:a="http://schemas.openxmlformats.org/drawingml/2006/main">
              <a:ext uri="{FF2B5EF4-FFF2-40B4-BE49-F238E27FC236}">
                <a16:creationId xmlns:a16="http://schemas.microsoft.com/office/drawing/2014/main" id="{7BB98530-A307-406C-B490-5CE985684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71750"/>
            <a:ext cx="4762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状态空间、接口与转移规则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说明请求如何被接受、执行、反馈和结束。</a:t>
            </a:r>
          </a:p>
        </p:txBody>
      </p:sp>
      <p:sp>
        <p:nvSpPr>
          <p:cNvPr id="16" name="anchor-72">
            <a:extLst xmlns:a="http://schemas.openxmlformats.org/drawingml/2006/main">
              <a:ext uri="{FF2B5EF4-FFF2-40B4-BE49-F238E27FC236}">
                <a16:creationId xmlns:a16="http://schemas.microsoft.com/office/drawing/2014/main" id="{44C650F7-EF9A-4239-A0A0-BD80F1787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629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73">
            <a:extLst xmlns:a="http://schemas.openxmlformats.org/drawingml/2006/main">
              <a:ext uri="{FF2B5EF4-FFF2-40B4-BE49-F238E27FC236}">
                <a16:creationId xmlns:a16="http://schemas.microsoft.com/office/drawing/2014/main" id="{EAE423B5-F139-40E3-AD2D-C6C0DA4D2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8675" y="46291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9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3476625" y="4638675"/>
            <a:ext cx="49720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dash"/>
            <a:tailEnd type="triangle" w="med" len="med"/>
          </a:ln>
        </p:spPr>
      </p:cxnSp>
      <p:sp>
        <p:nvSpPr>
          <p:cNvPr id="19" name="text-74">
            <a:extLst xmlns:a="http://schemas.openxmlformats.org/drawingml/2006/main">
              <a:ext uri="{FF2B5EF4-FFF2-40B4-BE49-F238E27FC236}">
                <a16:creationId xmlns:a16="http://schemas.microsoft.com/office/drawing/2014/main" id="{3297DCE4-9C0E-4A7C-941B-B69B9048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10125"/>
            <a:ext cx="342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178477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78477"/>
                </a:solidFill>
                <a:latin typeface="微软雅黑"/>
                <a:ea typeface="微软雅黑"/>
                <a:cs typeface="微软雅黑"/>
              </a:rPr>
              <a:t>Adapter 发令并接收反馈</a:t>
            </a:r>
          </a:p>
        </p:txBody>
      </p:sp>
      <p:sp>
        <p:nvSpPr>
          <p:cNvPr id="20" name="text-75">
            <a:extLst xmlns:a="http://schemas.openxmlformats.org/drawingml/2006/main">
              <a:ext uri="{FF2B5EF4-FFF2-40B4-BE49-F238E27FC236}">
                <a16:creationId xmlns:a16="http://schemas.microsoft.com/office/drawing/2014/main" id="{1A5D369A-EEA2-4423-A596-A7D472326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1062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流程、人工和大模型提出的设备控制请求，都必须经过状态机。</a:t>
            </a:r>
          </a:p>
        </p:txBody>
      </p:sp>
      <p:sp>
        <p:nvSpPr>
          <p:cNvPr id="21" name="anchor-76">
            <a:extLst xmlns:a="http://schemas.openxmlformats.org/drawingml/2006/main">
              <a:ext uri="{FF2B5EF4-FFF2-40B4-BE49-F238E27FC236}">
                <a16:creationId xmlns:a16="http://schemas.microsoft.com/office/drawing/2014/main" id="{97B73BBD-BF63-4840-B4F2-158A5740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2" name="anchor-77">
            <a:extLst xmlns:a="http://schemas.openxmlformats.org/drawingml/2006/main">
              <a:ext uri="{FF2B5EF4-FFF2-40B4-BE49-F238E27FC236}">
                <a16:creationId xmlns:a16="http://schemas.microsoft.com/office/drawing/2014/main" id="{CB43EE74-B7F1-482F-9EB8-F4FF899A4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4" name="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4" name="text-78">
            <a:extLst xmlns:a="http://schemas.openxmlformats.org/drawingml/2006/main">
              <a:ext uri="{FF2B5EF4-FFF2-40B4-BE49-F238E27FC236}">
                <a16:creationId xmlns:a16="http://schemas.microsoft.com/office/drawing/2014/main" id="{FE888567-4A43-43F2-A0B2-00691DB0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设备模型让“设备能做什么”和“设备现在能不能做”同时可见。</a:t>
            </a:r>
          </a:p>
        </p:txBody>
      </p:sp>
    </p:spTree>
    <p:extLst>
      <p:ext uri="{BB962C8B-B14F-4D97-AF65-F5344CB8AC3E}">
        <p14:creationId xmlns:p14="http://schemas.microsoft.com/office/powerpoint/2010/main" val="120906474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EFB015B-0AC2-4375-B396-EC594F9CE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5B2D7CB1-0F5E-4F18-89EB-41A3EFD9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  工作流层：节点、接口与触发器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6B671BB5-68C1-40CE-8322-D04B2FFC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7497B97-1CF4-40A7-B28F-62B2D5357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5/10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-79">
            <a:extLst xmlns:a="http://schemas.openxmlformats.org/drawingml/2006/main">
              <a:ext uri="{FF2B5EF4-FFF2-40B4-BE49-F238E27FC236}">
                <a16:creationId xmlns:a16="http://schemas.microsoft.com/office/drawing/2014/main" id="{15350579-FEF2-4391-8F94-E7E8E26C1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4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一个工作流节点同时表达任务变量、生命周期、交互关系和执行条件。</a:t>
            </a:r>
          </a:p>
        </p:txBody>
      </p:sp>
      <p:sp>
        <p:nvSpPr>
          <p:cNvPr id="8" name="text-80">
            <a:extLst xmlns:a="http://schemas.openxmlformats.org/drawingml/2006/main">
              <a:ext uri="{FF2B5EF4-FFF2-40B4-BE49-F238E27FC236}">
                <a16:creationId xmlns:a16="http://schemas.microsoft.com/office/drawing/2014/main" id="{7804D31F-633C-4FBB-AC90-F684CF11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050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节点</a:t>
            </a:r>
          </a:p>
        </p:txBody>
      </p:sp>
      <p:sp>
        <p:nvSpPr>
          <p:cNvPr id="9" name="text-81">
            <a:extLst xmlns:a="http://schemas.openxmlformats.org/drawingml/2006/main">
              <a:ext uri="{FF2B5EF4-FFF2-40B4-BE49-F238E27FC236}">
                <a16:creationId xmlns:a16="http://schemas.microsoft.com/office/drawing/2014/main" id="{D8E192E6-9F6A-4ECF-94E2-47D7E2CF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4667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保存当前值、目标值和业务标志，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并记录待执行、运行中、已完成、失败等生命周期状态。</a:t>
            </a:r>
          </a:p>
        </p:txBody>
      </p:sp>
      <p:sp>
        <p:nvSpPr>
          <p:cNvPr id="10" name="anchor-82">
            <a:extLst xmlns:a="http://schemas.openxmlformats.org/drawingml/2006/main">
              <a:ext uri="{FF2B5EF4-FFF2-40B4-BE49-F238E27FC236}">
                <a16:creationId xmlns:a16="http://schemas.microsoft.com/office/drawing/2014/main" id="{FB77384A-34D0-4462-93B1-3F301DAC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0478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1" name="anchor-83">
            <a:extLst xmlns:a="http://schemas.openxmlformats.org/drawingml/2006/main">
              <a:ext uri="{FF2B5EF4-FFF2-40B4-BE49-F238E27FC236}">
                <a16:creationId xmlns:a16="http://schemas.microsoft.com/office/drawing/2014/main" id="{7459546F-AB65-4074-A089-9070C609A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8291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1" name="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5981700" y="2066925"/>
            <a:ext cx="0" cy="2762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3" name="text-84">
            <a:extLst xmlns:a="http://schemas.openxmlformats.org/drawingml/2006/main">
              <a:ext uri="{FF2B5EF4-FFF2-40B4-BE49-F238E27FC236}">
                <a16:creationId xmlns:a16="http://schemas.microsoft.com/office/drawing/2014/main" id="{24458B81-8B77-468E-936C-FF4B8AAB1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050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接口与数据端口</a:t>
            </a:r>
          </a:p>
        </p:txBody>
      </p:sp>
      <p:sp>
        <p:nvSpPr>
          <p:cNvPr id="14" name="text-85">
            <a:extLst xmlns:a="http://schemas.openxmlformats.org/drawingml/2006/main">
              <a:ext uri="{FF2B5EF4-FFF2-40B4-BE49-F238E27FC236}">
                <a16:creationId xmlns:a16="http://schemas.microsoft.com/office/drawing/2014/main" id="{FA62D4A5-899D-408B-B506-B0CE8D5A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00325"/>
            <a:ext cx="471487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接口传递控制信号和载荷，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数据端口传递实验数据和属性映射。</a:t>
            </a:r>
          </a:p>
        </p:txBody>
      </p:sp>
      <p:sp>
        <p:nvSpPr>
          <p:cNvPr id="15" name="text-86">
            <a:extLst xmlns:a="http://schemas.openxmlformats.org/drawingml/2006/main">
              <a:ext uri="{FF2B5EF4-FFF2-40B4-BE49-F238E27FC236}">
                <a16:creationId xmlns:a16="http://schemas.microsoft.com/office/drawing/2014/main" id="{6979B858-A35C-4283-91E1-4417620C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0629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触发器读取变量、接口值和生命周期，在条件成立时执行动作。</a:t>
            </a:r>
          </a:p>
        </p:txBody>
      </p:sp>
      <p:sp>
        <p:nvSpPr>
          <p:cNvPr id="16" name="anchor-87">
            <a:extLst xmlns:a="http://schemas.openxmlformats.org/drawingml/2006/main">
              <a:ext uri="{FF2B5EF4-FFF2-40B4-BE49-F238E27FC236}">
                <a16:creationId xmlns:a16="http://schemas.microsoft.com/office/drawing/2014/main" id="{1708EFDB-08AA-41CB-AE77-A86C9004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086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7" name="anchor-88">
            <a:extLst xmlns:a="http://schemas.openxmlformats.org/drawingml/2006/main">
              <a:ext uri="{FF2B5EF4-FFF2-40B4-BE49-F238E27FC236}">
                <a16:creationId xmlns:a16="http://schemas.microsoft.com/office/drawing/2014/main" id="{0A200207-994E-4782-87BA-101ED117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5086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7" name=""/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695325" y="5095875"/>
            <a:ext cx="22764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19" name="text-89">
            <a:extLst xmlns:a="http://schemas.openxmlformats.org/drawingml/2006/main">
              <a:ext uri="{FF2B5EF4-FFF2-40B4-BE49-F238E27FC236}">
                <a16:creationId xmlns:a16="http://schemas.microsoft.com/office/drawing/2014/main" id="{CD657F10-5B51-4E3B-98F6-658D260E8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3725" y="49149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条件</a:t>
            </a:r>
          </a:p>
        </p:txBody>
      </p:sp>
      <p:sp>
        <p:nvSpPr>
          <p:cNvPr id="20" name="anchor-90">
            <a:extLst xmlns:a="http://schemas.openxmlformats.org/drawingml/2006/main">
              <a:ext uri="{FF2B5EF4-FFF2-40B4-BE49-F238E27FC236}">
                <a16:creationId xmlns:a16="http://schemas.microsoft.com/office/drawing/2014/main" id="{AC172ED9-C2EC-493C-9DBD-CD908BE2C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086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anchor-91">
            <a:extLst xmlns:a="http://schemas.openxmlformats.org/drawingml/2006/main">
              <a:ext uri="{FF2B5EF4-FFF2-40B4-BE49-F238E27FC236}">
                <a16:creationId xmlns:a16="http://schemas.microsoft.com/office/drawing/2014/main" id="{867738AA-62E2-41FF-818B-D8A5010BA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086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1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4257675" y="5095875"/>
            <a:ext cx="23145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23" name="text-92">
            <a:extLst xmlns:a="http://schemas.openxmlformats.org/drawingml/2006/main">
              <a:ext uri="{FF2B5EF4-FFF2-40B4-BE49-F238E27FC236}">
                <a16:creationId xmlns:a16="http://schemas.microsoft.com/office/drawing/2014/main" id="{A5D91CA3-023C-43EE-ACB6-9376E925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9149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动作</a:t>
            </a:r>
          </a:p>
        </p:txBody>
      </p:sp>
      <p:sp>
        <p:nvSpPr>
          <p:cNvPr id="24" name="anchor-93">
            <a:extLst xmlns:a="http://schemas.openxmlformats.org/drawingml/2006/main">
              <a:ext uri="{FF2B5EF4-FFF2-40B4-BE49-F238E27FC236}">
                <a16:creationId xmlns:a16="http://schemas.microsoft.com/office/drawing/2014/main" id="{8E89050F-261F-41AB-B4A1-A3CA9CB54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086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5" name="anchor-94">
            <a:extLst xmlns:a="http://schemas.openxmlformats.org/drawingml/2006/main">
              <a:ext uri="{FF2B5EF4-FFF2-40B4-BE49-F238E27FC236}">
                <a16:creationId xmlns:a16="http://schemas.microsoft.com/office/drawing/2014/main" id="{18D580E9-9719-4420-AB06-45109F39F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50863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5" name="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7781925" y="5095875"/>
            <a:ext cx="228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78477"/>
            </a:solidFill>
            <a:prstDash val="solid"/>
            <a:tailEnd type="triangle" w="med" len="med"/>
          </a:ln>
        </p:spPr>
      </p:cxnSp>
      <p:sp>
        <p:nvSpPr>
          <p:cNvPr id="27" name="text-95">
            <a:extLst xmlns:a="http://schemas.openxmlformats.org/drawingml/2006/main">
              <a:ext uri="{FF2B5EF4-FFF2-40B4-BE49-F238E27FC236}">
                <a16:creationId xmlns:a16="http://schemas.microsoft.com/office/drawing/2014/main" id="{314EB5B1-F815-4BB9-ADB4-FFCE9A30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914900"/>
            <a:ext cx="1162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178477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78477"/>
                </a:solidFill>
                <a:latin typeface="微软雅黑"/>
                <a:ea typeface="微软雅黑"/>
                <a:cs typeface="微软雅黑"/>
              </a:rPr>
              <a:t>反馈</a:t>
            </a:r>
          </a:p>
        </p:txBody>
      </p:sp>
      <p:sp>
        <p:nvSpPr>
          <p:cNvPr id="28" name="anchor-96">
            <a:extLst xmlns:a="http://schemas.openxmlformats.org/drawingml/2006/main">
              <a:ext uri="{FF2B5EF4-FFF2-40B4-BE49-F238E27FC236}">
                <a16:creationId xmlns:a16="http://schemas.microsoft.com/office/drawing/2014/main" id="{103EDB70-A2CE-4F22-8AB5-616B89A8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9" name="anchor-97">
            <a:extLst xmlns:a="http://schemas.openxmlformats.org/drawingml/2006/main">
              <a:ext uri="{FF2B5EF4-FFF2-40B4-BE49-F238E27FC236}">
                <a16:creationId xmlns:a16="http://schemas.microsoft.com/office/drawing/2014/main" id="{4725BF3A-BD4F-40F6-A00E-3D3DC31B3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59" name=""/>
          <p:cNvCxnSpPr>
            <a:stCxn xmlns:a="http://schemas.openxmlformats.org/drawingml/2006/main" id="28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31" name="text-98">
            <a:extLst xmlns:a="http://schemas.openxmlformats.org/drawingml/2006/main">
              <a:ext uri="{FF2B5EF4-FFF2-40B4-BE49-F238E27FC236}">
                <a16:creationId xmlns:a16="http://schemas.microsoft.com/office/drawing/2014/main" id="{09808FA1-C0C9-410A-B717-DB486E898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节点、接口与触发器是一个整体，共同解释任务步骤如何产生行为。</a:t>
            </a:r>
          </a:p>
        </p:txBody>
      </p:sp>
    </p:spTree>
    <p:extLst>
      <p:ext uri="{BB962C8B-B14F-4D97-AF65-F5344CB8AC3E}">
        <p14:creationId xmlns:p14="http://schemas.microsoft.com/office/powerpoint/2010/main" val="102882206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AFC6F03-03A4-49D8-8EB4-4CA1D722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C2C8577-8ED3-4077-B2BB-07103EFEA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  约束层：观察执行并采取动作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AE4616B2-5401-4B5C-9052-F6431BD2E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8344C7A-A4AF-4C74-B7FE-8CD38F6F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6/10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-99">
            <a:extLst xmlns:a="http://schemas.openxmlformats.org/drawingml/2006/main">
              <a:ext uri="{FF2B5EF4-FFF2-40B4-BE49-F238E27FC236}">
                <a16:creationId xmlns:a16="http://schemas.microsoft.com/office/drawing/2014/main" id="{69FB4FA9-A91F-4BB0-A5F5-F130E7C0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4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约束层统一观察资源状态和工作流上下文，并把判断转成处理动作。</a:t>
            </a:r>
          </a:p>
        </p:txBody>
      </p:sp>
      <p:sp>
        <p:nvSpPr>
          <p:cNvPr id="9" name="text-100">
            <a:extLst xmlns:a="http://schemas.openxmlformats.org/drawingml/2006/main">
              <a:ext uri="{FF2B5EF4-FFF2-40B4-BE49-F238E27FC236}">
                <a16:creationId xmlns:a16="http://schemas.microsoft.com/office/drawing/2014/main" id="{00BE74BD-719F-42D6-A2BB-BDD05FC9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观察对象</a:t>
            </a:r>
          </a:p>
        </p:txBody>
      </p:sp>
      <p:sp>
        <p:nvSpPr>
          <p:cNvPr id="10" name="text-101">
            <a:extLst xmlns:a="http://schemas.openxmlformats.org/drawingml/2006/main">
              <a:ext uri="{FF2B5EF4-FFF2-40B4-BE49-F238E27FC236}">
                <a16:creationId xmlns:a16="http://schemas.microsoft.com/office/drawing/2014/main" id="{9504BF9B-FAA2-4BB6-B1C5-D9C3873B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238625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资源侧：设备属性与状态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工作流侧：节点状态与执行上下文</a:t>
            </a:r>
          </a:p>
        </p:txBody>
      </p:sp>
      <p:sp>
        <p:nvSpPr>
          <p:cNvPr id="11" name="anchor-102">
            <a:extLst xmlns:a="http://schemas.openxmlformats.org/drawingml/2006/main">
              <a:ext uri="{FF2B5EF4-FFF2-40B4-BE49-F238E27FC236}">
                <a16:creationId xmlns:a16="http://schemas.microsoft.com/office/drawing/2014/main" id="{DBA7E99C-F333-4B13-A601-324A3B36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207645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103">
            <a:extLst xmlns:a="http://schemas.openxmlformats.org/drawingml/2006/main">
              <a:ext uri="{FF2B5EF4-FFF2-40B4-BE49-F238E27FC236}">
                <a16:creationId xmlns:a16="http://schemas.microsoft.com/office/drawing/2014/main" id="{7D2572EE-BB1F-4957-9F96-8071A7FE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0725" y="47529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1" name=""/>
          <p:cNvCxnSpPr>
            <a:stCxn xmlns:a="http://schemas.openxmlformats.org/drawingml/2006/main" id="11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5810250" y="2095500"/>
            <a:ext cx="0" cy="26574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104">
            <a:extLst xmlns:a="http://schemas.openxmlformats.org/drawingml/2006/main">
              <a:ext uri="{FF2B5EF4-FFF2-40B4-BE49-F238E27FC236}">
                <a16:creationId xmlns:a16="http://schemas.microsoft.com/office/drawing/2014/main" id="{42EA9402-F6C7-4FA8-9390-0617A1A5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152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约束类型</a:t>
            </a:r>
          </a:p>
        </p:txBody>
      </p:sp>
      <p:sp>
        <p:nvSpPr>
          <p:cNvPr id="15" name="text-105">
            <a:extLst xmlns:a="http://schemas.openxmlformats.org/drawingml/2006/main">
              <a:ext uri="{FF2B5EF4-FFF2-40B4-BE49-F238E27FC236}">
                <a16:creationId xmlns:a16="http://schemas.microsoft.com/office/drawing/2014/main" id="{20043039-AE36-468C-B597-F245D796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47950"/>
            <a:ext cx="4572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实验室基线约束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任务目标与允许边界</a:t>
            </a:r>
          </a:p>
        </p:txBody>
      </p:sp>
      <p:sp>
        <p:nvSpPr>
          <p:cNvPr id="16" name="text-106">
            <a:extLst xmlns:a="http://schemas.openxmlformats.org/drawingml/2006/main">
              <a:ext uri="{FF2B5EF4-FFF2-40B4-BE49-F238E27FC236}">
                <a16:creationId xmlns:a16="http://schemas.microsoft.com/office/drawing/2014/main" id="{938A92BF-3BB3-41EE-B1A3-C0C90205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10629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统一观察空间把对象与当前值放到同一套判断依据中。</a:t>
            </a:r>
          </a:p>
        </p:txBody>
      </p:sp>
      <p:sp>
        <p:nvSpPr>
          <p:cNvPr id="17" name="text-107">
            <a:extLst xmlns:a="http://schemas.openxmlformats.org/drawingml/2006/main">
              <a:ext uri="{FF2B5EF4-FFF2-40B4-BE49-F238E27FC236}">
                <a16:creationId xmlns:a16="http://schemas.microsoft.com/office/drawing/2014/main" id="{1D5D6F6B-AAC3-4058-87A3-EFEDD3C3E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62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处理动作包括警告、报警、停止和中止；设备内部约束由状态机本地处理。</a:t>
            </a:r>
          </a:p>
        </p:txBody>
      </p:sp>
      <p:sp>
        <p:nvSpPr>
          <p:cNvPr id="18" name="anchor-108">
            <a:extLst xmlns:a="http://schemas.openxmlformats.org/drawingml/2006/main">
              <a:ext uri="{FF2B5EF4-FFF2-40B4-BE49-F238E27FC236}">
                <a16:creationId xmlns:a16="http://schemas.microsoft.com/office/drawing/2014/main" id="{45ABFCE0-D621-401A-A972-7C8FAFEC8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9" name="anchor-109">
            <a:extLst xmlns:a="http://schemas.openxmlformats.org/drawingml/2006/main">
              <a:ext uri="{FF2B5EF4-FFF2-40B4-BE49-F238E27FC236}">
                <a16:creationId xmlns:a16="http://schemas.microsoft.com/office/drawing/2014/main" id="{4E73049F-DE35-480B-98FC-4AA6AC86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" name=""/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1" name="text-110">
            <a:extLst xmlns:a="http://schemas.openxmlformats.org/drawingml/2006/main">
              <a:ext uri="{FF2B5EF4-FFF2-40B4-BE49-F238E27FC236}">
                <a16:creationId xmlns:a16="http://schemas.microsoft.com/office/drawing/2014/main" id="{C4F12F91-899C-407C-9B94-001F1618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约束和资源、工作流使用共同的模型对象，执行边界因此能够被解释和监督。</a:t>
            </a:r>
          </a:p>
        </p:txBody>
      </p:sp>
    </p:spTree>
    <p:extLst>
      <p:ext uri="{BB962C8B-B14F-4D97-AF65-F5344CB8AC3E}">
        <p14:creationId xmlns:p14="http://schemas.microsoft.com/office/powerpoint/2010/main" val="68847301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9163D9-980C-4714-9783-06B13EF91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642BFAFE-011B-498E-BFF0-F7B9F1D1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  关键机制：统一执行链路</a:t>
            </a:r>
          </a:p>
        </p:txBody>
      </p:sp>
      <p:sp>
        <p:nvSpPr>
          <p:cNvPr id="4" name="TextBox 3">
            <a:extLst xmlns:a="http://schemas.openxmlformats.org/drawingml/2006/main">
              <a:ext uri="{FF2B5EF4-FFF2-40B4-BE49-F238E27FC236}">
                <a16:creationId xmlns:a16="http://schemas.microsoft.com/office/drawing/2014/main" id="{853BBE21-86FE-4CE7-A07D-08745831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97280"/>
            <a:ext cx="112471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72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设备模型 = 能力模型 + 状态机。流程先作用于模型，由状态机经适配器驱动物理设备。</a:t>
            </a: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02BA5A6-E7D7-4DC2-B1F4-86C174C29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1247120" cy="640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97E0EBF-8E4C-4F69-B424-504526F39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9072"/>
            <a:ext cx="112471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流程 / 人 / 大模型  →  设备模型（能力 + 状态机）  →  Adapter  →  物理设备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8F86A037-C0EB-43EE-B66A-C43EEC7D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" y="2468880"/>
            <a:ext cx="3657600" cy="32004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850"/>
              </a:spcAft>
              <a:buNone/>
            </a:pPr>
            <a:r>
              <a:t/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3BDB5633-0041-4988-A8CF-66F7D757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71750"/>
            <a:ext cx="4476750" cy="304800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横向：工作流组织任务步骤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明确各步的顺序与数据依赖。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纵向：每一步经过设备状态机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状态机经 Adapter 发令并接收反馈。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任务切片</a:t>
            </a:r>
          </a:p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1300"/>
              </a:spcAft>
              <a:buNone/>
              <a:def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303030"/>
                </a:solidFill>
                <a:latin typeface="微软雅黑"/>
                <a:ea typeface="微软雅黑"/>
                <a:cs typeface="微软雅黑"/>
              </a:rPr>
              <a:t>横向步骤组织与纵向执行链路的结合。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3A78EA6A-0307-4085-9DAB-9992C0718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705475"/>
            <a:ext cx="4572000" cy="514350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控制意图来源不同，设备执行链路相同。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E3775A6-0E45-48C4-825B-1CF0C2733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C2AF8FB-DF12-4C2C-BEB7-A611C5798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7/10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23" name="图片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6bd011788449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3875" y="2800350"/>
            <a:ext cx="6334125" cy="333117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867428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B27CB85-55C8-43AF-9304-B7FA6028A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18A869FD-6C18-4E93-9D47-26F99429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  实现与案例：反应釜加热</a:t>
            </a:r>
            <a:endParaRPr sz="26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EA28A86-C763-43A0-ACEB-B8E854EF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987E5A4A-B8A6-4AAB-A2B0-47DB1427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8/10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111">
            <a:extLst xmlns:a="http://schemas.openxmlformats.org/drawingml/2006/main">
              <a:ext uri="{FF2B5EF4-FFF2-40B4-BE49-F238E27FC236}">
                <a16:creationId xmlns:a16="http://schemas.microsoft.com/office/drawing/2014/main" id="{0BF67533-176E-4C34-B632-95F0F0C1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4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用一次加热任务说明模型如何参与具体执行。</a:t>
            </a:r>
          </a:p>
        </p:txBody>
      </p:sp>
      <p:sp>
        <p:nvSpPr>
          <p:cNvPr id="10" name="text-112">
            <a:extLst xmlns:a="http://schemas.openxmlformats.org/drawingml/2006/main">
              <a:ext uri="{FF2B5EF4-FFF2-40B4-BE49-F238E27FC236}">
                <a16:creationId xmlns:a16="http://schemas.microsoft.com/office/drawing/2014/main" id="{F2C17A7F-A4E2-47C4-BB57-271E0591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任务过程</a:t>
            </a:r>
          </a:p>
        </p:txBody>
      </p:sp>
      <p:sp>
        <p:nvSpPr>
          <p:cNvPr id="11" name="text-113">
            <a:extLst xmlns:a="http://schemas.openxmlformats.org/drawingml/2006/main">
              <a:ext uri="{FF2B5EF4-FFF2-40B4-BE49-F238E27FC236}">
                <a16:creationId xmlns:a16="http://schemas.microsoft.com/office/drawing/2014/main" id="{568E167F-89EE-47B4-94DB-ABB57A94F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2890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加热节点提出执行请求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设备状态机接收请求并转移状态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Adapter 将请求映射到设备协议</a:t>
            </a:r>
          </a:p>
        </p:txBody>
      </p:sp>
      <p:sp>
        <p:nvSpPr>
          <p:cNvPr id="12" name="anchor-114">
            <a:extLst xmlns:a="http://schemas.openxmlformats.org/drawingml/2006/main">
              <a:ext uri="{FF2B5EF4-FFF2-40B4-BE49-F238E27FC236}">
                <a16:creationId xmlns:a16="http://schemas.microsoft.com/office/drawing/2014/main" id="{A4B98CC4-FA52-4B3C-9482-F99091955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20669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3" name="anchor-115">
            <a:extLst xmlns:a="http://schemas.openxmlformats.org/drawingml/2006/main">
              <a:ext uri="{FF2B5EF4-FFF2-40B4-BE49-F238E27FC236}">
                <a16:creationId xmlns:a16="http://schemas.microsoft.com/office/drawing/2014/main" id="{19966B4B-BB00-4BF1-956C-6E6CA94B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0275" y="484822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5" name=""/>
          <p:cNvCxnSpPr>
            <a:stCxn xmlns:a="http://schemas.openxmlformats.org/drawingml/2006/main" id="12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6019800" y="2085975"/>
            <a:ext cx="0" cy="2762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5" name="text-116">
            <a:extLst xmlns:a="http://schemas.openxmlformats.org/drawingml/2006/main">
              <a:ext uri="{FF2B5EF4-FFF2-40B4-BE49-F238E27FC236}">
                <a16:creationId xmlns:a16="http://schemas.microsoft.com/office/drawing/2014/main" id="{62644DA7-48E4-499F-B13D-07F10B42E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13360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反馈过程</a:t>
            </a:r>
          </a:p>
        </p:txBody>
      </p:sp>
      <p:sp>
        <p:nvSpPr>
          <p:cNvPr id="16" name="text-117">
            <a:extLst xmlns:a="http://schemas.openxmlformats.org/drawingml/2006/main">
              <a:ext uri="{FF2B5EF4-FFF2-40B4-BE49-F238E27FC236}">
                <a16:creationId xmlns:a16="http://schemas.microsoft.com/office/drawing/2014/main" id="{63D59772-0D88-429E-AFAF-D4419FC0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28900"/>
            <a:ext cx="457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反应釜返回温度与状态事件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Adapter 带回模型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节点完成并激活后续步骤</a:t>
            </a:r>
          </a:p>
        </p:txBody>
      </p:sp>
      <p:sp>
        <p:nvSpPr>
          <p:cNvPr id="17" name="anchor-118">
            <a:extLst xmlns:a="http://schemas.openxmlformats.org/drawingml/2006/main">
              <a:ext uri="{FF2B5EF4-FFF2-40B4-BE49-F238E27FC236}">
                <a16:creationId xmlns:a16="http://schemas.microsoft.com/office/drawing/2014/main" id="{47F41B51-B24B-4215-A64B-DF3CE1C1A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905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8" name="anchor-119">
            <a:extLst xmlns:a="http://schemas.openxmlformats.org/drawingml/2006/main">
              <a:ext uri="{FF2B5EF4-FFF2-40B4-BE49-F238E27FC236}">
                <a16:creationId xmlns:a16="http://schemas.microsoft.com/office/drawing/2014/main" id="{D830F778-C95B-4CA1-B93D-96787A86B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9053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0" name=""/>
          <p:cNvCxnSpPr>
            <a:stCxn xmlns:a="http://schemas.openxmlformats.org/drawingml/2006/main" id="17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95325" y="4914900"/>
            <a:ext cx="103251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774AC"/>
            </a:solidFill>
            <a:prstDash val="solid"/>
            <a:tailEnd type="triangle" w="med" len="med"/>
          </a:ln>
        </p:spPr>
      </p:cxnSp>
      <p:sp>
        <p:nvSpPr>
          <p:cNvPr id="20" name="text-120">
            <a:extLst xmlns:a="http://schemas.openxmlformats.org/drawingml/2006/main">
              <a:ext uri="{FF2B5EF4-FFF2-40B4-BE49-F238E27FC236}">
                <a16:creationId xmlns:a16="http://schemas.microsoft.com/office/drawing/2014/main" id="{A64308C2-D3AB-4502-93B1-2A9E477A7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5105400"/>
            <a:ext cx="5353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0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请求进入状态机，反馈回到节点生命周期</a:t>
            </a:r>
          </a:p>
        </p:txBody>
      </p:sp>
      <p:sp>
        <p:nvSpPr>
          <p:cNvPr id="21" name="text-121">
            <a:extLst xmlns:a="http://schemas.openxmlformats.org/drawingml/2006/main">
              <a:ext uri="{FF2B5EF4-FFF2-40B4-BE49-F238E27FC236}">
                <a16:creationId xmlns:a16="http://schemas.microsoft.com/office/drawing/2014/main" id="{A937A3EB-9E80-428C-A97D-41B60539D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约束在温度越界或设备异常时介入。</a:t>
            </a:r>
          </a:p>
        </p:txBody>
      </p:sp>
      <p:sp>
        <p:nvSpPr>
          <p:cNvPr id="22" name="anchor-122">
            <a:extLst xmlns:a="http://schemas.openxmlformats.org/drawingml/2006/main">
              <a:ext uri="{FF2B5EF4-FFF2-40B4-BE49-F238E27FC236}">
                <a16:creationId xmlns:a16="http://schemas.microsoft.com/office/drawing/2014/main" id="{61062574-778F-4AE9-B7C3-7139088AA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3" name="anchor-123">
            <a:extLst xmlns:a="http://schemas.openxmlformats.org/drawingml/2006/main">
              <a:ext uri="{FF2B5EF4-FFF2-40B4-BE49-F238E27FC236}">
                <a16:creationId xmlns:a16="http://schemas.microsoft.com/office/drawing/2014/main" id="{8A26F0B8-AB4D-46D3-A697-8D50FEE2D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45" name="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5" name="text-124">
            <a:extLst xmlns:a="http://schemas.openxmlformats.org/drawingml/2006/main">
              <a:ext uri="{FF2B5EF4-FFF2-40B4-BE49-F238E27FC236}">
                <a16:creationId xmlns:a16="http://schemas.microsoft.com/office/drawing/2014/main" id="{422621CA-FD17-4E19-891C-A60FD6CAB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案例把工作流、设备模型、Adapter 和约束放进同一条可检查的执行链路。</a:t>
            </a:r>
          </a:p>
        </p:txBody>
      </p:sp>
    </p:spTree>
    <p:extLst>
      <p:ext uri="{BB962C8B-B14F-4D97-AF65-F5344CB8AC3E}">
        <p14:creationId xmlns:p14="http://schemas.microsoft.com/office/powerpoint/2010/main" val="85576839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C225033A-D4CA-48F2-BDCB-C2EB16676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FFE515C-5B26-483C-A7BB-201034415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9  扩展与展望：仿真反馈闭环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AB08595F-4D9E-4316-9F77-73F8F914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5260D063-1D0E-4375-87F0-251AE5F9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9/10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text-125">
            <a:extLst xmlns:a="http://schemas.openxmlformats.org/drawingml/2006/main">
              <a:ext uri="{FF2B5EF4-FFF2-40B4-BE49-F238E27FC236}">
                <a16:creationId xmlns:a16="http://schemas.microsoft.com/office/drawing/2014/main" id="{27A7CFE8-0206-4E21-9828-024C3823C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648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在 Adapter 层接入仿真执行，上层继续沿用同一套模型和规则。</a:t>
            </a:r>
          </a:p>
        </p:txBody>
      </p:sp>
      <p:sp>
        <p:nvSpPr>
          <p:cNvPr id="13" name="text-126">
            <a:extLst xmlns:a="http://schemas.openxmlformats.org/drawingml/2006/main">
              <a:ext uri="{FF2B5EF4-FFF2-40B4-BE49-F238E27FC236}">
                <a16:creationId xmlns:a16="http://schemas.microsoft.com/office/drawing/2014/main" id="{00EB89FE-F37B-419E-8C11-F8F3C551E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774AC"/>
                </a:solidFill>
                <a:latin typeface="微软雅黑"/>
                <a:ea typeface="微软雅黑"/>
                <a:cs typeface="微软雅黑"/>
              </a:rPr>
              <a:t>闭环过程</a:t>
            </a:r>
          </a:p>
        </p:txBody>
      </p:sp>
      <p:sp>
        <p:nvSpPr>
          <p:cNvPr id="14" name="text-127">
            <a:extLst xmlns:a="http://schemas.openxmlformats.org/drawingml/2006/main">
              <a:ext uri="{FF2B5EF4-FFF2-40B4-BE49-F238E27FC236}">
                <a16:creationId xmlns:a16="http://schemas.microsoft.com/office/drawing/2014/main" id="{7AD0B73E-1E29-4B2D-8AD2-243D5D344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38425"/>
            <a:ext cx="102870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大模型决策 → 提出控制请求 → 统一执行链路 → 仿真执行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模拟反馈 → 大模型调整 → 再次决策与仿真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850"/>
              </a:spcAft>
              <a:buNone/>
              <a:def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满足预设条件后，进入实机执行。</a:t>
            </a:r>
          </a:p>
        </p:txBody>
      </p:sp>
      <p:sp>
        <p:nvSpPr>
          <p:cNvPr id="15" name="anchor-128">
            <a:extLst xmlns:a="http://schemas.openxmlformats.org/drawingml/2006/main">
              <a:ext uri="{FF2B5EF4-FFF2-40B4-BE49-F238E27FC236}">
                <a16:creationId xmlns:a16="http://schemas.microsoft.com/office/drawing/2014/main" id="{D85CBC4F-0672-4715-8A91-C7B75A55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6386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6" name="anchor-129">
            <a:extLst xmlns:a="http://schemas.openxmlformats.org/drawingml/2006/main">
              <a:ext uri="{FF2B5EF4-FFF2-40B4-BE49-F238E27FC236}">
                <a16:creationId xmlns:a16="http://schemas.microsoft.com/office/drawing/2014/main" id="{0378578B-CEAC-4FB7-A942-D2E21C247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6386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3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95325" y="4648200"/>
            <a:ext cx="10325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8" name="text-130">
            <a:extLst xmlns:a="http://schemas.openxmlformats.org/drawingml/2006/main">
              <a:ext uri="{FF2B5EF4-FFF2-40B4-BE49-F238E27FC236}">
                <a16:creationId xmlns:a16="http://schemas.microsoft.com/office/drawing/2014/main" id="{98830ECC-35F4-4DF4-86FB-28FE7C561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43475"/>
            <a:ext cx="10629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仿真和实机只是不同的执行后端，模型、状态机和约束检查保持一致。</a:t>
            </a:r>
          </a:p>
        </p:txBody>
      </p:sp>
      <p:sp>
        <p:nvSpPr>
          <p:cNvPr id="19" name="text-131">
            <a:extLst xmlns:a="http://schemas.openxmlformats.org/drawingml/2006/main">
              <a:ext uri="{FF2B5EF4-FFF2-40B4-BE49-F238E27FC236}">
                <a16:creationId xmlns:a16="http://schemas.microsoft.com/office/drawing/2014/main" id="{9BAFE442-3885-43C8-A1CC-757A164F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57825"/>
            <a:ext cx="1062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这使大模型的控制能力在可观察、可检查的范围内逐步接近实机。</a:t>
            </a:r>
          </a:p>
        </p:txBody>
      </p:sp>
      <p:sp>
        <p:nvSpPr>
          <p:cNvPr id="20" name="anchor-132">
            <a:extLst xmlns:a="http://schemas.openxmlformats.org/drawingml/2006/main">
              <a:ext uri="{FF2B5EF4-FFF2-40B4-BE49-F238E27FC236}">
                <a16:creationId xmlns:a16="http://schemas.microsoft.com/office/drawing/2014/main" id="{7898CB31-FBBF-4BBB-A10A-9925EEDBD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21" name="anchor-133">
            <a:extLst xmlns:a="http://schemas.openxmlformats.org/drawingml/2006/main">
              <a:ext uri="{FF2B5EF4-FFF2-40B4-BE49-F238E27FC236}">
                <a16:creationId xmlns:a16="http://schemas.microsoft.com/office/drawing/2014/main" id="{61402BAB-19AC-4E78-B56A-8B30070F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0025" y="6010275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38" name=""/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561975" y="6019800"/>
            <a:ext cx="110680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23" name="text-134">
            <a:extLst xmlns:a="http://schemas.openxmlformats.org/drawingml/2006/main">
              <a:ext uri="{FF2B5EF4-FFF2-40B4-BE49-F238E27FC236}">
                <a16:creationId xmlns:a16="http://schemas.microsoft.com/office/drawing/2014/main" id="{9D654DF0-EA41-4571-8E0D-EDE8DC4D8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150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仿真反馈闭环是统一执行框架的扩展方向。</a:t>
            </a:r>
          </a:p>
        </p:txBody>
      </p:sp>
    </p:spTree>
    <p:extLst>
      <p:ext uri="{BB962C8B-B14F-4D97-AF65-F5344CB8AC3E}">
        <p14:creationId xmlns:p14="http://schemas.microsoft.com/office/powerpoint/2010/main" val="29317608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12B71D5-E4C1-4847-B96E-4FA452B3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A3A5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C386F66A-581B-4598-B506-5F72CD56A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"/>
            <a:ext cx="11087100" cy="5715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buNone/>
              <a:def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8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10  总结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7763E56-E0C0-48F0-B0B3-5F12994E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46520"/>
            <a:ext cx="91440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EUROSIM 2026  ·  面向智慧化学实验室的任务导向可执行建模框架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BAE642F9-B282-4741-8019-EDB273CB6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6446520"/>
            <a:ext cx="1371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10/10</a:t>
            </a:r>
            <a:endParaRPr sz="1100" b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text-135">
            <a:extLst xmlns:a="http://schemas.openxmlformats.org/drawingml/2006/main">
              <a:ext uri="{FF2B5EF4-FFF2-40B4-BE49-F238E27FC236}">
                <a16:creationId xmlns:a16="http://schemas.microsoft.com/office/drawing/2014/main" id="{01402572-034F-4671-8CD2-0A5115A0E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10629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2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我们建立了一套明确的建模语言和执行语义。</a:t>
            </a:r>
          </a:p>
        </p:txBody>
      </p:sp>
      <p:sp>
        <p:nvSpPr>
          <p:cNvPr id="10" name="text-136">
            <a:extLst xmlns:a="http://schemas.openxmlformats.org/drawingml/2006/main">
              <a:ext uri="{FF2B5EF4-FFF2-40B4-BE49-F238E27FC236}">
                <a16:creationId xmlns:a16="http://schemas.microsoft.com/office/drawing/2014/main" id="{F9634F5E-61A7-4D39-89AF-84AB4D02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106299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资源层描述设备能力与状态，工作流层描述任务节点与交互，约束层描述执行边界。</a:t>
            </a:r>
          </a:p>
          <a:p xmlns:a="http://schemas.openxmlformats.org/drawingml/2006/main">
            <a:pPr>
              <a:spcBef>
                <a:spcPts val="0"/>
              </a:spcBef>
              <a:spcAft>
                <a:spcPts val="1200"/>
              </a:spcAft>
            </a:pPr>
            <a:r>
              <a:t/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1200"/>
              </a:spcAft>
              <a:buNone/>
              <a:def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243746"/>
                </a:solidFill>
                <a:latin typeface="微软雅黑"/>
                <a:ea typeface="微软雅黑"/>
                <a:cs typeface="微软雅黑"/>
              </a:rPr>
              <a:t>触发器、接口、状态机和 Adapter 把这些模型组织成同一条执行链路。</a:t>
            </a:r>
          </a:p>
        </p:txBody>
      </p:sp>
      <p:sp>
        <p:nvSpPr>
          <p:cNvPr id="11" name="anchor-137">
            <a:extLst xmlns:a="http://schemas.openxmlformats.org/drawingml/2006/main">
              <a:ext uri="{FF2B5EF4-FFF2-40B4-BE49-F238E27FC236}">
                <a16:creationId xmlns:a16="http://schemas.microsoft.com/office/drawing/2014/main" id="{56C2336F-C526-4032-86FC-673CE96E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41529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12" name="anchor-138">
            <a:extLst xmlns:a="http://schemas.openxmlformats.org/drawingml/2006/main">
              <a:ext uri="{FF2B5EF4-FFF2-40B4-BE49-F238E27FC236}">
                <a16:creationId xmlns:a16="http://schemas.microsoft.com/office/drawing/2014/main" id="{4842F7C1-DC35-4704-9C8C-44837410A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425" y="4152900"/>
            <a:ext cx="190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4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95325" y="4162425"/>
            <a:ext cx="10325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9BB7CC"/>
            </a:solidFill>
            <a:prstDash val="solid"/>
            <a:tailEnd type="none" w="med" len="med"/>
          </a:ln>
        </p:spPr>
      </p:cxnSp>
      <p:sp>
        <p:nvSpPr>
          <p:cNvPr id="14" name="text-139">
            <a:extLst xmlns:a="http://schemas.openxmlformats.org/drawingml/2006/main">
              <a:ext uri="{FF2B5EF4-FFF2-40B4-BE49-F238E27FC236}">
                <a16:creationId xmlns:a16="http://schemas.microsoft.com/office/drawing/2014/main" id="{15F2BB54-DC3B-4B9F-A31B-F6502F73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52950"/>
            <a:ext cx="1062990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人、流程和大模型共用这套机制。</a:t>
            </a:r>
          </a:p>
          <a:p xmlns:a="http://schemas.openxmlformats.org/drawingml/2006/main">
            <a:pPr algn="l">
              <a:lnSpc>
                <a:spcPct val="112000"/>
              </a:lnSpc>
              <a:spcBef>
                <a:spcPts val="0"/>
              </a:spcBef>
              <a:spcAft>
                <a:spcPts val="900"/>
              </a:spcAft>
              <a:buNone/>
              <a:def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模型表达具体实验室与任务，框架按照统一语义组织执行。</a:t>
            </a:r>
          </a:p>
        </p:txBody>
      </p:sp>
      <p:sp>
        <p:nvSpPr>
          <p:cNvPr id="15" name="text-140">
            <a:extLst xmlns:a="http://schemas.openxmlformats.org/drawingml/2006/main">
              <a:ext uri="{FF2B5EF4-FFF2-40B4-BE49-F238E27FC236}">
                <a16:creationId xmlns:a16="http://schemas.microsoft.com/office/drawing/2014/main" id="{5F6037A6-E7BD-4383-B843-21EE5EE7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6299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1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C3C5D"/>
                </a:solidFill>
                <a:latin typeface="微软雅黑"/>
                <a:ea typeface="微软雅黑"/>
                <a:cs typeface="微软雅黑"/>
              </a:rPr>
              <a:t>谢谢各位，欢迎交流。</a:t>
            </a:r>
          </a:p>
        </p:txBody>
      </p:sp>
    </p:spTree>
    <p:extLst>
      <p:ext uri="{BB962C8B-B14F-4D97-AF65-F5344CB8AC3E}">
        <p14:creationId xmlns:p14="http://schemas.microsoft.com/office/powerpoint/2010/main" val="555153158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2026-09-08T16:02:18.4570000Z</dcterms:created>
  <dcterms:modified xsi:type="dcterms:W3CDTF">2026-09-08T16:02:18.4570000Z</dcterms:modified>
</coreProperties>
</file>