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0ae4189bbe45ae" /><Relationship Type="http://schemas.openxmlformats.org/officeDocument/2006/relationships/extended-properties" Target="/docProps/app.xml" Id="Rea2c0bb2d0ec41aa" /><Relationship Type="http://schemas.openxmlformats.org/officeDocument/2006/relationships/officeDocument" Target="/ppt/presentation.xml" Id="Rcd61505592e54a42" /></Relationships>
</file>

<file path=ppt/presentation.xml><?xml version="1.0" encoding="utf-8"?>
<p:presentation xmlns:p="http://schemas.openxmlformats.org/presentationml/2006/main">
  <p:sldMasterIdLst>
    <p:sldMasterId xmlns:r="http://schemas.openxmlformats.org/officeDocument/2006/relationships" id="2147483648" r:id="R67c1e892a8ab4298"/>
  </p:sldMasterIdLst>
  <p:notesMasterIdLst>
    <p:notesMasterId xmlns:r="http://schemas.openxmlformats.org/officeDocument/2006/relationships" r:id="R6dcf92b36812408d"/>
  </p:notesMasterIdLst>
  <p:sldIdLst>
    <p:sldId xmlns:r="http://schemas.openxmlformats.org/officeDocument/2006/relationships" id="256" r:id="R7a044461d0c0444c"/>
    <p:sldId xmlns:r="http://schemas.openxmlformats.org/officeDocument/2006/relationships" id="257" r:id="R54b47c6fcbd84192"/>
    <p:sldId xmlns:r="http://schemas.openxmlformats.org/officeDocument/2006/relationships" id="258" r:id="R09f77828b88d4f2c"/>
    <p:sldId xmlns:r="http://schemas.openxmlformats.org/officeDocument/2006/relationships" id="259" r:id="Reb013819daf14bc7"/>
    <p:sldId xmlns:r="http://schemas.openxmlformats.org/officeDocument/2006/relationships" id="260" r:id="Ra95c2825a5004770"/>
    <p:sldId xmlns:r="http://schemas.openxmlformats.org/officeDocument/2006/relationships" id="261" r:id="R792e2f0e2296461c"/>
    <p:sldId xmlns:r="http://schemas.openxmlformats.org/officeDocument/2006/relationships" id="262" r:id="Rbeb934b60f834ad8"/>
    <p:sldId xmlns:r="http://schemas.openxmlformats.org/officeDocument/2006/relationships" id="263" r:id="R17c536149d644db9"/>
    <p:sldId xmlns:r="http://schemas.openxmlformats.org/officeDocument/2006/relationships" id="264" r:id="Recf27e7883e34682"/>
    <p:sldId xmlns:r="http://schemas.openxmlformats.org/officeDocument/2006/relationships" id="265" r:id="R40dd704e1a3545d6"/>
    <p:sldId xmlns:r="http://schemas.openxmlformats.org/officeDocument/2006/relationships" id="266" r:id="R0b6ec2adb0974832"/>
    <p:sldId xmlns:r="http://schemas.openxmlformats.org/officeDocument/2006/relationships" id="267" r:id="R1cdd509dfedc481c"/>
    <p:sldId xmlns:r="http://schemas.openxmlformats.org/officeDocument/2006/relationships" id="268" r:id="R9bfac9abd19b429a"/>
    <p:sldId xmlns:r="http://schemas.openxmlformats.org/officeDocument/2006/relationships" id="269" r:id="R3d536701efea41b0"/>
    <p:sldId xmlns:r="http://schemas.openxmlformats.org/officeDocument/2006/relationships" id="270" r:id="R13c329a468cb4f77"/>
    <p:sldId xmlns:r="http://schemas.openxmlformats.org/officeDocument/2006/relationships" id="271" r:id="Rc5a51de261bb4076"/>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4e9802f6b624a7a" /><Relationship Type="http://schemas.openxmlformats.org/officeDocument/2006/relationships/slideMaster" Target="/ppt/slideMasters/slideMaster1.xml" Id="R67c1e892a8ab4298" /><Relationship Type="http://schemas.openxmlformats.org/officeDocument/2006/relationships/notesMaster" Target="/ppt/notesMasters/notesMaster1.xml" Id="R6dcf92b36812408d" /><Relationship Type="http://schemas.openxmlformats.org/officeDocument/2006/relationships/presProps" Target="/ppt/presProps.xml" Id="R6397d9d0471e46d8" /><Relationship Type="http://schemas.openxmlformats.org/officeDocument/2006/relationships/viewProps" Target="/ppt/viewProps.xml" Id="R73c7b93ebc834879" /><Relationship Type="http://schemas.openxmlformats.org/officeDocument/2006/relationships/tableStyles" Target="/ppt/tableStyles.xml" Id="Rdf1c394c5d23408c" /><Relationship Type="http://schemas.openxmlformats.org/officeDocument/2006/relationships/slide" Target="/ppt/slides/slide1.xml" Id="R7a044461d0c0444c" /><Relationship Type="http://schemas.openxmlformats.org/officeDocument/2006/relationships/slide" Target="/ppt/slides/slide2.xml" Id="R54b47c6fcbd84192" /><Relationship Type="http://schemas.openxmlformats.org/officeDocument/2006/relationships/slide" Target="/ppt/slides/slide3.xml" Id="R09f77828b88d4f2c" /><Relationship Type="http://schemas.openxmlformats.org/officeDocument/2006/relationships/slide" Target="/ppt/slides/slide4.xml" Id="Reb013819daf14bc7" /><Relationship Type="http://schemas.openxmlformats.org/officeDocument/2006/relationships/slide" Target="/ppt/slides/slide5.xml" Id="Ra95c2825a5004770" /><Relationship Type="http://schemas.openxmlformats.org/officeDocument/2006/relationships/slide" Target="/ppt/slides/slide6.xml" Id="R792e2f0e2296461c" /><Relationship Type="http://schemas.openxmlformats.org/officeDocument/2006/relationships/slide" Target="/ppt/slides/slide7.xml" Id="Rbeb934b60f834ad8" /><Relationship Type="http://schemas.openxmlformats.org/officeDocument/2006/relationships/slide" Target="/ppt/slides/slide8.xml" Id="R17c536149d644db9" /><Relationship Type="http://schemas.openxmlformats.org/officeDocument/2006/relationships/slide" Target="/ppt/slides/slide9.xml" Id="Recf27e7883e34682" /><Relationship Type="http://schemas.openxmlformats.org/officeDocument/2006/relationships/slide" Target="/ppt/slides/slide10.xml" Id="R40dd704e1a3545d6" /><Relationship Type="http://schemas.openxmlformats.org/officeDocument/2006/relationships/slide" Target="/ppt/slides/slide11.xml" Id="R0b6ec2adb0974832" /><Relationship Type="http://schemas.openxmlformats.org/officeDocument/2006/relationships/slide" Target="/ppt/slides/slide12.xml" Id="R1cdd509dfedc481c" /><Relationship Type="http://schemas.openxmlformats.org/officeDocument/2006/relationships/slide" Target="/ppt/slides/slide13.xml" Id="R9bfac9abd19b429a" /><Relationship Type="http://schemas.openxmlformats.org/officeDocument/2006/relationships/slide" Target="/ppt/slides/slide14.xml" Id="R3d536701efea41b0" /><Relationship Type="http://schemas.openxmlformats.org/officeDocument/2006/relationships/slide" Target="/ppt/slides/slide15.xml" Id="R13c329a468cb4f77" /><Relationship Type="http://schemas.openxmlformats.org/officeDocument/2006/relationships/slide" Target="/ppt/slides/slide16.xml" Id="Rc5a51de261bb40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df2501a6f341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cfc6205c874768" /><Relationship Type="http://schemas.openxmlformats.org/officeDocument/2006/relationships/notesMaster" Target="/ppt/notesMasters/notesMaster1.xml" Id="Re441d2dbbefa41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7829010d5e45ab" /><Relationship Type="http://schemas.openxmlformats.org/officeDocument/2006/relationships/notesMaster" Target="/ppt/notesMasters/notesMaster1.xml" Id="Rec1b301e481e43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f736d158c4481e" /><Relationship Type="http://schemas.openxmlformats.org/officeDocument/2006/relationships/notesMaster" Target="/ppt/notesMasters/notesMaster1.xml" Id="Rc3bf925f48db4b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1f59db53304d94" /><Relationship Type="http://schemas.openxmlformats.org/officeDocument/2006/relationships/notesMaster" Target="/ppt/notesMasters/notesMaster1.xml" Id="Rb5048df518884e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71f35a04c443a6" /><Relationship Type="http://schemas.openxmlformats.org/officeDocument/2006/relationships/notesMaster" Target="/ppt/notesMasters/notesMaster1.xml" Id="Rdb051606186440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7434a3fcd44569" /><Relationship Type="http://schemas.openxmlformats.org/officeDocument/2006/relationships/notesMaster" Target="/ppt/notesMasters/notesMaster1.xml" Id="R49b070b57e7540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1e8e07fac24a94" /><Relationship Type="http://schemas.openxmlformats.org/officeDocument/2006/relationships/notesMaster" Target="/ppt/notesMasters/notesMaster1.xml" Id="R9208903a23014c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fc2662907f4af0" /><Relationship Type="http://schemas.openxmlformats.org/officeDocument/2006/relationships/notesMaster" Target="/ppt/notesMasters/notesMaster1.xml" Id="R0635d4b0751f4d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d02b5b07164ea3" /><Relationship Type="http://schemas.openxmlformats.org/officeDocument/2006/relationships/notesMaster" Target="/ppt/notesMasters/notesMaster1.xml" Id="R93ed4c48a44b4b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5abccd28fe4706" /><Relationship Type="http://schemas.openxmlformats.org/officeDocument/2006/relationships/notesMaster" Target="/ppt/notesMasters/notesMaster1.xml" Id="Rc4faf41ccc1742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b24cfdc3104f75" /><Relationship Type="http://schemas.openxmlformats.org/officeDocument/2006/relationships/notesMaster" Target="/ppt/notesMasters/notesMaster1.xml" Id="R11d3d6ca913647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8a1593731b45cd" /><Relationship Type="http://schemas.openxmlformats.org/officeDocument/2006/relationships/notesMaster" Target="/ppt/notesMasters/notesMaster1.xml" Id="R17f2f6ef10a343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0c231c419b4178" /><Relationship Type="http://schemas.openxmlformats.org/officeDocument/2006/relationships/notesMaster" Target="/ppt/notesMasters/notesMaster1.xml" Id="R348868be04c94d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9d008207494104" /><Relationship Type="http://schemas.openxmlformats.org/officeDocument/2006/relationships/notesMaster" Target="/ppt/notesMasters/notesMaster1.xml" Id="R8e77d8bf9b42419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c1c10411a7459a" /><Relationship Type="http://schemas.openxmlformats.org/officeDocument/2006/relationships/notesMaster" Target="/ppt/notesMasters/notesMaster1.xml" Id="Rc837240037124d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74cf96428a40df" /><Relationship Type="http://schemas.openxmlformats.org/officeDocument/2006/relationships/notesMaster" Target="/ppt/notesMasters/notesMaster1.xml" Id="R61a32debbcc045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0 页 · 封面（20 秒）</a:t>
            </a:r>
          </a:p>
          <a:p xmlns:a="http://schemas.openxmlformats.org/drawingml/2006/main">
            <a:r>
              <a:t/>
            </a:r>
          </a:p>
          <a:p xmlns:a="http://schemas.openxmlformats.org/drawingml/2006/main">
            <a:r>
              <a:t>各位老师、各位同事，大家好。我是北京信息科技大学的于涛。今天汇报我们的工作：面向智慧化学实验室的任务导向可执行建模框架。通讯作者是赵淳老师。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 页 · 目录</a:t>
            </a:r>
          </a:p>
          <a:p xmlns:a="http://schemas.openxmlformats.org/drawingml/2006/main">
            <a:r>
              <a:t/>
            </a:r>
          </a:p>
          <a:p xmlns:a="http://schemas.openxmlformats.org/drawingml/2006/main">
            <a:r>
              <a:t>首先从大模型参与实验决策带来的执行边界问题出发，回到自动化流程与设备模型分离这一结构缺口。随后介绍我们如何对人的设备操作过程建模，构造一条所有控制意图都必须经过的执行链路。最后用原型案例说明当前工作，并讨论仿真反馈闭环的扩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2 页 · 背景问题（约 1 分钟）</a:t>
            </a:r>
          </a:p>
          <a:p xmlns:a="http://schemas.openxmlformats.org/drawingml/2006/main">
            <a:r>
              <a:t/>
            </a:r>
          </a:p>
          <a:p xmlns:a="http://schemas.openxmlformats.org/drawingml/2006/main">
            <a:r>
              <a:t>随着大模型的发展，智慧化学实验室开始从自动执行预设任务流程，走向由大模型参与实验决策和流程控制。</a:t>
            </a:r>
          </a:p>
          <a:p xmlns:a="http://schemas.openxmlformats.org/drawingml/2006/main">
            <a:r>
              <a:t/>
            </a:r>
          </a:p>
          <a:p xmlns:a="http://schemas.openxmlformats.org/drawingml/2006/main">
            <a:r>
              <a:t>无论是否接入大模型，一次任务执行都需要说清楚四件事：资源如何组织，设备状态如何演化，实验数据如何传递，以及执行是否落在允许边界内。大模型的加入带来了一个更明确的问题：它可以提出什么控制请求，这些请求又必须在哪些条件下才能执行？</a:t>
            </a:r>
          </a:p>
          <a:p xmlns:a="http://schemas.openxmlformats.org/drawingml/2006/main">
            <a:r>
              <a:t/>
            </a:r>
          </a:p>
          <a:p xmlns:a="http://schemas.openxmlformats.org/drawingml/2006/main">
            <a:r>
              <a:t>我们的原则是，不能为大模型开特权，也不能另开一条直达设备的旁路。它的控制请求必须进入与人和自动化流程相同的执行链路，接受相同的模型、状态与约束检查。</a:t>
            </a:r>
          </a:p>
          <a:p xmlns:a="http://schemas.openxmlformats.org/drawingml/2006/main">
            <a:r>
              <a:t/>
            </a:r>
          </a:p>
          <a:p xmlns:a="http://schemas.openxmlformats.org/drawingml/2006/main">
            <a:r>
              <a:t>那么，这套共同的执行链路应该是什么？这需要回到自动化最初要替代的过程，也就是人逐台操作设备的过程。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3 页 · 现有形态（约 1 分钟）</a:t>
            </a:r>
          </a:p>
          <a:p xmlns:a="http://schemas.openxmlformats.org/drawingml/2006/main">
            <a:r>
              <a:t/>
            </a:r>
          </a:p>
          <a:p xmlns:a="http://schemas.openxmlformats.org/drawingml/2006/main">
            <a:r>
              <a:t>自动化流程最初要替代的，是实验人员一台一台操作设备的过程。人会先观察状态，判断当前可以进行什么操作，再操作设备并检查反馈。</a:t>
            </a:r>
          </a:p>
          <a:p xmlns:a="http://schemas.openxmlformats.org/drawingml/2006/main">
            <a:r>
              <a:t/>
            </a:r>
          </a:p>
          <a:p xmlns:a="http://schemas.openxmlformats.org/drawingml/2006/main">
            <a:r>
              <a:t>已有系统可以编排任务，也可以用设备模型展示属性和状态。但在我们讨论的分离形态中，二者没有真正接到一起：流程通过驱动直接向设备发令，设备模型主要用于描述或观察。人的操作过程被自动化了，却还没有作为统一的可执行过程进入模型。</a:t>
            </a:r>
          </a:p>
          <a:p xmlns:a="http://schemas.openxmlformats.org/drawingml/2006/main">
            <a:r>
              <a:t/>
            </a:r>
          </a:p>
          <a:p xmlns:a="http://schemas.openxmlformats.org/drawingml/2006/main">
            <a:r>
              <a:t>因此，资源、状态、数据和约束可能分散在不同位置，难以沿同一条控制链路检查。我们要补齐的关系，是让抽象流程先作用于抽象设备模型，再由模型驱动物理设备。</a:t>
            </a:r>
          </a:p>
          <a:p xmlns:a="http://schemas.openxmlformats.org/drawingml/2006/main">
            <a:r>
              <a:t/>
            </a:r>
          </a:p>
          <a:p xmlns:a="http://schemas.openxmlformats.org/drawingml/2006/main">
            <a:r>
              <a:t>这里讨论的是一种结构性缺口，不将其泛化为所有现有系统。已有驱动、设备服务或工业状态机也可能位于控制路径上，本文关注的是任务层面如何统一组织与检查这条路径。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4 页 · 问题收束（约 40 秒）</a:t>
            </a:r>
          </a:p>
          <a:p xmlns:a="http://schemas.openxmlformats.org/drawingml/2006/main">
            <a:r>
              <a:t/>
            </a:r>
          </a:p>
          <a:p xmlns:a="http://schemas.openxmlformats.org/drawingml/2006/main">
            <a:r>
              <a:t>问题由此收束为：如何对人的设备操作过程进行可执行建模，让任务流程、人的操作和大模型提出的控制请求，都能沿同一条链路执行和检查？</a:t>
            </a:r>
          </a:p>
          <a:p xmlns:a="http://schemas.openxmlformats.org/drawingml/2006/main">
            <a:r>
              <a:t/>
            </a:r>
          </a:p>
          <a:p xmlns:a="http://schemas.openxmlformats.org/drawingml/2006/main">
            <a:r>
              <a:t>这里既要把能力与状态演化纳入设备模型，也要把资源组织、数据依赖和约束检查接到同一次任务执行中。请求来源可以不同，但都必须经过设备状态机，不能为其中任何一种来源设置旁路。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5 页 · 核心方法（约 2 分钟）</a:t>
            </a:r>
          </a:p>
          <a:p xmlns:a="http://schemas.openxmlformats.org/drawingml/2006/main">
            <a:r>
              <a:t/>
            </a:r>
          </a:p>
          <a:p xmlns:a="http://schemas.openxmlformats.org/drawingml/2006/main">
            <a:r>
              <a:t>为设备模型增加状态机后，模型同时包含设备能做什么，以及当前状态下允许怎样执行。流程先作用于这个由能力模型和状态机构成的设备模型，再由状态机把命令下发到 Adapter，最后由 Adapter 控制物理设备。反馈返回模型，更新设备状态与任务进度。</a:t>
            </a:r>
          </a:p>
          <a:p xmlns:a="http://schemas.openxmlformats.org/drawingml/2006/main">
            <a:r>
              <a:t/>
            </a:r>
          </a:p>
          <a:p xmlns:a="http://schemas.openxmlformats.org/drawingml/2006/main">
            <a:r>
              <a:t>这就是对人控制设备这一过程的建模。人观察状态并选择操作，对应模型中的能力与状态条件。实际发令由状态机负责，设备通信由 Adapter 负责，执行后再根据反馈更新状态。</a:t>
            </a:r>
          </a:p>
          <a:p xmlns:a="http://schemas.openxmlformats.org/drawingml/2006/main">
            <a:r>
              <a:t/>
            </a:r>
          </a:p>
          <a:p xmlns:a="http://schemas.openxmlformats.org/drawingml/2006/main">
            <a:r>
              <a:t>因此，无论意图来自工作流、人的操作，还是大模型，都需要转换为模型支持的控制请求，并通过同样的状态机和约束检查。大模型不能直接调用 Adapter 或物理设备。</a:t>
            </a:r>
          </a:p>
          <a:p xmlns:a="http://schemas.openxmlformats.org/drawingml/2006/main">
            <a:r>
              <a:t/>
            </a:r>
          </a:p>
          <a:p xmlns:a="http://schemas.openxmlformats.org/drawingml/2006/main">
            <a:r>
              <a:t>横向看，工作流显式组织多个任务步骤以及数据依赖。纵向看，每一步都必须沿这条设备执行链路运行。二者的结合，就是某个任务的执行切片。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6 页 · 对照（约 1 分钟）</a:t>
            </a:r>
          </a:p>
          <a:p xmlns:a="http://schemas.openxmlformats.org/drawingml/2006/main">
            <a:r>
              <a:t/>
            </a:r>
          </a:p>
          <a:p xmlns:a="http://schemas.openxmlformats.org/drawingml/2006/main">
            <a:r>
              <a:t>区别体现在实际发令路径上。在分离形态中，流程可以绕过模型直接调用设备驱动，设备模型主要展示信息。即使再增加一个大模型接口，这一缺口也仍然存在。</a:t>
            </a:r>
          </a:p>
          <a:p xmlns:a="http://schemas.openxmlformats.org/drawingml/2006/main">
            <a:r>
              <a:t/>
            </a:r>
          </a:p>
          <a:p xmlns:a="http://schemas.openxmlformats.org/drawingml/2006/main">
            <a:r>
              <a:t>在本文框架中，流程必须先调用设备模型定义的能力，由状态机根据当前状态处理执行请求，再经 Adapter 发令，反馈则更新模型和任务。人的操作和大模型提出的控制请求也遵守相同规则。</a:t>
            </a:r>
          </a:p>
          <a:p xmlns:a="http://schemas.openxmlformats.org/drawingml/2006/main">
            <a:r>
              <a:t/>
            </a:r>
          </a:p>
          <a:p xmlns:a="http://schemas.openxmlformats.org/drawingml/2006/main">
            <a:r>
              <a:t>能力映射回答调用哪台设备的哪项能力，状态机负责将这一请求接到实际执行路径上。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7 页 · 统一框架（约 50 秒）</a:t>
            </a:r>
          </a:p>
          <a:p xmlns:a="http://schemas.openxmlformats.org/drawingml/2006/main">
            <a:r>
              <a:t/>
            </a:r>
          </a:p>
          <a:p xmlns:a="http://schemas.openxmlformats.org/drawingml/2006/main">
            <a:r>
              <a:t>这条执行链路进一步组织为 L = ⟨R, F, C, Π⟩。</a:t>
            </a:r>
          </a:p>
          <a:p xmlns:a="http://schemas.openxmlformats.org/drawingml/2006/main">
            <a:r>
              <a:t>R 资源层把设备能力与状态机组织成可执行对象。F 工作流层表达任务步骤和数据依赖，并通过协议调用设备模型。C 约束层结合资源状态与任务上下文监督执行边界。Π 协议统一控制信号、数据端口与执行反馈。</a:t>
            </a:r>
          </a:p>
          <a:p xmlns:a="http://schemas.openxmlformats.org/drawingml/2006/main">
            <a:r>
              <a:t/>
            </a:r>
          </a:p>
          <a:p xmlns:a="http://schemas.openxmlformats.org/drawingml/2006/main">
            <a:r>
              <a:t>由此，模型、状态、流程和约束进入同一框架，资源组织、状态演化、数据传递和执行边界能够围绕同一次任务执行被观察和检查。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8 页 · 资源层（约 1 分钟）</a:t>
            </a:r>
          </a:p>
          <a:p xmlns:a="http://schemas.openxmlformats.org/drawingml/2006/main">
            <a:r>
              <a:t/>
            </a:r>
          </a:p>
          <a:p xmlns:a="http://schemas.openxmlformats.org/drawingml/2006/main">
            <a:r>
              <a:t>每台设备建成对象模型，由能力模型与状态机构成。能力模型描述属性、可用能力、适配器契约、数据端口与内禀约束，为执行请求提供明确语义。</a:t>
            </a:r>
          </a:p>
          <a:p xmlns:a="http://schemas.openxmlformats.org/drawingml/2006/main">
            <a:r>
              <a:t/>
            </a:r>
          </a:p>
          <a:p xmlns:a="http://schemas.openxmlformats.org/drawingml/2006/main">
            <a:r>
              <a:t>状态机接收执行信号，经 Adapter 下发命令并回收反馈，在内禀约束破坏时进入异常。由此，设备模型既描述能力，也参与实际控制过程。</a:t>
            </a:r>
          </a:p>
          <a:p xmlns:a="http://schemas.openxmlformats.org/drawingml/2006/main">
            <a:r>
              <a:t/>
            </a:r>
          </a:p>
          <a:p xmlns:a="http://schemas.openxmlformats.org/drawingml/2006/main">
            <a:r>
              <a:t>来自流程、人或大模型的控制请求，都必须经过设备状态机。调用来源改变，不改变设备的执行路径和允许边界。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9 页 · 工作流层与触发器（约 1 分钟）</a:t>
            </a:r>
          </a:p>
          <a:p xmlns:a="http://schemas.openxmlformats.org/drawingml/2006/main">
            <a:r>
              <a:t/>
            </a:r>
          </a:p>
          <a:p xmlns:a="http://schemas.openxmlformats.org/drawingml/2006/main">
            <a:r>
              <a:t>工作流层通过接口传递控制信号，通过端口传递实验数据。工作流节点使用约定接口与设备状态机交互，不直接调用设备驱动。</a:t>
            </a:r>
          </a:p>
          <a:p xmlns:a="http://schemas.openxmlformats.org/drawingml/2006/main">
            <a:r>
              <a:t/>
            </a:r>
          </a:p>
          <a:p xmlns:a="http://schemas.openxmlformats.org/drawingml/2006/main">
            <a:r>
              <a:t>每个执行节点绑定设备的一项能力，功能节点处理分支、同步和等待，由此组织任务步骤及数据依赖。节点生命周期反映任务进度，设备状态机管理设备自身状态，二者通过信号和反馈关联。</a:t>
            </a:r>
          </a:p>
          <a:p xmlns:a="http://schemas.openxmlformats.org/drawingml/2006/main">
            <a:r>
              <a:t/>
            </a:r>
          </a:p>
          <a:p xmlns:a="http://schemas.openxmlformats.org/drawingml/2006/main">
            <a:r>
              <a:t>节点触发器在条件满足时执行动作，使条件分支接入统一执行链路。它补充了工作流的条件化执行能力，所有设备操作仍遵守同一条执行路径。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10 页 · 约束层（约 40 秒）</a:t>
            </a:r>
          </a:p>
          <a:p xmlns:a="http://schemas.openxmlformats.org/drawingml/2006/main">
            <a:r>
              <a:t/>
            </a:r>
          </a:p>
          <a:p xmlns:a="http://schemas.openxmlformats.org/drawingml/2006/main">
            <a:r>
              <a:t>约束分三层。内禀约束由状态机本地处理，实验室基线约束持续生效，任务约束在任务执行期间生效。</a:t>
            </a:r>
          </a:p>
          <a:p xmlns:a="http://schemas.openxmlformats.org/drawingml/2006/main">
            <a:r>
              <a:t/>
            </a:r>
          </a:p>
          <a:p xmlns:a="http://schemas.openxmlformats.org/drawingml/2006/main">
            <a:r>
              <a:t>约束的观察空间同时来自资源侧与工作流侧，处理方式包括警告、报警、停止和中止。约束与执行链路共同构成框架，来自不同意图来源的请求都必须遵守这些执行边界。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11 页 · 实现案例（1.5 分钟）</a:t>
            </a:r>
          </a:p>
          <a:p xmlns:a="http://schemas.openxmlformats.org/drawingml/2006/main"/>
          <a:p xmlns:a="http://schemas.openxmlformats.org/drawingml/2006/main">
            <a:r>
              <a:t>以反应釜加热为例，目的是说明链路可实例化、可执行，不是性能对比。</a:t>
            </a:r>
          </a:p>
          <a:p xmlns:a="http://schemas.openxmlformats.org/drawingml/2006/main"/>
          <a:p xmlns:a="http://schemas.openxmlformats.org/drawingml/2006/main">
            <a:r>
              <a:t>加热节点发出执行信号 → 反应釜状态机 → 适配器加热 → 温度与状态回传 → 节点完成并激活后续。</a:t>
            </a:r>
          </a:p>
          <a:p xmlns:a="http://schemas.openxmlformats.org/drawingml/2006/main">
            <a:r>
              <a:t>约束可在任务温度越界或设备异常时介入。</a:t>
            </a:r>
          </a:p>
          <a:p xmlns:a="http://schemas.openxmlformats.org/drawingml/2006/main"/>
          <a:p xmlns:a="http://schemas.openxmlformats.org/drawingml/2006/main">
            <a:r>
              <a:t>原型 SmartLab 2.0 中：工作流引擎经接口到状态机引擎，再经 MQTT 适配器到设备。</a:t>
            </a:r>
          </a:p>
          <a:p xmlns:a="http://schemas.openxmlformats.org/drawingml/2006/main">
            <a:r>
              <a:t>语义在模型与引擎中；适配器做协议翻译，不承担旁路模型的总控。</a:t>
            </a:r>
          </a:p>
          <a:p xmlns:a="http://schemas.openxmlformats.org/drawingml/2006/main"/>
          <a:p xmlns:a="http://schemas.openxmlformats.org/drawingml/2006/main"/>
          <a:p xmlns:a="http://schemas.openxmlformats.org/drawingml/2006/main">
            <a:r>
              <a:t>SmartLab 2.0 </a:t>
            </a:r>
            <a:r>
              <a:t>是一套面向智能化学/材料实验室、自动化合成与仪器装备联动的任务导向型可执行建模与闭环控制系统（</a:t>
            </a:r>
            <a:r>
              <a:t>A Task-Oriented Executable Modeling Framework for Smart Chemical Laboratory）。 </a:t>
            </a:r>
            <a:r>
              <a:t>它致力于解决实验自动化领域的经典痛点：底层硬件协议异构分散、实验工艺配方动态多变、人工干预高危易错、多设备时序并发控制缺乏统一规范、实验安全缺乏软实时联锁防护。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12 页 · 贡献、边界与展望（约 1 分钟）</a:t>
            </a:r>
          </a:p>
          <a:p xmlns:a="http://schemas.openxmlformats.org/drawingml/2006/main">
            <a:r>
              <a:t/>
            </a:r>
          </a:p>
          <a:p xmlns:a="http://schemas.openxmlformats.org/drawingml/2006/main">
            <a:r>
              <a:t>我们的工作是对人的设备操作过程进行可执行建模，使工作流先作用于设备模型，由状态机经 Adapter 控制设备。在统一框架中组织模型、状态、流程与约束，也就为不同控制意图遵守相同的执行边界提供了基础。</a:t>
            </a:r>
          </a:p>
          <a:p xmlns:a="http://schemas.openxmlformats.org/drawingml/2006/main">
            <a:r>
              <a:t/>
            </a:r>
          </a:p>
          <a:p xmlns:a="http://schemas.openxmlformats.org/drawingml/2006/main">
            <a:r>
              <a:t>原型与反应釜加热案例用于说明这条链路可以实例化并执行。当前验证仍属于示意层面，尚缺大规模、高并发和长时程评估。</a:t>
            </a:r>
          </a:p>
          <a:p xmlns:a="http://schemas.openxmlformats.org/drawingml/2006/main">
            <a:r>
              <a:t/>
            </a:r>
          </a:p>
          <a:p xmlns:a="http://schemas.openxmlformats.org/drawingml/2006/main">
            <a:r>
              <a:t>仿真 Adapter 与大模型反馈调整闭环属于进一步扩展方向。下面说明统一链路为何能够支持这种扩展。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13 页 · 仿真闭环与上机条件（约 1 分钟）</a:t>
            </a:r>
          </a:p>
          <a:p xmlns:a="http://schemas.openxmlformats.org/drawingml/2006/main">
            <a:r>
              <a:t/>
            </a:r>
          </a:p>
          <a:p xmlns:a="http://schemas.openxmlformats.org/drawingml/2006/main">
            <a:r>
              <a:t>如果在 Adapter 层区分仿真执行与实机执行，上层流程就可以在同一套模型和执行规则下接入不同执行环境。仿真 Adapter 返回模拟状态与数据，实机 Adapter 返回真实设备反馈。</a:t>
            </a:r>
          </a:p>
          <a:p xmlns:a="http://schemas.openxmlformats.org/drawingml/2006/main">
            <a:r>
              <a:t/>
            </a:r>
          </a:p>
          <a:p xmlns:a="http://schemas.openxmlformats.org/drawingml/2006/main">
            <a:r>
              <a:t>由此可以形成闭环：大模型根据目标作出决策，提出控制请求，请求进入统一执行链路，由仿真 Adapter 执行。模拟反馈返回后，大模型调整方案并再次决策和仿真。这里所说的大模型控制，是提出受模型约束的控制请求，不是直接访问 Adapter 或设备。</a:t>
            </a:r>
          </a:p>
          <a:p xmlns:a="http://schemas.openxmlformats.org/drawingml/2006/main">
            <a:r>
              <a:t/>
            </a:r>
          </a:p>
          <a:p xmlns:a="http://schemas.openxmlformats.org/drawingml/2006/main">
            <a:r>
              <a:t>当仿真结果满足目标，并通过约束检查与预设的上机准入条件后，再进入实机执行。上机后也沿用相同的状态机和约束检查。上机准入条件需要结合具体实验定义，不由大模型自行授予执行权限。</a:t>
            </a:r>
          </a:p>
          <a:p xmlns:a="http://schemas.openxmlformats.org/drawingml/2006/main">
            <a:r>
              <a:t/>
            </a:r>
          </a:p>
          <a:p xmlns:a="http://schemas.openxmlformats.org/drawingml/2006/main">
            <a:r>
              <a:t>这一闭环属于框架扩展方向。统一链路可以限制已建模能力和状态范围内的执行行为，仿真结果与实机行为的一致性仍需要验证。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14 页 · 总结（约 30 秒）</a:t>
            </a:r>
          </a:p>
          <a:p xmlns:a="http://schemas.openxmlformats.org/drawingml/2006/main">
            <a:r>
              <a:t/>
            </a:r>
          </a:p>
          <a:p xmlns:a="http://schemas.openxmlformats.org/drawingml/2006/main">
            <a:r>
              <a:t>大模型参与决策，使设备执行的能力边界变得更加重要。我们从人的设备操作过程出发，为设备模型增加状态机，让流程通过模型控制设备，并把模型、状态、流程和约束放入同一框架。</a:t>
            </a:r>
          </a:p>
          <a:p xmlns:a="http://schemas.openxmlformats.org/drawingml/2006/main">
            <a:r>
              <a:t/>
            </a:r>
          </a:p>
          <a:p xmlns:a="http://schemas.openxmlformats.org/drawingml/2006/main">
            <a:r>
              <a:t>因此，无论控制意图来自流程、人还是大模型，都共用同一条执行链路，没有特权旁路。在此基础上，可以进一步扩展仿真反馈闭环，满足预设条件后再进入实机执行。</a:t>
            </a:r>
          </a:p>
          <a:p xmlns:a="http://schemas.openxmlformats.org/drawingml/2006/main">
            <a:r>
              <a:t/>
            </a:r>
          </a:p>
          <a:p xmlns:a="http://schemas.openxmlformats.org/drawingml/2006/main">
            <a:r>
              <a:t>谢谢各位，欢迎提问。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备用短答</a:t>
            </a:r>
          </a:p>
          <a:p xmlns:a="http://schemas.openxmlformats.org/drawingml/2006/main">
            <a:r>
              <a:t/>
            </a:r>
          </a:p>
          <a:p xmlns:a="http://schemas.openxmlformats.org/drawingml/2006/main">
            <a:r>
              <a:t>与物模型加流程图的区别：设备模型与状态机位于发令必经之路，工作流不能旁路。</a:t>
            </a:r>
          </a:p>
          <a:p xmlns:a="http://schemas.openxmlformats.org/drawingml/2006/main">
            <a:r>
              <a:t/>
            </a:r>
          </a:p>
          <a:p xmlns:a="http://schemas.openxmlformats.org/drawingml/2006/main">
            <a:r>
              <a:t>现有路径已经有驱动或状态机：本文不声称首次将模型或状态机用于控制，本文关注任务级链路，以及流程必须经设备模型和状态机执行的统一关系。</a:t>
            </a:r>
          </a:p>
          <a:p xmlns:a="http://schemas.openxmlformats.org/drawingml/2006/main">
            <a:r>
              <a:t/>
            </a:r>
          </a:p>
          <a:p xmlns:a="http://schemas.openxmlformats.org/drawingml/2006/main">
            <a:r>
              <a:t>大模型在本文中的位置：大模型参与决策并提出控制请求，是提出执行边界问题的背景。本文核心贡献是统一执行框架，不是新的大模型算法。</a:t>
            </a:r>
          </a:p>
          <a:p xmlns:a="http://schemas.openxmlformats.org/drawingml/2006/main">
            <a:r>
              <a:t/>
            </a:r>
          </a:p>
          <a:p xmlns:a="http://schemas.openxmlformats.org/drawingml/2006/main">
            <a:r>
              <a:t>能力边界指什么：设备可用能力、参数条件、当前状态允许的操作以及任务和实验室约束。统一链路要求这些检查不能被绕过，不能据此声称大模型判断本身总是正确。</a:t>
            </a:r>
          </a:p>
          <a:p xmlns:a="http://schemas.openxmlformats.org/drawingml/2006/main">
            <a:r>
              <a:t/>
            </a:r>
          </a:p>
          <a:p xmlns:a="http://schemas.openxmlformats.org/drawingml/2006/main">
            <a:r>
              <a:t>仿真闭环是否已经完成：原稿将仿真列为展望，因此闭环保留为框架扩展方向。当前证据为原型和加热示意案例。</a:t>
            </a:r>
          </a:p>
          <a:p xmlns:a="http://schemas.openxmlformats.org/drawingml/2006/main">
            <a:r>
              <a:t/>
            </a:r>
          </a:p>
          <a:p xmlns:a="http://schemas.openxmlformats.org/drawingml/2006/main">
            <a:r>
              <a:t>什么时候上机：依据具体实验预设准入条件，结合仿真结果和约束检查作出执行决定。切换实机不能改变上层控制边界。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6304ccd43647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934fa8c05f47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27f7663d8342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aeb7c308a64b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b6f03d676845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3eaf21368f437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f140e6c19104c9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81ad639b24e477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ef93460effc481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696d4d2d4f7454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1409ad3f8954fe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89DC85-54F5-4264-8AA5-ABE2BEACE35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9024B2CF-0C91-4B1A-B97A-0CC6018F683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BE78BEE-BC3B-4897-ACB8-CFC63AB315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E39967F8-2A92-4480-8CDA-C55843F331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1DD52F7-86F4-4DD3-A691-267C2B81AF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7E5EC0-8780-4109-9108-856D8C3DBD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D3E7247-3CE2-40CE-BF8E-08E8C9AD6A6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56B25F1-EA49-41A9-B684-C16A359EB2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ED8E4320-B3AD-441E-BBB7-6628A66F2D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832057-6783-4296-9C0C-BD3B75AA01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FD48A6-F7AE-489F-8CDD-48CBB3E65A1E}"/>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E9F6350-A668-48E3-BE9D-F70A8F65D296}"/>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endParaRPr/>
          </a:p>
        </p:txBody>
      </p:sp>
      <p:sp>
        <p:nvSpPr>
          <p:cNvPr id="4" name="Date Placeholder 3">
            <a:extLst xmlns:a="http://schemas.openxmlformats.org/drawingml/2006/main">
              <a:ext uri="{FF2B5EF4-FFF2-40B4-BE49-F238E27FC236}">
                <a16:creationId xmlns:a16="http://schemas.microsoft.com/office/drawing/2014/main" id="{57CE4BBE-EB84-4807-80A1-400096F096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01E677CD-B8E8-4609-85A3-441897DC51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98AEF26-A2A8-4C26-B881-151E6AB2B9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F57711-D861-4167-826E-1C699DB5BDB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8877F64-A2CA-47A8-925F-0414F58A6AD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1A13105-8F19-43FF-BC40-D6B127493B7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5542793-A3B0-48C3-935B-214D9CF1DC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8BBDC7C5-24A7-4E55-8B8B-1122F6DF5B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8C7EEDA-57E2-4BFC-AABF-864060C668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17BC59-4ECF-4B7D-B29C-02D7A36D57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C3D0D23-F9EF-4A9C-9815-8A03DD88996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4" name="Content Placeholder 3">
            <a:extLst xmlns:a="http://schemas.openxmlformats.org/drawingml/2006/main">
              <a:ext uri="{FF2B5EF4-FFF2-40B4-BE49-F238E27FC236}">
                <a16:creationId xmlns:a16="http://schemas.microsoft.com/office/drawing/2014/main" id="{3E237916-E258-4387-8EA3-F69F14BC04D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C87D74C-3168-4541-8807-92F3DE2CC86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6" name="Content Placeholder 5">
            <a:extLst xmlns:a="http://schemas.openxmlformats.org/drawingml/2006/main">
              <a:ext uri="{FF2B5EF4-FFF2-40B4-BE49-F238E27FC236}">
                <a16:creationId xmlns:a16="http://schemas.microsoft.com/office/drawing/2014/main" id="{76441DF1-579F-4C84-BB98-4534A167D6B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C447C8B-3B0E-41D2-88FD-90B37EE317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2FCE6D9C-A3AA-405E-897D-0BB9D664FD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3FBF5E5-704F-452F-809E-B84DA758FE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89E4369-F598-4E50-937D-FF0133C735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9BFD23B-2EC1-4819-99D4-527B79E01C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295A2CF0-A4C6-4995-8038-4C1F84E2FE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E87972B-BAC0-426E-B5FC-DFBA81F220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A485BCE-C3BD-4312-909B-D8DA72E9D0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1DB3FD05-5462-42C6-9E2E-856EA1FA6D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2568220-1FB3-48D3-B54D-D4C021FB50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5165B9-F882-4E8A-9B85-68433535E10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C1B3653-63CE-4E67-A908-F195C2FD25A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67E8D05-E91E-4E5F-8112-4F3D45873DC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B273C5D9-6D87-4395-98A6-873424B0DC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BC490EFB-AD64-4F37-9C16-342BB5B822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04AB5C9-AFA5-4894-AE70-5ADC1E8407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5AEC2D-5ADC-4674-B9D5-1E730FDE7E8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670C9F9-4433-4E98-9675-BDACFCE0071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968B74B-892B-444B-9366-02D4553138F4}"/>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7167B799-E31D-4F2E-A98E-C543C1F80E3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E610BC3E-3EC2-4F13-85E8-B7713C38AE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2D4C378-9535-4637-9537-083270BF82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8D4D2C-1F36-438F-B5D7-5C01DD51BD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BB40A84-02BB-464E-BE83-68596CEA1F3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D9442A3-17D4-4A74-9C7C-9F68561DC8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11DB02E6-6893-454A-99EA-0707FB2821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F0B1FDF-EF83-4A01-8A9B-EE1DE45BA2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75978D0-1441-4863-9E69-110EF57F598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E9D69BB-D056-43F8-8152-AD90AFDFB83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D6F5B8D-CB17-4F42-81C4-6C1CBD7C30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8C2C652-BD55-45A5-BB10-87D5B91274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BCF60E3-53D1-4AD3-8FF7-A96CA6E4E6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799659f30d4ca4" /><Relationship Type="http://schemas.openxmlformats.org/officeDocument/2006/relationships/slideLayout" Target="/ppt/slideLayouts/slideLayout1.xml" Id="Rf87611a37cd841f6" /><Relationship Type="http://schemas.openxmlformats.org/officeDocument/2006/relationships/slideLayout" Target="/ppt/slideLayouts/slideLayout2.xml" Id="R2f03597a8a534b20" /><Relationship Type="http://schemas.openxmlformats.org/officeDocument/2006/relationships/slideLayout" Target="/ppt/slideLayouts/slideLayout3.xml" Id="R9ec251e25e5c4418" /><Relationship Type="http://schemas.openxmlformats.org/officeDocument/2006/relationships/slideLayout" Target="/ppt/slideLayouts/slideLayout4.xml" Id="R2af35e5e310740be" /><Relationship Type="http://schemas.openxmlformats.org/officeDocument/2006/relationships/slideLayout" Target="/ppt/slideLayouts/slideLayout5.xml" Id="R5dc0506c73f64787" /><Relationship Type="http://schemas.openxmlformats.org/officeDocument/2006/relationships/slideLayout" Target="/ppt/slideLayouts/slideLayout6.xml" Id="R06170ba2ca4b4bbb" /><Relationship Type="http://schemas.openxmlformats.org/officeDocument/2006/relationships/slideLayout" Target="/ppt/slideLayouts/slideLayout7.xml" Id="R46bde3ec0b1945d9" /><Relationship Type="http://schemas.openxmlformats.org/officeDocument/2006/relationships/slideLayout" Target="/ppt/slideLayouts/slideLayout8.xml" Id="R04197452da414612" /><Relationship Type="http://schemas.openxmlformats.org/officeDocument/2006/relationships/slideLayout" Target="/ppt/slideLayouts/slideLayout9.xml" Id="R5e921ee2fcb04848" /><Relationship Type="http://schemas.openxmlformats.org/officeDocument/2006/relationships/slideLayout" Target="/ppt/slideLayouts/slideLayout10.xml" Id="Rab756dbad8964d68" /><Relationship Type="http://schemas.openxmlformats.org/officeDocument/2006/relationships/slideLayout" Target="/ppt/slideLayouts/slideLayout11.xml" Id="R30ac8d5065dc482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28C0D63-CA9F-404A-B534-B682079DA15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EC15D1C-DAAD-4762-9173-03B9AC3FD45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755B65E-F81D-43DB-AF87-01C39EE5D40C}"/>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57E08882-3239-4C53-B5B9-C39E631AB8C1}"/>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E203BF4-0881-41BE-8239-6E0D55CCA838}"/>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7611a37cd841f6"/>
    <p:sldLayoutId xmlns:r="http://schemas.openxmlformats.org/officeDocument/2006/relationships" id="2147483650" r:id="R2f03597a8a534b20"/>
    <p:sldLayoutId xmlns:r="http://schemas.openxmlformats.org/officeDocument/2006/relationships" id="2147483651" r:id="R9ec251e25e5c4418"/>
    <p:sldLayoutId xmlns:r="http://schemas.openxmlformats.org/officeDocument/2006/relationships" id="2147483652" r:id="R2af35e5e310740be"/>
    <p:sldLayoutId xmlns:r="http://schemas.openxmlformats.org/officeDocument/2006/relationships" id="2147483653" r:id="R5dc0506c73f64787"/>
    <p:sldLayoutId xmlns:r="http://schemas.openxmlformats.org/officeDocument/2006/relationships" id="2147483654" r:id="R06170ba2ca4b4bbb"/>
    <p:sldLayoutId xmlns:r="http://schemas.openxmlformats.org/officeDocument/2006/relationships" id="2147483655" r:id="R46bde3ec0b1945d9"/>
    <p:sldLayoutId xmlns:r="http://schemas.openxmlformats.org/officeDocument/2006/relationships" id="2147483656" r:id="R04197452da414612"/>
    <p:sldLayoutId xmlns:r="http://schemas.openxmlformats.org/officeDocument/2006/relationships" id="2147483657" r:id="R5e921ee2fcb04848"/>
    <p:sldLayoutId xmlns:r="http://schemas.openxmlformats.org/officeDocument/2006/relationships" id="2147483658" r:id="Rab756dbad8964d68"/>
    <p:sldLayoutId xmlns:r="http://schemas.openxmlformats.org/officeDocument/2006/relationships" id="2147483659" r:id="R30ac8d5065dc482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bd09260e2bc4f18" /><Relationship Type="http://schemas.openxmlformats.org/officeDocument/2006/relationships/notesSlide" Target="/ppt/notesSlides/notesSlide1.xml" Id="R28ce786cb75e41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519818f686ea4fc2" /><Relationship Type="http://schemas.openxmlformats.org/officeDocument/2006/relationships/notesSlide" Target="/ppt/notesSlides/notesSlide2.xml" Id="R35f67241c98e45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028689c98efc4ea5" /><Relationship Type="http://schemas.openxmlformats.org/officeDocument/2006/relationships/notesSlide" Target="/ppt/notesSlides/notesSlide3.xml" Id="Re31af30f96574a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9abc869b91c489f" /><Relationship Type="http://schemas.openxmlformats.org/officeDocument/2006/relationships/notesSlide" Target="/ppt/notesSlides/notesSlide4.xml" Id="Re51b9b9d810241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4e382f35d2a4300" /><Relationship Type="http://schemas.openxmlformats.org/officeDocument/2006/relationships/notesSlide" Target="/ppt/notesSlides/notesSlide5.xml" Id="Rc5175f03813c46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5efe50add51f4b2f" /><Relationship Type="http://schemas.openxmlformats.org/officeDocument/2006/relationships/image" Target="/ppt/media/image.png" Id="R734fb8ada54d4bf8" /><Relationship Type="http://schemas.openxmlformats.org/officeDocument/2006/relationships/notesSlide" Target="/ppt/notesSlides/notesSlide6.xml" Id="R78df3029002245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e8d3841eeb8f425a" /><Relationship Type="http://schemas.openxmlformats.org/officeDocument/2006/relationships/notesSlide" Target="/ppt/notesSlides/notesSlide7.xml" Id="Re9ae69c500aa46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03d6ab7757d4974" /><Relationship Type="http://schemas.openxmlformats.org/officeDocument/2006/relationships/notesSlide" Target="/ppt/notesSlides/notesSlide8.xml" Id="R1c50c639401a4e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36fae7b8bef94ed5" /><Relationship Type="http://schemas.openxmlformats.org/officeDocument/2006/relationships/notesSlide" Target="/ppt/notesSlides/notesSlide9.xml" Id="R4a27ff5c508d42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af59eca130a64ec6" /><Relationship Type="http://schemas.openxmlformats.org/officeDocument/2006/relationships/notesSlide" Target="/ppt/notesSlides/notesSlide10.xml" Id="Rae3b738286e34f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a0f804931e8647ca" /><Relationship Type="http://schemas.openxmlformats.org/officeDocument/2006/relationships/notesSlide" Target="/ppt/notesSlides/notesSlide11.xml" Id="Ra52b5df8dc2441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1d15af9128ac4978" /><Relationship Type="http://schemas.openxmlformats.org/officeDocument/2006/relationships/notesSlide" Target="/ppt/notesSlides/notesSlide12.xml" Id="R5e9857d042d240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1472bd2515e74c02" /><Relationship Type="http://schemas.openxmlformats.org/officeDocument/2006/relationships/notesSlide" Target="/ppt/notesSlides/notesSlide13.xml" Id="R3ef7fbdb5c944e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05147663891c42df" /><Relationship Type="http://schemas.openxmlformats.org/officeDocument/2006/relationships/notesSlide" Target="/ppt/notesSlides/notesSlide14.xml" Id="R8e4b65d0123e49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8dc13f53af314a41" /><Relationship Type="http://schemas.openxmlformats.org/officeDocument/2006/relationships/notesSlide" Target="/ppt/notesSlides/notesSlide15.xml" Id="Rdae002ac00224f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56f36b43c89f4621" /><Relationship Type="http://schemas.openxmlformats.org/officeDocument/2006/relationships/notesSlide" Target="/ppt/notesSlides/notesSlide16.xml" Id="R7d793c1968484be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C8D0283-46CC-4865-85BD-F69594B7C67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B87B968C-3390-4FC4-9F93-F7A4B569C536}"/>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67AB767-6D28-4088-A11B-2DFEFDE75EF8}"/>
              </a:ext>
            </a:extLst>
          </p:cNvPr>
          <p:cNvSpPr>
            <a:spLocks xmlns:a="http://schemas.openxmlformats.org/drawingml/2006/main" noGrp="1"/>
          </p:cNvSpPr>
          <p:nvPr/>
        </p:nvSpPr>
        <p:spPr>
          <a:xfrm xmlns:a="http://schemas.openxmlformats.org/drawingml/2006/main">
            <a:off x="731520" y="1828800"/>
            <a:ext cx="10515600" cy="1371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rgbClr val="FFFFFF"/>
                </a:solidFill>
                <a:latin typeface="微软雅黑"/>
                <a:ea typeface="微软雅黑"/>
                <a:cs typeface="微软雅黑"/>
              </a:rPr>
              <a:t>面向智慧化学实验室的任务导向可执行建模框架</a:t>
            </a:r>
            <a:endParaRPr sz="3200" b="1">
              <a:solidFill>
                <a:srgbClr val="FFFFFF"/>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EE6640F5-7D8A-4CD8-87CC-97BCBBDAF996}"/>
              </a:ext>
            </a:extLst>
          </p:cNvPr>
          <p:cNvSpPr>
            <a:spLocks xmlns:a="http://schemas.openxmlformats.org/drawingml/2006/main" noGrp="1"/>
          </p:cNvSpPr>
          <p:nvPr/>
        </p:nvSpPr>
        <p:spPr>
          <a:xfrm xmlns:a="http://schemas.openxmlformats.org/drawingml/2006/main">
            <a:off x="731520" y="3383280"/>
            <a:ext cx="10515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0">
                <a:solidFill>
                  <a:srgbClr val="B8D0E8"/>
                </a:solidFill>
                <a:latin typeface="微软雅黑"/>
                <a:ea typeface="微软雅黑"/>
                <a:cs typeface="微软雅黑"/>
              </a:rPr>
              <a:t>A Task-Oriented Executable Modeling Framework for Smart Chemical Laboratories</a:t>
            </a:r>
            <a:endParaRPr sz="1600" b="0">
              <a:solidFill>
                <a:srgbClr val="B8D0E8"/>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E5DF2A41-1F00-4791-AA10-43E22F1B9243}"/>
              </a:ext>
            </a:extLst>
          </p:cNvPr>
          <p:cNvSpPr>
            <a:spLocks xmlns:a="http://schemas.openxmlformats.org/drawingml/2006/main" noGrp="1"/>
          </p:cNvSpPr>
          <p:nvPr/>
        </p:nvSpPr>
        <p:spPr>
          <a:xfrm xmlns:a="http://schemas.openxmlformats.org/drawingml/2006/main">
            <a:off x="731520" y="4206240"/>
            <a:ext cx="105156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b="0">
                <a:solidFill>
                  <a:srgbClr val="FFFFFF"/>
                </a:solidFill>
                <a:latin typeface="微软雅黑"/>
                <a:ea typeface="微软雅黑"/>
                <a:cs typeface="微软雅黑"/>
              </a:rPr>
              <a:t>报告人：于涛（北京信息科技大学）　　通讯作者：</a:t>
            </a:r>
            <a:r>
              <a:rPr sz="1800" b="0">
                <a:solidFill>
                  <a:srgbClr val="FFFFFF"/>
                </a:solidFill>
                <a:latin typeface="微软雅黑"/>
                <a:ea typeface="微软雅黑"/>
                <a:cs typeface="微软雅黑"/>
              </a:rPr>
              <a:t>赵淳</a:t>
            </a:r>
            <a:endParaRPr sz="1800" b="0">
              <a:solidFill>
                <a:srgbClr val="FFFFFF"/>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DE08879E-6C1A-4C5F-8A94-956EF1B129A1}"/>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0">
                <a:solidFill>
                  <a:srgbClr val="B8D0E8"/>
                </a:solidFill>
                <a:latin typeface="微软雅黑"/>
                <a:ea typeface="微软雅黑"/>
                <a:cs typeface="微软雅黑"/>
              </a:rPr>
              <a:t>EUROSIM 2026  ·  Genova, Italy</a:t>
            </a:r>
            <a:endParaRPr sz="1600" b="0">
              <a:solidFill>
                <a:srgbClr val="B8D0E8"/>
              </a:solidFill>
              <a:latin typeface="微软雅黑"/>
              <a:ea typeface="微软雅黑"/>
              <a:cs typeface="微软雅黑"/>
            </a:endParaRPr>
          </a:p>
        </p:txBody>
      </p:sp>
    </p:spTree>
    <p:extLst>
      <p:ext uri="{BB962C8B-B14F-4D97-AF65-F5344CB8AC3E}">
        <p14:creationId xmlns:p14="http://schemas.microsoft.com/office/powerpoint/2010/main" val="7665611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C6A048-DF1E-4678-BD75-14DF1393AAE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2C5C94B-88A9-4BC6-A7A1-37135C66AD99}"/>
              </a:ext>
            </a:extLst>
          </p:cNvPr>
          <p:cNvSpPr>
            <a:spLocks xmlns:a="http://schemas.openxmlformats.org/drawingml/2006/main" noGrp="1"/>
          </p:cNvSpPr>
          <p:nvPr/>
        </p:nvSpPr>
        <p:spPr>
          <a:xfrm xmlns:a="http://schemas.openxmlformats.org/drawingml/2006/main">
            <a:off x="457200" y="228600"/>
            <a:ext cx="11247120" cy="4914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  </a:t>
            </a:r>
            <a:r>
              <a:rPr sz="2600" b="1">
                <a:solidFill>
                  <a:srgbClr val="FFFFFF"/>
                </a:solidFill>
                <a:latin typeface="微软雅黑"/>
                <a:ea typeface="微软雅黑"/>
                <a:cs typeface="微软雅黑"/>
              </a:rPr>
              <a:t>目录</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6687B281-3960-4056-9148-115ACFB409EA}"/>
              </a:ext>
            </a:extLst>
          </p:cNvPr>
          <p:cNvSpPr>
            <a:spLocks xmlns:a="http://schemas.openxmlformats.org/drawingml/2006/main" noGrp="1"/>
          </p:cNvSpPr>
          <p:nvPr/>
        </p:nvSpPr>
        <p:spPr>
          <a:xfrm xmlns:a="http://schemas.openxmlformats.org/drawingml/2006/main">
            <a:off x="731520" y="1280160"/>
            <a:ext cx="105156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400"/>
              </a:spcAft>
              <a:buNone/>
            </a:pPr>
            <a:r>
              <a:rPr sz="2200" b="0">
                <a:solidFill>
                  <a:srgbClr val="2D2D2D"/>
                </a:solidFill>
                <a:latin typeface="微软雅黑"/>
                <a:ea typeface="微软雅黑"/>
                <a:cs typeface="微软雅黑"/>
              </a:rPr>
              <a:t>• 问题与现有工作</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核心方法</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实现与案例</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贡献、边界与展望</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总结</a:t>
            </a:r>
            <a:endParaRPr sz="2200" b="0">
              <a:solidFill>
                <a:srgbClr val="2D2D2D"/>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4BE43546-3A5B-4C17-A4BC-D6E190F1B541}"/>
              </a:ext>
            </a:extLst>
          </p:cNvPr>
          <p:cNvSpPr>
            <a:spLocks xmlns:a="http://schemas.openxmlformats.org/drawingml/2006/main" noGrp="1"/>
          </p:cNvSpPr>
          <p:nvPr/>
        </p:nvSpPr>
        <p:spPr>
          <a:xfrm xmlns:a="http://schemas.openxmlformats.org/drawingml/2006/main">
            <a:off x="731520" y="5029200"/>
            <a:ext cx="10515600" cy="583565"/>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主线：将人的设备操作过程建模，让流程、人和大模型共用受约束的执行链路。</a:t>
            </a:r>
          </a:p>
        </p:txBody>
      </p:sp>
      <p:sp>
        <p:nvSpPr>
          <p:cNvPr id="6" name="TextBox 5">
            <a:extLst xmlns:a="http://schemas.openxmlformats.org/drawingml/2006/main">
              <a:ext uri="{FF2B5EF4-FFF2-40B4-BE49-F238E27FC236}">
                <a16:creationId xmlns:a16="http://schemas.microsoft.com/office/drawing/2014/main" id="{A3990B9D-1DBD-479C-AB7B-A7B40BA1E60A}"/>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344AD840-496B-4114-AE14-4B0951DFFB39}"/>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65311739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359544A-4150-4003-91A4-7B5981B66464}"/>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0A0AB52-1B8A-445B-950F-E53A7DCB5E6E}"/>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2  背景问题：大模型参与后的执行边界</a:t>
            </a:r>
          </a:p>
        </p:txBody>
      </p:sp>
      <p:sp>
        <p:nvSpPr>
          <p:cNvPr id="4" name="TextBox 3">
            <a:extLst xmlns:a="http://schemas.openxmlformats.org/drawingml/2006/main">
              <a:ext uri="{FF2B5EF4-FFF2-40B4-BE49-F238E27FC236}">
                <a16:creationId xmlns:a16="http://schemas.microsoft.com/office/drawing/2014/main" id="{5263D468-DC68-425C-8E37-ECA8C56EDC75}"/>
              </a:ext>
            </a:extLst>
          </p:cNvPr>
          <p:cNvSpPr>
            <a:spLocks xmlns:a="http://schemas.openxmlformats.org/drawingml/2006/main" noGrp="1"/>
          </p:cNvSpPr>
          <p:nvPr/>
        </p:nvSpPr>
        <p:spPr>
          <a:xfrm xmlns:a="http://schemas.openxmlformats.org/drawingml/2006/main">
            <a:off x="731520" y="1238250"/>
            <a:ext cx="10725150" cy="46101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随着大模型发展，智慧化学实验室开始由自动执行任务流程，走向大模型参与决策与流程控制。</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一次任务执行始终需要说清四件事：</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资源如何组织　　设备状态如何演化</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数据如何传递　　执行是否落在允许边界内</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1">
                <a:solidFill>
                  <a:srgbClr val="1C3C5D"/>
                </a:solidFill>
                <a:latin typeface="微软雅黑"/>
                <a:ea typeface="微软雅黑"/>
                <a:cs typeface="微软雅黑"/>
              </a:rPr>
              <a:t>新增问题：</a:t>
            </a:r>
            <a:r>
              <a:rPr sz="1950" b="0">
                <a:solidFill>
                  <a:srgbClr val="303030"/>
                </a:solidFill>
                <a:latin typeface="微软雅黑"/>
                <a:ea typeface="微软雅黑"/>
                <a:cs typeface="微软雅黑"/>
              </a:rPr>
              <a:t>大模型可以提出哪些控制请求，又必须遵守哪些执行边界？</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1">
                <a:solidFill>
                  <a:srgbClr val="1C3C5D"/>
                </a:solidFill>
                <a:latin typeface="微软雅黑"/>
                <a:ea typeface="微软雅黑"/>
                <a:cs typeface="微软雅黑"/>
              </a:rPr>
              <a:t>基本原则：</a:t>
            </a:r>
            <a:r>
              <a:rPr sz="1950" b="0">
                <a:solidFill>
                  <a:srgbClr val="303030"/>
                </a:solidFill>
                <a:latin typeface="微软雅黑"/>
                <a:ea typeface="微软雅黑"/>
                <a:cs typeface="微软雅黑"/>
              </a:rPr>
              <a:t>不为大模型开特权或另设旁路，所有控制请求进入同一套执行链路。</a:t>
            </a:r>
          </a:p>
        </p:txBody>
      </p:sp>
      <p:sp>
        <p:nvSpPr>
          <p:cNvPr id="5" name="TextBox 4">
            <a:extLst xmlns:a="http://schemas.openxmlformats.org/drawingml/2006/main">
              <a:ext uri="{FF2B5EF4-FFF2-40B4-BE49-F238E27FC236}">
                <a16:creationId xmlns:a16="http://schemas.microsoft.com/office/drawing/2014/main" id="{B2D8EC2F-B214-40A0-8781-D913BF30D74F}"/>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88E191EA-4D91-4D29-8980-C3BABE05E0E1}"/>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2/15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20193763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49AF34-3761-4A6D-937D-530DE446CAB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C557BCB-0EEA-4C8B-95C6-69204DFD0514}"/>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3  现有形态：流程控制与设备模型分离</a:t>
            </a:r>
          </a:p>
        </p:txBody>
      </p:sp>
      <p:sp>
        <p:nvSpPr>
          <p:cNvPr id="4" name="Rounded Rectangle 3">
            <a:extLst xmlns:a="http://schemas.openxmlformats.org/drawingml/2006/main">
              <a:ext uri="{FF2B5EF4-FFF2-40B4-BE49-F238E27FC236}">
                <a16:creationId xmlns:a16="http://schemas.microsoft.com/office/drawing/2014/main" id="{9CC49FFC-3563-4B8A-BBB8-71244CB4A104}"/>
              </a:ext>
            </a:extLst>
          </p:cNvPr>
          <p:cNvSpPr>
            <a:spLocks xmlns:a="http://schemas.openxmlformats.org/drawingml/2006/main" noGrp="1"/>
          </p:cNvSpPr>
          <p:nvPr/>
        </p:nvSpPr>
        <p:spPr>
          <a:xfrm xmlns:a="http://schemas.openxmlformats.org/drawingml/2006/main">
            <a:off x="457200" y="1188720"/>
            <a:ext cx="3566160" cy="256032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F1EC9C9C-EB99-4509-AA36-A5C4C3250061}"/>
              </a:ext>
            </a:extLst>
          </p:cNvPr>
          <p:cNvSpPr>
            <a:spLocks xmlns:a="http://schemas.openxmlformats.org/drawingml/2006/main" noGrp="1"/>
          </p:cNvSpPr>
          <p:nvPr/>
        </p:nvSpPr>
        <p:spPr>
          <a:xfrm xmlns:a="http://schemas.openxmlformats.org/drawingml/2006/main">
            <a:off x="640080" y="1325880"/>
            <a:ext cx="32004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人工逐台操作</a:t>
            </a:r>
          </a:p>
        </p:txBody>
      </p:sp>
      <p:sp>
        <p:nvSpPr>
          <p:cNvPr id="6" name="TextBox 5">
            <a:extLst xmlns:a="http://schemas.openxmlformats.org/drawingml/2006/main">
              <a:ext uri="{FF2B5EF4-FFF2-40B4-BE49-F238E27FC236}">
                <a16:creationId xmlns:a16="http://schemas.microsoft.com/office/drawing/2014/main" id="{6727198A-5E15-499D-8B10-2FA79D8F5FD7}"/>
              </a:ext>
            </a:extLst>
          </p:cNvPr>
          <p:cNvSpPr>
            <a:spLocks xmlns:a="http://schemas.openxmlformats.org/drawingml/2006/main" noGrp="1"/>
          </p:cNvSpPr>
          <p:nvPr/>
        </p:nvSpPr>
        <p:spPr>
          <a:xfrm xmlns:a="http://schemas.openxmlformats.org/drawingml/2006/main">
            <a:off x="640080" y="1920240"/>
            <a:ext cx="3200400" cy="164592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判断设备当前状态</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选择允许执行的操作</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操作设备并观察反馈</a:t>
            </a:r>
          </a:p>
        </p:txBody>
      </p:sp>
      <p:sp>
        <p:nvSpPr>
          <p:cNvPr id="7" name="Rounded Rectangle 6">
            <a:extLst xmlns:a="http://schemas.openxmlformats.org/drawingml/2006/main">
              <a:ext uri="{FF2B5EF4-FFF2-40B4-BE49-F238E27FC236}">
                <a16:creationId xmlns:a16="http://schemas.microsoft.com/office/drawing/2014/main" id="{9CA0E4DC-F3F5-4849-B766-4A9CADE840B4}"/>
              </a:ext>
            </a:extLst>
          </p:cNvPr>
          <p:cNvSpPr>
            <a:spLocks xmlns:a="http://schemas.openxmlformats.org/drawingml/2006/main" noGrp="1"/>
          </p:cNvSpPr>
          <p:nvPr/>
        </p:nvSpPr>
        <p:spPr>
          <a:xfrm xmlns:a="http://schemas.openxmlformats.org/drawingml/2006/main">
            <a:off x="4297680" y="1188720"/>
            <a:ext cx="3566160" cy="256032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ED544D57-7AD3-4402-AFE7-90C10EB2E4C0}"/>
              </a:ext>
            </a:extLst>
          </p:cNvPr>
          <p:cNvSpPr>
            <a:spLocks xmlns:a="http://schemas.openxmlformats.org/drawingml/2006/main" noGrp="1"/>
          </p:cNvSpPr>
          <p:nvPr/>
        </p:nvSpPr>
        <p:spPr>
          <a:xfrm xmlns:a="http://schemas.openxmlformats.org/drawingml/2006/main">
            <a:off x="4480560" y="1325880"/>
            <a:ext cx="32004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自动化流程控制</a:t>
            </a:r>
          </a:p>
        </p:txBody>
      </p:sp>
      <p:sp>
        <p:nvSpPr>
          <p:cNvPr id="9" name="TextBox 8">
            <a:extLst xmlns:a="http://schemas.openxmlformats.org/drawingml/2006/main">
              <a:ext uri="{FF2B5EF4-FFF2-40B4-BE49-F238E27FC236}">
                <a16:creationId xmlns:a16="http://schemas.microsoft.com/office/drawing/2014/main" id="{7726098B-694D-4ACC-9471-8B4E1A159211}"/>
              </a:ext>
            </a:extLst>
          </p:cNvPr>
          <p:cNvSpPr>
            <a:spLocks xmlns:a="http://schemas.openxmlformats.org/drawingml/2006/main" noGrp="1"/>
          </p:cNvSpPr>
          <p:nvPr/>
        </p:nvSpPr>
        <p:spPr>
          <a:xfrm xmlns:a="http://schemas.openxmlformats.org/drawingml/2006/main">
            <a:off x="4480560" y="1920240"/>
            <a:ext cx="3200400" cy="164592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编排步骤、组织任务</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通过驱动直接控制设备</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替代逐台人工操作</a:t>
            </a:r>
          </a:p>
        </p:txBody>
      </p:sp>
      <p:sp>
        <p:nvSpPr>
          <p:cNvPr id="10" name="Rounded Rectangle 9">
            <a:extLst xmlns:a="http://schemas.openxmlformats.org/drawingml/2006/main">
              <a:ext uri="{FF2B5EF4-FFF2-40B4-BE49-F238E27FC236}">
                <a16:creationId xmlns:a16="http://schemas.microsoft.com/office/drawing/2014/main" id="{E1629929-2838-4956-B963-3901E8C81368}"/>
              </a:ext>
            </a:extLst>
          </p:cNvPr>
          <p:cNvSpPr>
            <a:spLocks xmlns:a="http://schemas.openxmlformats.org/drawingml/2006/main" noGrp="1"/>
          </p:cNvSpPr>
          <p:nvPr/>
        </p:nvSpPr>
        <p:spPr>
          <a:xfrm xmlns:a="http://schemas.openxmlformats.org/drawingml/2006/main">
            <a:off x="8138160" y="1188720"/>
            <a:ext cx="3566160" cy="256032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0446E2BE-D250-4091-8647-F42EFC536E6E}"/>
              </a:ext>
            </a:extLst>
          </p:cNvPr>
          <p:cNvSpPr>
            <a:spLocks xmlns:a="http://schemas.openxmlformats.org/drawingml/2006/main" noGrp="1"/>
          </p:cNvSpPr>
          <p:nvPr/>
        </p:nvSpPr>
        <p:spPr>
          <a:xfrm xmlns:a="http://schemas.openxmlformats.org/drawingml/2006/main">
            <a:off x="8321040" y="1325880"/>
            <a:ext cx="32004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设备模型与状态展示</a:t>
            </a:r>
          </a:p>
        </p:txBody>
      </p:sp>
      <p:sp>
        <p:nvSpPr>
          <p:cNvPr id="12" name="TextBox 11">
            <a:extLst xmlns:a="http://schemas.openxmlformats.org/drawingml/2006/main">
              <a:ext uri="{FF2B5EF4-FFF2-40B4-BE49-F238E27FC236}">
                <a16:creationId xmlns:a16="http://schemas.microsoft.com/office/drawing/2014/main" id="{74199453-A3D4-4CA3-83BB-7A9F3E595E79}"/>
              </a:ext>
            </a:extLst>
          </p:cNvPr>
          <p:cNvSpPr>
            <a:spLocks xmlns:a="http://schemas.openxmlformats.org/drawingml/2006/main" noGrp="1"/>
          </p:cNvSpPr>
          <p:nvPr/>
        </p:nvSpPr>
        <p:spPr>
          <a:xfrm xmlns:a="http://schemas.openxmlformats.org/drawingml/2006/main">
            <a:off x="8321040" y="1920240"/>
            <a:ext cx="3200400" cy="164592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描述设备能力与属性</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展示状态与运行信息</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未成为发令的必经环节</a:t>
            </a:r>
          </a:p>
        </p:txBody>
      </p:sp>
      <p:sp>
        <p:nvSpPr>
          <p:cNvPr id="13" name="TextBox 12">
            <a:extLst xmlns:a="http://schemas.openxmlformats.org/drawingml/2006/main">
              <a:ext uri="{FF2B5EF4-FFF2-40B4-BE49-F238E27FC236}">
                <a16:creationId xmlns:a16="http://schemas.microsoft.com/office/drawing/2014/main" id="{267EDEDF-3FF7-4C2A-B3B1-3EC9D596BBC9}"/>
              </a:ext>
            </a:extLst>
          </p:cNvPr>
          <p:cNvSpPr>
            <a:spLocks xmlns:a="http://schemas.openxmlformats.org/drawingml/2006/main" noGrp="1"/>
          </p:cNvSpPr>
          <p:nvPr/>
        </p:nvSpPr>
        <p:spPr>
          <a:xfrm xmlns:a="http://schemas.openxmlformats.org/drawingml/2006/main">
            <a:off x="457200" y="4023360"/>
            <a:ext cx="11247120" cy="20116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5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在这种分离形态下，流程绕过设备模型直接控制设备，控制过程没有统一建模。</a:t>
            </a:r>
          </a:p>
          <a:p xmlns:a="http://schemas.openxmlformats.org/drawingml/2006/main">
            <a:pPr algn="l">
              <a:lnSpc>
                <a:spcPct val="118000"/>
              </a:lnSpc>
              <a:spcBef>
                <a:spcPts val="0"/>
              </a:spcBef>
              <a:spcAft>
                <a:spcPts val="15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资源、状态、数据与约束难以沿同一条执行链路检查。</a:t>
            </a:r>
          </a:p>
          <a:p xmlns:a="http://schemas.openxmlformats.org/drawingml/2006/main">
            <a:pPr algn="l">
              <a:lnSpc>
                <a:spcPct val="118000"/>
              </a:lnSpc>
              <a:spcBef>
                <a:spcPts val="0"/>
              </a:spcBef>
              <a:spcAft>
                <a:spcPts val="1500"/>
              </a:spcAft>
              <a:buNone/>
              <a:defRPr sz="1875" b="0">
                <a:solidFill>
                  <a:srgbClr val="303030"/>
                </a:solidFill>
                <a:latin typeface="微软雅黑"/>
                <a:ea typeface="微软雅黑"/>
                <a:cs typeface="微软雅黑"/>
              </a:defRPr>
            </a:pPr>
            <a:r>
              <a:rPr sz="1875" b="1">
                <a:solidFill>
                  <a:srgbClr val="1C3C5D"/>
                </a:solidFill>
                <a:latin typeface="微软雅黑"/>
                <a:ea typeface="微软雅黑"/>
                <a:cs typeface="微软雅黑"/>
              </a:rPr>
              <a:t>需要补齐的关系：</a:t>
            </a:r>
            <a:r>
              <a:rPr sz="1875" b="0">
                <a:solidFill>
                  <a:srgbClr val="303030"/>
                </a:solidFill>
                <a:latin typeface="微软雅黑"/>
                <a:ea typeface="微软雅黑"/>
                <a:cs typeface="微软雅黑"/>
              </a:rPr>
              <a:t>抽象流程控制抽象设备模型，再由模型驱动物理设备。</a:t>
            </a:r>
          </a:p>
        </p:txBody>
      </p:sp>
      <p:sp>
        <p:nvSpPr>
          <p:cNvPr id="14" name="TextBox 13">
            <a:extLst xmlns:a="http://schemas.openxmlformats.org/drawingml/2006/main">
              <a:ext uri="{FF2B5EF4-FFF2-40B4-BE49-F238E27FC236}">
                <a16:creationId xmlns:a16="http://schemas.microsoft.com/office/drawing/2014/main" id="{6A2F7021-A056-490E-854F-D52508AE7F4A}"/>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5" name="TextBox 14">
            <a:extLst xmlns:a="http://schemas.openxmlformats.org/drawingml/2006/main">
              <a:ext uri="{FF2B5EF4-FFF2-40B4-BE49-F238E27FC236}">
                <a16:creationId xmlns:a16="http://schemas.microsoft.com/office/drawing/2014/main" id="{93CA0FFF-DFC4-4A10-9EC5-A1D1CEC17300}"/>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3/15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2557203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FE50159-5E8A-4CFE-8EA6-1561CDB4ADB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A53EDE4-1DF7-4188-9A8A-D19DBF9C4595}"/>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4  问题收束</a:t>
            </a:r>
            <a:endParaRPr sz="2600" b="1">
              <a:solidFill>
                <a:srgbClr val="FFFFFF"/>
              </a:solidFill>
              <a:latin typeface="微软雅黑"/>
              <a:ea typeface="微软雅黑"/>
              <a:cs typeface="微软雅黑"/>
            </a:endParaRPr>
          </a:p>
        </p:txBody>
      </p:sp>
      <p:sp>
        <p:nvSpPr>
          <p:cNvPr id="4" name="Rounded Rectangle 3">
            <a:extLst xmlns:a="http://schemas.openxmlformats.org/drawingml/2006/main">
              <a:ext uri="{FF2B5EF4-FFF2-40B4-BE49-F238E27FC236}">
                <a16:creationId xmlns:a16="http://schemas.microsoft.com/office/drawing/2014/main" id="{B3D1E6AF-97D2-475E-80B2-D8E649A2DDB7}"/>
              </a:ext>
            </a:extLst>
          </p:cNvPr>
          <p:cNvSpPr>
            <a:spLocks xmlns:a="http://schemas.openxmlformats.org/drawingml/2006/main" noGrp="1"/>
          </p:cNvSpPr>
          <p:nvPr/>
        </p:nvSpPr>
        <p:spPr>
          <a:xfrm xmlns:a="http://schemas.openxmlformats.org/drawingml/2006/main">
            <a:off x="914400" y="2011680"/>
            <a:ext cx="10332720" cy="292608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499AB44-E4BF-46A6-A785-D870AC1BC06C}"/>
              </a:ext>
            </a:extLst>
          </p:cNvPr>
          <p:cNvSpPr>
            <a:spLocks xmlns:a="http://schemas.openxmlformats.org/drawingml/2006/main" noGrp="1"/>
          </p:cNvSpPr>
          <p:nvPr/>
        </p:nvSpPr>
        <p:spPr>
          <a:xfrm xmlns:a="http://schemas.openxmlformats.org/drawingml/2006/main">
            <a:off x="1188720" y="2228850"/>
            <a:ext cx="9784080" cy="25717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700"/>
              </a:spcAft>
              <a:buNone/>
              <a:defRPr sz="2100" b="0">
                <a:solidFill>
                  <a:srgbClr val="303030"/>
                </a:solidFill>
                <a:latin typeface="微软雅黑"/>
                <a:ea typeface="微软雅黑"/>
                <a:cs typeface="微软雅黑"/>
              </a:defRPr>
            </a:pPr>
            <a:r>
              <a:rPr sz="2100" b="0">
                <a:solidFill>
                  <a:srgbClr val="303030"/>
                </a:solidFill>
                <a:latin typeface="微软雅黑"/>
                <a:ea typeface="微软雅黑"/>
                <a:cs typeface="微软雅黑"/>
              </a:rPr>
              <a:t>如何将人的设备操作过程建成可执行模型，使流程、人和大模型的控制请求，都进入同一条可检查的执行链路？</a:t>
            </a:r>
          </a:p>
          <a:p xmlns:a="http://schemas.openxmlformats.org/drawingml/2006/main">
            <a:pPr algn="l">
              <a:lnSpc>
                <a:spcPct val="118000"/>
              </a:lnSpc>
              <a:spcBef>
                <a:spcPts val="0"/>
              </a:spcBef>
              <a:spcAft>
                <a:spcPts val="1700"/>
              </a:spcAft>
              <a:buNone/>
              <a:defRPr sz="2100" b="0">
                <a:solidFill>
                  <a:srgbClr val="303030"/>
                </a:solidFill>
                <a:latin typeface="微软雅黑"/>
                <a:ea typeface="微软雅黑"/>
                <a:cs typeface="微软雅黑"/>
              </a:defRPr>
            </a:pPr>
            <a:r>
              <a:rPr sz="2100" b="0">
                <a:solidFill>
                  <a:srgbClr val="303030"/>
                </a:solidFill>
                <a:latin typeface="微软雅黑"/>
                <a:ea typeface="微软雅黑"/>
                <a:cs typeface="微软雅黑"/>
              </a:rPr>
              <a:t>设备模型统一描述能力与状态演化，执行时检查资源、数据和约束。</a:t>
            </a:r>
          </a:p>
          <a:p xmlns:a="http://schemas.openxmlformats.org/drawingml/2006/main">
            <a:pPr algn="l">
              <a:lnSpc>
                <a:spcPct val="118000"/>
              </a:lnSpc>
              <a:spcBef>
                <a:spcPts val="0"/>
              </a:spcBef>
              <a:spcAft>
                <a:spcPts val="1700"/>
              </a:spcAft>
              <a:buNone/>
              <a:defRPr sz="2100" b="0">
                <a:solidFill>
                  <a:srgbClr val="303030"/>
                </a:solidFill>
                <a:latin typeface="微软雅黑"/>
                <a:ea typeface="微软雅黑"/>
                <a:cs typeface="微软雅黑"/>
              </a:defRPr>
            </a:pPr>
            <a:r>
              <a:rPr sz="2100" b="1">
                <a:solidFill>
                  <a:srgbClr val="1C3C5D"/>
                </a:solidFill>
                <a:latin typeface="微软雅黑"/>
                <a:ea typeface="微软雅黑"/>
                <a:cs typeface="微软雅黑"/>
              </a:rPr>
              <a:t>统一原则：</a:t>
            </a:r>
            <a:r>
              <a:rPr sz="2100" b="0">
                <a:solidFill>
                  <a:srgbClr val="303030"/>
                </a:solidFill>
                <a:latin typeface="微软雅黑"/>
                <a:ea typeface="微软雅黑"/>
                <a:cs typeface="微软雅黑"/>
              </a:rPr>
              <a:t>请求来源可以不同，设备执行不得旁路状态机。</a:t>
            </a:r>
          </a:p>
        </p:txBody>
      </p:sp>
      <p:sp>
        <p:nvSpPr>
          <p:cNvPr id="6" name="TextBox 5">
            <a:extLst xmlns:a="http://schemas.openxmlformats.org/drawingml/2006/main">
              <a:ext uri="{FF2B5EF4-FFF2-40B4-BE49-F238E27FC236}">
                <a16:creationId xmlns:a16="http://schemas.microsoft.com/office/drawing/2014/main" id="{1D032FF4-E7AB-4D14-BC4B-D69C6CA5DD4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E5ECC6D0-D22A-4F7B-BA07-10CC7E7E5B04}"/>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4/15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38262383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49163D9-980C-4714-9783-06B13EF91553}"/>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42BFAFE-011B-498E-BFF0-F7B9F1D1B5C9}"/>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5  核心方法：设备模型进入控制链路</a:t>
            </a:r>
          </a:p>
        </p:txBody>
      </p:sp>
      <p:sp>
        <p:nvSpPr>
          <p:cNvPr id="4" name="TextBox 3">
            <a:extLst xmlns:a="http://schemas.openxmlformats.org/drawingml/2006/main">
              <a:ext uri="{FF2B5EF4-FFF2-40B4-BE49-F238E27FC236}">
                <a16:creationId xmlns:a16="http://schemas.microsoft.com/office/drawing/2014/main" id="{853BBE21-86FE-4CE7-A07D-08745831F824}"/>
              </a:ext>
            </a:extLst>
          </p:cNvPr>
          <p:cNvSpPr>
            <a:spLocks xmlns:a="http://schemas.openxmlformats.org/drawingml/2006/main" noGrp="1"/>
          </p:cNvSpPr>
          <p:nvPr/>
        </p:nvSpPr>
        <p:spPr>
          <a:xfrm xmlns:a="http://schemas.openxmlformats.org/drawingml/2006/main">
            <a:off x="457200" y="1097280"/>
            <a:ext cx="11247120" cy="4114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1725" b="0">
                <a:solidFill>
                  <a:srgbClr val="303030"/>
                </a:solidFill>
                <a:latin typeface="微软雅黑"/>
                <a:ea typeface="微软雅黑"/>
                <a:cs typeface="微软雅黑"/>
              </a:defRPr>
            </a:pPr>
            <a:r>
              <a:rPr sz="1725" b="0">
                <a:solidFill>
                  <a:srgbClr val="303030"/>
                </a:solidFill>
                <a:latin typeface="微软雅黑"/>
                <a:ea typeface="微软雅黑"/>
                <a:cs typeface="微软雅黑"/>
              </a:rPr>
              <a:t>设备模型 = 能力模型 + 状态机。流程先作用于模型，由状态机经适配器驱动物理设备。</a:t>
            </a:r>
          </a:p>
        </p:txBody>
      </p:sp>
      <p:sp>
        <p:nvSpPr>
          <p:cNvPr id="5" name="Rounded Rectangle 4">
            <a:extLst xmlns:a="http://schemas.openxmlformats.org/drawingml/2006/main">
              <a:ext uri="{FF2B5EF4-FFF2-40B4-BE49-F238E27FC236}">
                <a16:creationId xmlns:a16="http://schemas.microsoft.com/office/drawing/2014/main" id="{E02BA5A6-E7D7-4DC2-B1F4-86C174C29A4A}"/>
              </a:ext>
            </a:extLst>
          </p:cNvPr>
          <p:cNvSpPr>
            <a:spLocks xmlns:a="http://schemas.openxmlformats.org/drawingml/2006/main" noGrp="1"/>
          </p:cNvSpPr>
          <p:nvPr/>
        </p:nvSpPr>
        <p:spPr>
          <a:xfrm xmlns:a="http://schemas.openxmlformats.org/drawingml/2006/main">
            <a:off x="457200" y="1600200"/>
            <a:ext cx="11247120" cy="640080"/>
          </a:xfrm>
          <a:prstGeom xmlns:a="http://schemas.openxmlformats.org/drawingml/2006/main" prst="round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97E0EBF-8E4C-4F69-B424-504526F39BB8}"/>
              </a:ext>
            </a:extLst>
          </p:cNvPr>
          <p:cNvSpPr>
            <a:spLocks xmlns:a="http://schemas.openxmlformats.org/drawingml/2006/main" noGrp="1"/>
          </p:cNvSpPr>
          <p:nvPr/>
        </p:nvSpPr>
        <p:spPr>
          <a:xfrm xmlns:a="http://schemas.openxmlformats.org/drawingml/2006/main">
            <a:off x="457200" y="1719072"/>
            <a:ext cx="1124712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ctr">
              <a:lnSpc>
                <a:spcPct val="118000"/>
              </a:lnSpc>
              <a:spcBef>
                <a:spcPts val="0"/>
              </a:spcBef>
              <a:spcAft>
                <a:spcPts val="0"/>
              </a:spcAft>
              <a:buNone/>
              <a:defRPr sz="1875" b="1">
                <a:solidFill>
                  <a:srgbClr val="FFFFFF"/>
                </a:solidFill>
                <a:latin typeface="微软雅黑"/>
                <a:ea typeface="微软雅黑"/>
                <a:cs typeface="微软雅黑"/>
              </a:defRPr>
            </a:pPr>
            <a:r>
              <a:rPr sz="1875" b="1">
                <a:solidFill>
                  <a:srgbClr val="FFFFFF"/>
                </a:solidFill>
                <a:latin typeface="微软雅黑"/>
                <a:ea typeface="微软雅黑"/>
                <a:cs typeface="微软雅黑"/>
              </a:rPr>
              <a:t>流程 / 人 / 大模型  →  设备模型（能力 + 状态机）  →  Adapter  →  物理设备</a:t>
            </a:r>
          </a:p>
        </p:txBody>
      </p:sp>
      <p:sp>
        <p:nvSpPr>
          <p:cNvPr id="7" name="Rounded Rectangle 6">
            <a:extLst xmlns:a="http://schemas.openxmlformats.org/drawingml/2006/main">
              <a:ext uri="{FF2B5EF4-FFF2-40B4-BE49-F238E27FC236}">
                <a16:creationId xmlns:a16="http://schemas.microsoft.com/office/drawing/2014/main" id="{8F86A037-C0EB-43EE-B66A-C43EEC7DB9DB}"/>
              </a:ext>
            </a:extLst>
          </p:cNvPr>
          <p:cNvSpPr>
            <a:spLocks xmlns:a="http://schemas.openxmlformats.org/drawingml/2006/main" noGrp="1"/>
          </p:cNvSpPr>
          <p:nvPr/>
        </p:nvSpPr>
        <p:spPr>
          <a:xfrm xmlns:a="http://schemas.openxmlformats.org/drawingml/2006/main">
            <a:off x="365760" y="2468880"/>
            <a:ext cx="3657600" cy="3200400"/>
          </a:xfrm>
          <a:prstGeom xmlns:a="http://schemas.openxmlformats.org/drawingml/2006/main" prst="round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anchor="t">
            <a:noAutofit/>
          </a:bodyPr>
          <a:lstStyle xmlns:a="http://schemas.openxmlformats.org/drawingml/2006/main"/>
          <a:p xmlns:a="http://schemas.openxmlformats.org/drawingml/2006/main">
            <a:pPr>
              <a:spcBef>
                <a:spcPts val="0"/>
              </a:spcBef>
              <a:spcAft>
                <a:spcPts val="850"/>
              </a:spcAft>
            </a:pPr>
            <a:r>
              <a:t/>
            </a:r>
          </a:p>
        </p:txBody>
      </p:sp>
      <p:sp>
        <p:nvSpPr>
          <p:cNvPr id="8" name="Rounded Rectangle 7">
            <a:extLst xmlns:a="http://schemas.openxmlformats.org/drawingml/2006/main">
              <a:ext uri="{FF2B5EF4-FFF2-40B4-BE49-F238E27FC236}">
                <a16:creationId xmlns:a16="http://schemas.microsoft.com/office/drawing/2014/main" id="{3BDB5633-0041-4988-A8CF-66F7D7579F63}"/>
              </a:ext>
            </a:extLst>
          </p:cNvPr>
          <p:cNvSpPr>
            <a:spLocks xmlns:a="http://schemas.openxmlformats.org/drawingml/2006/main" noGrp="1"/>
          </p:cNvSpPr>
          <p:nvPr/>
        </p:nvSpPr>
        <p:spPr>
          <a:xfrm xmlns:a="http://schemas.openxmlformats.org/drawingml/2006/main">
            <a:off x="7124700" y="2571750"/>
            <a:ext cx="4476750" cy="3048000"/>
          </a:xfrm>
          <a:prstGeom xmlns:a="http://schemas.openxmlformats.org/drawingml/2006/main" prst="round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1">
                <a:solidFill>
                  <a:srgbClr val="1C3C5D"/>
                </a:solidFill>
                <a:latin typeface="微软雅黑"/>
                <a:ea typeface="微软雅黑"/>
                <a:cs typeface="微软雅黑"/>
              </a:rPr>
              <a:t>横向：工作流组织任务步骤</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明确各步的顺序与数据依赖。</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1">
                <a:solidFill>
                  <a:srgbClr val="1C3C5D"/>
                </a:solidFill>
                <a:latin typeface="微软雅黑"/>
                <a:ea typeface="微软雅黑"/>
                <a:cs typeface="微软雅黑"/>
              </a:rPr>
              <a:t>纵向：每一步经过设备状态机</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状态机经 Adapter 发令并接收反馈。</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1">
                <a:solidFill>
                  <a:srgbClr val="1C3C5D"/>
                </a:solidFill>
                <a:latin typeface="微软雅黑"/>
                <a:ea typeface="微软雅黑"/>
                <a:cs typeface="微软雅黑"/>
              </a:rPr>
              <a:t>任务切片</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横向步骤组织与纵向执行链路的结合。</a:t>
            </a:r>
          </a:p>
        </p:txBody>
      </p:sp>
      <p:sp>
        <p:nvSpPr>
          <p:cNvPr id="9" name="Rounded Rectangle 8">
            <a:extLst xmlns:a="http://schemas.openxmlformats.org/drawingml/2006/main">
              <a:ext uri="{FF2B5EF4-FFF2-40B4-BE49-F238E27FC236}">
                <a16:creationId xmlns:a16="http://schemas.microsoft.com/office/drawing/2014/main" id="{3A78EA6A-0307-4085-9DAB-9992C0718250}"/>
              </a:ext>
            </a:extLst>
          </p:cNvPr>
          <p:cNvSpPr>
            <a:spLocks xmlns:a="http://schemas.openxmlformats.org/drawingml/2006/main" noGrp="1"/>
          </p:cNvSpPr>
          <p:nvPr/>
        </p:nvSpPr>
        <p:spPr>
          <a:xfrm xmlns:a="http://schemas.openxmlformats.org/drawingml/2006/main">
            <a:off x="7124700" y="5705475"/>
            <a:ext cx="4572000" cy="514350"/>
          </a:xfrm>
          <a:prstGeom xmlns:a="http://schemas.openxmlformats.org/drawingml/2006/main" prst="round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控制意图来源不同，设备执行链路相同。</a:t>
            </a:r>
          </a:p>
        </p:txBody>
      </p:sp>
      <p:sp>
        <p:nvSpPr>
          <p:cNvPr id="10" name="TextBox 9">
            <a:extLst xmlns:a="http://schemas.openxmlformats.org/drawingml/2006/main">
              <a:ext uri="{FF2B5EF4-FFF2-40B4-BE49-F238E27FC236}">
                <a16:creationId xmlns:a16="http://schemas.microsoft.com/office/drawing/2014/main" id="{DE3775A6-0E45-48C4-825B-1CF0C27338D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FC2AF8FB-DF12-4C2C-BEB7-A611C5798668}"/>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5/15</a:t>
            </a:r>
            <a:endParaRPr sz="1100" b="0">
              <a:solidFill>
                <a:srgbClr val="555555"/>
              </a:solidFill>
              <a:latin typeface="微软雅黑"/>
              <a:ea typeface="微软雅黑"/>
              <a:cs typeface="微软雅黑"/>
            </a:endParaRPr>
          </a:p>
        </p:txBody>
      </p:sp>
      <p:pic>
        <p:nvPicPr>
          <p:cNvPr id="23" name="图片 11"/>
          <p:cNvPicPr>
            <a:picLocks xmlns:a="http://schemas.openxmlformats.org/drawingml/2006/main" noChangeAspect="1"/>
          </p:cNvPicPr>
          <p:nvPr/>
        </p:nvPicPr>
        <p:blipFill>
          <a:blip xmlns:r="http://schemas.openxmlformats.org/officeDocument/2006/relationships" xmlns:a="http://schemas.openxmlformats.org/drawingml/2006/main" r:embed="R734fb8ada54d4bf8"/>
          <a:stretch xmlns:a="http://schemas.openxmlformats.org/drawingml/2006/main">
            <a:fillRect l="0" t="0" r="0" b="0"/>
          </a:stretch>
        </p:blipFill>
        <p:spPr>
          <a:xfrm xmlns:a="http://schemas.openxmlformats.org/drawingml/2006/main">
            <a:off x="523875" y="2800350"/>
            <a:ext cx="6334125" cy="3331178"/>
          </a:xfrm>
          <a:prstGeom xmlns:a="http://schemas.openxmlformats.org/drawingml/2006/main" prst="rect">
            <a:avLst/>
          </a:prstGeom>
        </p:spPr>
      </p:pic>
    </p:spTree>
    <p:extLst>
      <p:ext uri="{BB962C8B-B14F-4D97-AF65-F5344CB8AC3E}">
        <p14:creationId xmlns:p14="http://schemas.microsoft.com/office/powerpoint/2010/main" val="66867428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260804D-086E-4945-84E5-2B68D152881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15E4D77-DB7B-4B98-BA95-4C69B5000191}"/>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6  对照：发令走哪条路</a:t>
            </a:r>
            <a:endParaRPr sz="2600" b="1">
              <a:solidFill>
                <a:srgbClr val="FFFFFF"/>
              </a:solidFill>
              <a:latin typeface="微软雅黑"/>
              <a:ea typeface="微软雅黑"/>
              <a:cs typeface="微软雅黑"/>
            </a:endParaRPr>
          </a:p>
        </p:txBody>
      </p:sp>
      <p:sp>
        <p:nvSpPr>
          <p:cNvPr id="4" name="Rounded Rectangle 3">
            <a:extLst xmlns:a="http://schemas.openxmlformats.org/drawingml/2006/main">
              <a:ext uri="{FF2B5EF4-FFF2-40B4-BE49-F238E27FC236}">
                <a16:creationId xmlns:a16="http://schemas.microsoft.com/office/drawing/2014/main" id="{E046F1E3-4358-4315-BFF2-263907DC500B}"/>
              </a:ext>
            </a:extLst>
          </p:cNvPr>
          <p:cNvSpPr>
            <a:spLocks xmlns:a="http://schemas.openxmlformats.org/drawingml/2006/main" noGrp="1"/>
          </p:cNvSpPr>
          <p:nvPr/>
        </p:nvSpPr>
        <p:spPr>
          <a:xfrm xmlns:a="http://schemas.openxmlformats.org/drawingml/2006/main">
            <a:off x="457200" y="1280160"/>
            <a:ext cx="5394960" cy="4114800"/>
          </a:xfrm>
          <a:prstGeom xmlns:a="http://schemas.openxmlformats.org/drawingml/2006/main" prst="roundRect">
            <a:avLst/>
          </a:prstGeom>
          <a:solidFill xmlns:a="http://schemas.openxmlformats.org/drawingml/2006/main">
            <a:srgbClr val="F5F7FA"/>
          </a:solidFill>
          <a:ln xmlns:a="http://schemas.openxmlformats.org/drawingml/2006/main">
            <a:solidFill>
              <a:srgbClr val="55555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2545F5FA-D44C-4513-849A-46B1E4D1E1D1}"/>
              </a:ext>
            </a:extLst>
          </p:cNvPr>
          <p:cNvSpPr>
            <a:spLocks xmlns:a="http://schemas.openxmlformats.org/drawingml/2006/main" noGrp="1"/>
          </p:cNvSpPr>
          <p:nvPr/>
        </p:nvSpPr>
        <p:spPr>
          <a:xfrm xmlns:a="http://schemas.openxmlformats.org/drawingml/2006/main">
            <a:off x="640080" y="1417320"/>
            <a:ext cx="5029200" cy="4421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555555"/>
                </a:solidFill>
                <a:latin typeface="微软雅黑"/>
                <a:ea typeface="微软雅黑"/>
                <a:cs typeface="微软雅黑"/>
              </a:defRPr>
            </a:pPr>
            <a:r>
              <a:rPr sz="1950" b="1">
                <a:solidFill>
                  <a:srgbClr val="555555"/>
                </a:solidFill>
                <a:latin typeface="微软雅黑"/>
                <a:ea typeface="微软雅黑"/>
                <a:cs typeface="微软雅黑"/>
              </a:rPr>
              <a:t>流程与模型分离</a:t>
            </a:r>
          </a:p>
        </p:txBody>
      </p:sp>
      <p:sp>
        <p:nvSpPr>
          <p:cNvPr id="6" name="TextBox 5">
            <a:extLst xmlns:a="http://schemas.openxmlformats.org/drawingml/2006/main">
              <a:ext uri="{FF2B5EF4-FFF2-40B4-BE49-F238E27FC236}">
                <a16:creationId xmlns:a16="http://schemas.microsoft.com/office/drawing/2014/main" id="{EE3746DD-EEFE-4A17-B9D4-119F8B36BFB6}"/>
              </a:ext>
            </a:extLst>
          </p:cNvPr>
          <p:cNvSpPr>
            <a:spLocks xmlns:a="http://schemas.openxmlformats.org/drawingml/2006/main" noGrp="1"/>
          </p:cNvSpPr>
          <p:nvPr/>
        </p:nvSpPr>
        <p:spPr>
          <a:xfrm xmlns:a="http://schemas.openxmlformats.org/drawingml/2006/main">
            <a:off x="640080" y="2011680"/>
            <a:ext cx="5029200" cy="31089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流程编排任务后直接调用驱动。</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设备模型主要展示属性与状态。</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操作判断和发令逻辑分散在模型之外。</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新增大模型接口可能继续绕过模型。</a:t>
            </a:r>
          </a:p>
        </p:txBody>
      </p:sp>
      <p:sp>
        <p:nvSpPr>
          <p:cNvPr id="7" name="Rounded Rectangle 6">
            <a:extLst xmlns:a="http://schemas.openxmlformats.org/drawingml/2006/main">
              <a:ext uri="{FF2B5EF4-FFF2-40B4-BE49-F238E27FC236}">
                <a16:creationId xmlns:a16="http://schemas.microsoft.com/office/drawing/2014/main" id="{7D233A3C-2F10-4BC7-8BE9-9A63475E6D70}"/>
              </a:ext>
            </a:extLst>
          </p:cNvPr>
          <p:cNvSpPr>
            <a:spLocks xmlns:a="http://schemas.openxmlformats.org/drawingml/2006/main" noGrp="1"/>
          </p:cNvSpPr>
          <p:nvPr/>
        </p:nvSpPr>
        <p:spPr>
          <a:xfrm xmlns:a="http://schemas.openxmlformats.org/drawingml/2006/main">
            <a:off x="6309360" y="1280160"/>
            <a:ext cx="5394960" cy="4114800"/>
          </a:xfrm>
          <a:prstGeom xmlns:a="http://schemas.openxmlformats.org/drawingml/2006/main" prst="roundRect">
            <a:avLst/>
          </a:prstGeom>
          <a:solidFill xmlns:a="http://schemas.openxmlformats.org/drawingml/2006/main">
            <a:srgbClr val="D6E6F5"/>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6AC477D-A6F4-4465-9392-98EF4FBE3DFC}"/>
              </a:ext>
            </a:extLst>
          </p:cNvPr>
          <p:cNvSpPr>
            <a:spLocks xmlns:a="http://schemas.openxmlformats.org/drawingml/2006/main" noGrp="1"/>
          </p:cNvSpPr>
          <p:nvPr/>
        </p:nvSpPr>
        <p:spPr>
          <a:xfrm xmlns:a="http://schemas.openxmlformats.org/drawingml/2006/main">
            <a:off x="6492240" y="1417320"/>
            <a:ext cx="5029200" cy="4421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统一执行链路</a:t>
            </a:r>
          </a:p>
        </p:txBody>
      </p:sp>
      <p:sp>
        <p:nvSpPr>
          <p:cNvPr id="9" name="TextBox 8">
            <a:extLst xmlns:a="http://schemas.openxmlformats.org/drawingml/2006/main">
              <a:ext uri="{FF2B5EF4-FFF2-40B4-BE49-F238E27FC236}">
                <a16:creationId xmlns:a16="http://schemas.microsoft.com/office/drawing/2014/main" id="{A24963C5-E2C5-4747-ADDF-DB1DD926052E}"/>
              </a:ext>
            </a:extLst>
          </p:cNvPr>
          <p:cNvSpPr>
            <a:spLocks xmlns:a="http://schemas.openxmlformats.org/drawingml/2006/main" noGrp="1"/>
          </p:cNvSpPr>
          <p:nvPr/>
        </p:nvSpPr>
        <p:spPr>
          <a:xfrm xmlns:a="http://schemas.openxmlformats.org/drawingml/2006/main">
            <a:off x="6492240" y="2011680"/>
            <a:ext cx="5029200" cy="31089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流程先调用设备模型所定义的能力。</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状态机根据当前状态处理请求并发令。</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执行反馈更新模型与工作流。</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流程、人和大模型遵守相同的执行约束。</a:t>
            </a:r>
          </a:p>
        </p:txBody>
      </p:sp>
      <p:sp>
        <p:nvSpPr>
          <p:cNvPr id="10" name="TextBox 9">
            <a:extLst xmlns:a="http://schemas.openxmlformats.org/drawingml/2006/main">
              <a:ext uri="{FF2B5EF4-FFF2-40B4-BE49-F238E27FC236}">
                <a16:creationId xmlns:a16="http://schemas.microsoft.com/office/drawing/2014/main" id="{30F44C43-E1D4-472E-ABB8-444590810FEC}"/>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0080A827-F079-469D-8F6A-93AD99E05656}"/>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6/15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81061671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DDB1527-8C0F-401F-8516-77B16C03E2E1}"/>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1DED688-C690-43F6-8690-CE2B63486DB2}"/>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7  核心方法：结构  L = ⟨R, F, C, Π⟩</a:t>
            </a:r>
            <a:endParaRPr sz="2600" b="1">
              <a:solidFill>
                <a:srgbClr val="FFFFFF"/>
              </a:solidFill>
              <a:latin typeface="微软雅黑"/>
              <a:ea typeface="微软雅黑"/>
              <a:cs typeface="微软雅黑"/>
            </a:endParaRPr>
          </a:p>
        </p:txBody>
      </p:sp>
      <p:sp>
        <p:nvSpPr>
          <p:cNvPr id="4" name="Rounded Rectangle 3">
            <a:extLst xmlns:a="http://schemas.openxmlformats.org/drawingml/2006/main">
              <a:ext uri="{FF2B5EF4-FFF2-40B4-BE49-F238E27FC236}">
                <a16:creationId xmlns:a16="http://schemas.microsoft.com/office/drawing/2014/main" id="{68E7E420-EB94-4361-BDA5-CF895EB0B616}"/>
              </a:ext>
            </a:extLst>
          </p:cNvPr>
          <p:cNvSpPr>
            <a:spLocks xmlns:a="http://schemas.openxmlformats.org/drawingml/2006/main" noGrp="1"/>
          </p:cNvSpPr>
          <p:nvPr/>
        </p:nvSpPr>
        <p:spPr>
          <a:xfrm xmlns:a="http://schemas.openxmlformats.org/drawingml/2006/main">
            <a:off x="1097280" y="1234440"/>
            <a:ext cx="9966960" cy="100584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FFCC9E0-3145-43BD-B927-9ABEDD8E7463}"/>
              </a:ext>
            </a:extLst>
          </p:cNvPr>
          <p:cNvSpPr>
            <a:spLocks xmlns:a="http://schemas.openxmlformats.org/drawingml/2006/main" noGrp="1"/>
          </p:cNvSpPr>
          <p:nvPr/>
        </p:nvSpPr>
        <p:spPr>
          <a:xfrm xmlns:a="http://schemas.openxmlformats.org/drawingml/2006/main">
            <a:off x="1371600" y="1371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R 资源层</a:t>
            </a:r>
            <a:endParaRPr sz="2000" b="1">
              <a:solidFill>
                <a:srgbClr val="1A3A5C"/>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CA67C34F-0D13-43DF-B4A5-AB0DDD3C44AD}"/>
              </a:ext>
            </a:extLst>
          </p:cNvPr>
          <p:cNvSpPr>
            <a:spLocks xmlns:a="http://schemas.openxmlformats.org/drawingml/2006/main" noGrp="1"/>
          </p:cNvSpPr>
          <p:nvPr/>
        </p:nvSpPr>
        <p:spPr>
          <a:xfrm xmlns:a="http://schemas.openxmlformats.org/drawingml/2006/main">
            <a:off x="4754880" y="1463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组织设备能力与状态机，形成可执行模型</a:t>
            </a:r>
          </a:p>
        </p:txBody>
      </p:sp>
      <p:sp>
        <p:nvSpPr>
          <p:cNvPr id="7" name="Rounded Rectangle 6">
            <a:extLst xmlns:a="http://schemas.openxmlformats.org/drawingml/2006/main">
              <a:ext uri="{FF2B5EF4-FFF2-40B4-BE49-F238E27FC236}">
                <a16:creationId xmlns:a16="http://schemas.microsoft.com/office/drawing/2014/main" id="{2B3DA4AE-BDE8-4496-AC43-70F86BDB7962}"/>
              </a:ext>
            </a:extLst>
          </p:cNvPr>
          <p:cNvSpPr>
            <a:spLocks xmlns:a="http://schemas.openxmlformats.org/drawingml/2006/main" noGrp="1"/>
          </p:cNvSpPr>
          <p:nvPr/>
        </p:nvSpPr>
        <p:spPr>
          <a:xfrm xmlns:a="http://schemas.openxmlformats.org/drawingml/2006/main">
            <a:off x="1097280" y="2377440"/>
            <a:ext cx="9966960" cy="1005840"/>
          </a:xfrm>
          <a:prstGeom xmlns:a="http://schemas.openxmlformats.org/drawingml/2006/main" prst="roundRect">
            <a:avLst/>
          </a:prstGeom>
          <a:solidFill xmlns:a="http://schemas.openxmlformats.org/drawingml/2006/main">
            <a:srgbClr val="D6E6F5"/>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84D67C11-2210-4A3D-ACEE-2229385ECD74}"/>
              </a:ext>
            </a:extLst>
          </p:cNvPr>
          <p:cNvSpPr>
            <a:spLocks xmlns:a="http://schemas.openxmlformats.org/drawingml/2006/main" noGrp="1"/>
          </p:cNvSpPr>
          <p:nvPr/>
        </p:nvSpPr>
        <p:spPr>
          <a:xfrm xmlns:a="http://schemas.openxmlformats.org/drawingml/2006/main">
            <a:off x="1371600" y="2514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F 工作流层</a:t>
            </a:r>
            <a:endParaRPr sz="2000" b="1">
              <a:solidFill>
                <a:srgbClr val="1A3A5C"/>
              </a:solidFill>
              <a:latin typeface="微软雅黑"/>
              <a:ea typeface="微软雅黑"/>
              <a:cs typeface="微软雅黑"/>
            </a:endParaRPr>
          </a:p>
        </p:txBody>
      </p:sp>
      <p:sp>
        <p:nvSpPr>
          <p:cNvPr id="9" name="TextBox 8">
            <a:extLst xmlns:a="http://schemas.openxmlformats.org/drawingml/2006/main">
              <a:ext uri="{FF2B5EF4-FFF2-40B4-BE49-F238E27FC236}">
                <a16:creationId xmlns:a16="http://schemas.microsoft.com/office/drawing/2014/main" id="{BCB0A1D8-1D86-41C9-9EAB-06AFF052F909}"/>
              </a:ext>
            </a:extLst>
          </p:cNvPr>
          <p:cNvSpPr>
            <a:spLocks xmlns:a="http://schemas.openxmlformats.org/drawingml/2006/main" noGrp="1"/>
          </p:cNvSpPr>
          <p:nvPr/>
        </p:nvSpPr>
        <p:spPr>
          <a:xfrm xmlns:a="http://schemas.openxmlformats.org/drawingml/2006/main">
            <a:off x="4754880" y="2606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组织任务步骤与数据依赖，调用设备模型</a:t>
            </a:r>
          </a:p>
        </p:txBody>
      </p:sp>
      <p:sp>
        <p:nvSpPr>
          <p:cNvPr id="10" name="Rounded Rectangle 9">
            <a:extLst xmlns:a="http://schemas.openxmlformats.org/drawingml/2006/main">
              <a:ext uri="{FF2B5EF4-FFF2-40B4-BE49-F238E27FC236}">
                <a16:creationId xmlns:a16="http://schemas.microsoft.com/office/drawing/2014/main" id="{E6C31BBB-5202-4426-8B08-0BA354B5B0DC}"/>
              </a:ext>
            </a:extLst>
          </p:cNvPr>
          <p:cNvSpPr>
            <a:spLocks xmlns:a="http://schemas.openxmlformats.org/drawingml/2006/main" noGrp="1"/>
          </p:cNvSpPr>
          <p:nvPr/>
        </p:nvSpPr>
        <p:spPr>
          <a:xfrm xmlns:a="http://schemas.openxmlformats.org/drawingml/2006/main">
            <a:off x="1097280" y="3520440"/>
            <a:ext cx="9966960" cy="100584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7E90E4CB-3CC5-48EE-9536-6EADDCF41EC7}"/>
              </a:ext>
            </a:extLst>
          </p:cNvPr>
          <p:cNvSpPr>
            <a:spLocks xmlns:a="http://schemas.openxmlformats.org/drawingml/2006/main" noGrp="1"/>
          </p:cNvSpPr>
          <p:nvPr/>
        </p:nvSpPr>
        <p:spPr>
          <a:xfrm xmlns:a="http://schemas.openxmlformats.org/drawingml/2006/main">
            <a:off x="1371600" y="3657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C 约束层</a:t>
            </a:r>
            <a:endParaRPr sz="2000" b="1">
              <a:solidFill>
                <a:srgbClr val="1A3A5C"/>
              </a:solidFill>
              <a:latin typeface="微软雅黑"/>
              <a:ea typeface="微软雅黑"/>
              <a:cs typeface="微软雅黑"/>
            </a:endParaRPr>
          </a:p>
        </p:txBody>
      </p:sp>
      <p:sp>
        <p:nvSpPr>
          <p:cNvPr id="12" name="TextBox 11">
            <a:extLst xmlns:a="http://schemas.openxmlformats.org/drawingml/2006/main">
              <a:ext uri="{FF2B5EF4-FFF2-40B4-BE49-F238E27FC236}">
                <a16:creationId xmlns:a16="http://schemas.microsoft.com/office/drawing/2014/main" id="{86DCB61A-4980-40CE-A5F6-EF782993DE59}"/>
              </a:ext>
            </a:extLst>
          </p:cNvPr>
          <p:cNvSpPr>
            <a:spLocks xmlns:a="http://schemas.openxmlformats.org/drawingml/2006/main" noGrp="1"/>
          </p:cNvSpPr>
          <p:nvPr/>
        </p:nvSpPr>
        <p:spPr>
          <a:xfrm xmlns:a="http://schemas.openxmlformats.org/drawingml/2006/main">
            <a:off x="4754880" y="3749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结合模型状态与任务上下文监督执行边界</a:t>
            </a:r>
          </a:p>
        </p:txBody>
      </p:sp>
      <p:sp>
        <p:nvSpPr>
          <p:cNvPr id="13" name="Rounded Rectangle 12">
            <a:extLst xmlns:a="http://schemas.openxmlformats.org/drawingml/2006/main">
              <a:ext uri="{FF2B5EF4-FFF2-40B4-BE49-F238E27FC236}">
                <a16:creationId xmlns:a16="http://schemas.microsoft.com/office/drawing/2014/main" id="{DBE5C129-5C80-45CD-9D72-F05F9838C16F}"/>
              </a:ext>
            </a:extLst>
          </p:cNvPr>
          <p:cNvSpPr>
            <a:spLocks xmlns:a="http://schemas.openxmlformats.org/drawingml/2006/main" noGrp="1"/>
          </p:cNvSpPr>
          <p:nvPr/>
        </p:nvSpPr>
        <p:spPr>
          <a:xfrm xmlns:a="http://schemas.openxmlformats.org/drawingml/2006/main">
            <a:off x="1097280" y="4663440"/>
            <a:ext cx="9966960" cy="1005840"/>
          </a:xfrm>
          <a:prstGeom xmlns:a="http://schemas.openxmlformats.org/drawingml/2006/main" prst="roundRect">
            <a:avLst/>
          </a:prstGeom>
          <a:solidFill xmlns:a="http://schemas.openxmlformats.org/drawingml/2006/main">
            <a:srgbClr val="D6E6F5"/>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DB78EF2E-4233-4A58-B807-2A3E18B186E3}"/>
              </a:ext>
            </a:extLst>
          </p:cNvPr>
          <p:cNvSpPr>
            <a:spLocks xmlns:a="http://schemas.openxmlformats.org/drawingml/2006/main" noGrp="1"/>
          </p:cNvSpPr>
          <p:nvPr/>
        </p:nvSpPr>
        <p:spPr>
          <a:xfrm xmlns:a="http://schemas.openxmlformats.org/drawingml/2006/main">
            <a:off x="1371600" y="4800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Π 协议</a:t>
            </a:r>
            <a:endParaRPr sz="2000" b="1">
              <a:solidFill>
                <a:srgbClr val="1A3A5C"/>
              </a:solidFill>
              <a:latin typeface="微软雅黑"/>
              <a:ea typeface="微软雅黑"/>
              <a:cs typeface="微软雅黑"/>
            </a:endParaRPr>
          </a:p>
        </p:txBody>
      </p:sp>
      <p:sp>
        <p:nvSpPr>
          <p:cNvPr id="15" name="TextBox 14">
            <a:extLst xmlns:a="http://schemas.openxmlformats.org/drawingml/2006/main">
              <a:ext uri="{FF2B5EF4-FFF2-40B4-BE49-F238E27FC236}">
                <a16:creationId xmlns:a16="http://schemas.microsoft.com/office/drawing/2014/main" id="{26D64AB3-E14C-4C28-9EAA-2ED047AEEF6B}"/>
              </a:ext>
            </a:extLst>
          </p:cNvPr>
          <p:cNvSpPr>
            <a:spLocks xmlns:a="http://schemas.openxmlformats.org/drawingml/2006/main" noGrp="1"/>
          </p:cNvSpPr>
          <p:nvPr/>
        </p:nvSpPr>
        <p:spPr>
          <a:xfrm xmlns:a="http://schemas.openxmlformats.org/drawingml/2006/main">
            <a:off x="4754880" y="4892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约定控制信号、数据端口与执行反馈</a:t>
            </a:r>
          </a:p>
        </p:txBody>
      </p:sp>
      <p:sp>
        <p:nvSpPr>
          <p:cNvPr id="16" name="TextBox 15">
            <a:extLst xmlns:a="http://schemas.openxmlformats.org/drawingml/2006/main">
              <a:ext uri="{FF2B5EF4-FFF2-40B4-BE49-F238E27FC236}">
                <a16:creationId xmlns:a16="http://schemas.microsoft.com/office/drawing/2014/main" id="{46642D7E-4B01-4235-AF51-2C3F27E5BB4D}"/>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7" name="TextBox 16">
            <a:extLst xmlns:a="http://schemas.openxmlformats.org/drawingml/2006/main">
              <a:ext uri="{FF2B5EF4-FFF2-40B4-BE49-F238E27FC236}">
                <a16:creationId xmlns:a16="http://schemas.microsoft.com/office/drawing/2014/main" id="{91766548-9FCA-4D53-B49B-4956B626139C}"/>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7/15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8167011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94A7FCF-90AA-4A43-A59B-460F6397903B}"/>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6B6F955-271D-494A-9C8C-34DC837C5B7D}"/>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8  资源层</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13299101-FB0B-43BB-B5DE-E99EE818698D}"/>
              </a:ext>
            </a:extLst>
          </p:cNvPr>
          <p:cNvSpPr>
            <a:spLocks xmlns:a="http://schemas.openxmlformats.org/drawingml/2006/main" noGrp="1"/>
          </p:cNvSpPr>
          <p:nvPr/>
        </p:nvSpPr>
        <p:spPr>
          <a:xfrm xmlns:a="http://schemas.openxmlformats.org/drawingml/2006/main">
            <a:off x="548640" y="1188720"/>
            <a:ext cx="6858000" cy="4572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8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每台设备建成对象模型，由能力模型与状态机构成。</a:t>
            </a:r>
          </a:p>
          <a:p xmlns:a="http://schemas.openxmlformats.org/drawingml/2006/main">
            <a:pPr algn="l">
              <a:lnSpc>
                <a:spcPct val="118000"/>
              </a:lnSpc>
              <a:spcBef>
                <a:spcPts val="0"/>
              </a:spcBef>
              <a:spcAft>
                <a:spcPts val="18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能力模型定义属性、能力、适配器契约、端口与内禀约束。</a:t>
            </a:r>
          </a:p>
          <a:p xmlns:a="http://schemas.openxmlformats.org/drawingml/2006/main">
            <a:pPr algn="l">
              <a:lnSpc>
                <a:spcPct val="118000"/>
              </a:lnSpc>
              <a:spcBef>
                <a:spcPts val="0"/>
              </a:spcBef>
              <a:spcAft>
                <a:spcPts val="18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状态机接收信号，经适配器发令并回收反馈。内禀约束破坏时进入异常状态。</a:t>
            </a:r>
          </a:p>
          <a:p xmlns:a="http://schemas.openxmlformats.org/drawingml/2006/main">
            <a:pPr algn="l">
              <a:lnSpc>
                <a:spcPct val="118000"/>
              </a:lnSpc>
              <a:spcBef>
                <a:spcPts val="0"/>
              </a:spcBef>
              <a:spcAft>
                <a:spcPts val="18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流程、人和大模型的设备控制请求，</a:t>
            </a:r>
            <a:r>
              <a:rPr sz="1800" b="1">
                <a:solidFill>
                  <a:srgbClr val="1C3C5D"/>
                </a:solidFill>
                <a:latin typeface="微软雅黑"/>
                <a:ea typeface="微软雅黑"/>
                <a:cs typeface="微软雅黑"/>
              </a:rPr>
              <a:t>都必须经过状态机</a:t>
            </a:r>
            <a:r>
              <a:rPr sz="1800" b="0">
                <a:solidFill>
                  <a:srgbClr val="303030"/>
                </a:solidFill>
                <a:latin typeface="微软雅黑"/>
                <a:ea typeface="微软雅黑"/>
                <a:cs typeface="微软雅黑"/>
              </a:rPr>
              <a:t>。</a:t>
            </a:r>
          </a:p>
        </p:txBody>
      </p:sp>
      <p:sp>
        <p:nvSpPr>
          <p:cNvPr id="5" name="Rounded Rectangle 4">
            <a:extLst xmlns:a="http://schemas.openxmlformats.org/drawingml/2006/main">
              <a:ext uri="{FF2B5EF4-FFF2-40B4-BE49-F238E27FC236}">
                <a16:creationId xmlns:a16="http://schemas.microsoft.com/office/drawing/2014/main" id="{B4CA204E-5922-44F4-AF97-4A4E3E34D3C4}"/>
              </a:ext>
            </a:extLst>
          </p:cNvPr>
          <p:cNvSpPr>
            <a:spLocks xmlns:a="http://schemas.openxmlformats.org/drawingml/2006/main" noGrp="1"/>
          </p:cNvSpPr>
          <p:nvPr/>
        </p:nvSpPr>
        <p:spPr>
          <a:xfrm xmlns:a="http://schemas.openxmlformats.org/drawingml/2006/main">
            <a:off x="7589520" y="1371600"/>
            <a:ext cx="4114800" cy="4389120"/>
          </a:xfrm>
          <a:prstGeom xmlns:a="http://schemas.openxmlformats.org/drawingml/2006/main" prst="roundRect">
            <a:avLst/>
          </a:prstGeom>
          <a:solidFill xmlns:a="http://schemas.openxmlformats.org/drawingml/2006/main">
            <a:srgbClr val="D6E6F5"/>
          </a:solidFill>
          <a:ln xmlns:a="http://schemas.openxmlformats.org/drawingml/2006/main" w="19050">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设备对象模型</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能力模型</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定义可用能力、参数与端口</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状态机</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管理状态演化、发令与反馈</a:t>
            </a:r>
          </a:p>
        </p:txBody>
      </p:sp>
      <p:sp>
        <p:nvSpPr>
          <p:cNvPr id="6" name="TextBox 5">
            <a:extLst xmlns:a="http://schemas.openxmlformats.org/drawingml/2006/main">
              <a:ext uri="{FF2B5EF4-FFF2-40B4-BE49-F238E27FC236}">
                <a16:creationId xmlns:a16="http://schemas.microsoft.com/office/drawing/2014/main" id="{872C22E5-345A-4C5B-84E1-6CE6E2511128}"/>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7034F3B0-DC9C-4B8B-AD4A-E5E1AADFE248}"/>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8/15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20906474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EFB015B-0AC2-4375-B396-EC594F9CE3CA}"/>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B2D7CB1-0F5E-4F18-89EB-41A3EFD9ABE2}"/>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9  工作流层与触发器</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42274A3A-A8DA-4C0F-92EF-C85F631CF662}"/>
              </a:ext>
            </a:extLst>
          </p:cNvPr>
          <p:cNvSpPr>
            <a:spLocks xmlns:a="http://schemas.openxmlformats.org/drawingml/2006/main" noGrp="1"/>
          </p:cNvSpPr>
          <p:nvPr/>
        </p:nvSpPr>
        <p:spPr>
          <a:xfrm xmlns:a="http://schemas.openxmlformats.org/drawingml/2006/main">
            <a:off x="548640" y="1188720"/>
            <a:ext cx="10972800" cy="4572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接口传递控制信号，端口传递实验数据。</a:t>
            </a:r>
          </a:p>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工作流通过约定接口与状态机交互，每个执行节点绑定设备的一项能力。</a:t>
            </a:r>
          </a:p>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功能节点处理分支、同步和等待，明确任务步骤及数据依赖。</a:t>
            </a:r>
          </a:p>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节点生命周期反映任务进度，设备状态机管理设备自身状态。</a:t>
            </a:r>
          </a:p>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节点触发器在条件满足时执行动作，使条件分支接入统一执行链路。</a:t>
            </a:r>
          </a:p>
        </p:txBody>
      </p:sp>
      <p:sp>
        <p:nvSpPr>
          <p:cNvPr id="5" name="TextBox 4">
            <a:extLst xmlns:a="http://schemas.openxmlformats.org/drawingml/2006/main">
              <a:ext uri="{FF2B5EF4-FFF2-40B4-BE49-F238E27FC236}">
                <a16:creationId xmlns:a16="http://schemas.microsoft.com/office/drawing/2014/main" id="{6B671BB5-68C1-40CE-8322-D04B2FFCA961}"/>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67497B97-1CF4-40A7-B28F-62B2D5357BAE}"/>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9/15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02882206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AFC6F03-03A4-49D8-8EB4-4CA1D7224EA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C2C8577-8ED3-4077-B2BB-07103EFEAFD0}"/>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10  约束层</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7D6170B0-6B44-4072-A053-048CAB6BC599}"/>
              </a:ext>
            </a:extLst>
          </p:cNvPr>
          <p:cNvSpPr>
            <a:spLocks xmlns:a="http://schemas.openxmlformats.org/drawingml/2006/main" noGrp="1"/>
          </p:cNvSpPr>
          <p:nvPr/>
        </p:nvSpPr>
        <p:spPr>
          <a:xfrm xmlns:a="http://schemas.openxmlformats.org/drawingml/2006/main">
            <a:off x="457200" y="1143000"/>
            <a:ext cx="6583680" cy="4572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000"/>
              </a:spcAft>
              <a:buNone/>
            </a:pPr>
            <a:r>
              <a:rPr sz="1700" b="0">
                <a:solidFill>
                  <a:srgbClr val="2D2D2D"/>
                </a:solidFill>
                <a:latin typeface="微软雅黑"/>
                <a:ea typeface="微软雅黑"/>
                <a:cs typeface="微软雅黑"/>
              </a:rPr>
              <a:t>• 三层约束：</a:t>
            </a:r>
            <a:endParaRPr sz="1700" b="0">
              <a:solidFill>
                <a:srgbClr val="2D2D2D"/>
              </a:solidFill>
              <a:latin typeface="微软雅黑"/>
              <a:ea typeface="微软雅黑"/>
              <a:cs typeface="微软雅黑"/>
            </a:endParaRPr>
          </a:p>
          <a:p xmlns:a="http://schemas.openxmlformats.org/drawingml/2006/main">
            <a:pPr lvl="1" algn="l">
              <a:spcAft>
                <a:spcPts val="1000"/>
              </a:spcAft>
              <a:buNone/>
            </a:pPr>
            <a:r>
              <a:rPr sz="1500" b="0">
                <a:solidFill>
                  <a:srgbClr val="2D2D2D"/>
                </a:solidFill>
                <a:latin typeface="微软雅黑"/>
                <a:ea typeface="微软雅黑"/>
                <a:cs typeface="微软雅黑"/>
              </a:rPr>
              <a:t>– 内禀约束 —— 状态机本地处理</a:t>
            </a:r>
            <a:endParaRPr sz="1500" b="0">
              <a:solidFill>
                <a:srgbClr val="2D2D2D"/>
              </a:solidFill>
              <a:latin typeface="微软雅黑"/>
              <a:ea typeface="微软雅黑"/>
              <a:cs typeface="微软雅黑"/>
            </a:endParaRPr>
          </a:p>
          <a:p xmlns:a="http://schemas.openxmlformats.org/drawingml/2006/main">
            <a:pPr lvl="1" algn="l">
              <a:spcAft>
                <a:spcPts val="1000"/>
              </a:spcAft>
              <a:buNone/>
            </a:pPr>
            <a:r>
              <a:rPr sz="1500" b="0">
                <a:solidFill>
                  <a:srgbClr val="2D2D2D"/>
                </a:solidFill>
                <a:latin typeface="微软雅黑"/>
                <a:ea typeface="微软雅黑"/>
                <a:cs typeface="微软雅黑"/>
              </a:rPr>
              <a:t>– 实验室基线约束 —— 常开</a:t>
            </a:r>
            <a:endParaRPr sz="1500" b="0">
              <a:solidFill>
                <a:srgbClr val="2D2D2D"/>
              </a:solidFill>
              <a:latin typeface="微软雅黑"/>
              <a:ea typeface="微软雅黑"/>
              <a:cs typeface="微软雅黑"/>
            </a:endParaRPr>
          </a:p>
          <a:p xmlns:a="http://schemas.openxmlformats.org/drawingml/2006/main">
            <a:pPr lvl="1" algn="l">
              <a:spcAft>
                <a:spcPts val="1000"/>
              </a:spcAft>
              <a:buNone/>
            </a:pPr>
            <a:r>
              <a:rPr sz="1500" b="0">
                <a:solidFill>
                  <a:srgbClr val="2D2D2D"/>
                </a:solidFill>
                <a:latin typeface="微软雅黑"/>
                <a:ea typeface="微软雅黑"/>
                <a:cs typeface="微软雅黑"/>
              </a:rPr>
              <a:t>– 任务约束 —— 仅在任务期生效</a:t>
            </a:r>
            <a:endParaRPr sz="1500" b="0">
              <a:solidFill>
                <a:srgbClr val="2D2D2D"/>
              </a:solidFill>
              <a:latin typeface="微软雅黑"/>
              <a:ea typeface="微软雅黑"/>
              <a:cs typeface="微软雅黑"/>
            </a:endParaRPr>
          </a:p>
          <a:p xmlns:a="http://schemas.openxmlformats.org/drawingml/2006/main">
            <a:pPr algn="l">
              <a:spcAft>
                <a:spcPts val="1000"/>
              </a:spcAft>
              <a:buNone/>
            </a:pPr>
            <a:r>
              <a:rPr sz="1700" b="0">
                <a:solidFill>
                  <a:srgbClr val="2D2D2D"/>
                </a:solidFill>
                <a:latin typeface="微软雅黑"/>
                <a:ea typeface="微软雅黑"/>
                <a:cs typeface="微软雅黑"/>
              </a:rPr>
              <a:t>• 观察空间同时来自资源侧与工作流侧</a:t>
            </a:r>
            <a:endParaRPr sz="1700" b="0">
              <a:solidFill>
                <a:srgbClr val="2D2D2D"/>
              </a:solidFill>
              <a:latin typeface="微软雅黑"/>
              <a:ea typeface="微软雅黑"/>
              <a:cs typeface="微软雅黑"/>
            </a:endParaRPr>
          </a:p>
          <a:p xmlns:a="http://schemas.openxmlformats.org/drawingml/2006/main">
            <a:pPr algn="l">
              <a:spcAft>
                <a:spcPts val="1000"/>
              </a:spcAft>
              <a:buNone/>
            </a:pPr>
            <a:r>
              <a:rPr sz="1700" b="0">
                <a:solidFill>
                  <a:srgbClr val="2D2D2D"/>
                </a:solidFill>
                <a:latin typeface="微软雅黑"/>
                <a:ea typeface="微软雅黑"/>
                <a:cs typeface="微软雅黑"/>
              </a:rPr>
              <a:t>• 处理：警告 / 报警 / 停止 / 中止</a:t>
            </a:r>
            <a:endParaRPr sz="1700" b="0">
              <a:solidFill>
                <a:srgbClr val="2D2D2D"/>
              </a:solidFill>
              <a:latin typeface="微软雅黑"/>
              <a:ea typeface="微软雅黑"/>
              <a:cs typeface="微软雅黑"/>
            </a:endParaRPr>
          </a:p>
          <a:p xmlns:a="http://schemas.openxmlformats.org/drawingml/2006/main">
            <a:pPr algn="l">
              <a:spcAft>
                <a:spcPts val="1000"/>
              </a:spcAft>
              <a:buNone/>
            </a:pPr>
            <a:r>
              <a:rPr sz="1700" b="1">
                <a:solidFill>
                  <a:srgbClr val="2D2D2D"/>
                </a:solidFill>
                <a:latin typeface="微软雅黑"/>
                <a:ea typeface="微软雅黑"/>
                <a:cs typeface="微软雅黑"/>
              </a:rPr>
              <a:t>• 约束与执行链路同属一套方法，而非外挂脚本</a:t>
            </a:r>
            <a:endParaRPr sz="1700" b="1">
              <a:solidFill>
                <a:srgbClr val="2D2D2D"/>
              </a:solidFill>
              <a:latin typeface="微软雅黑"/>
              <a:ea typeface="微软雅黑"/>
              <a:cs typeface="微软雅黑"/>
            </a:endParaRPr>
          </a:p>
        </p:txBody>
      </p:sp>
      <p:sp>
        <p:nvSpPr>
          <p:cNvPr id="5" name="Rounded Rectangle 4">
            <a:extLst xmlns:a="http://schemas.openxmlformats.org/drawingml/2006/main">
              <a:ext uri="{FF2B5EF4-FFF2-40B4-BE49-F238E27FC236}">
                <a16:creationId xmlns:a16="http://schemas.microsoft.com/office/drawing/2014/main" id="{EBC1A606-C1FB-49E5-8ADA-BCE8CDCAF95F}"/>
              </a:ext>
            </a:extLst>
          </p:cNvPr>
          <p:cNvSpPr>
            <a:spLocks xmlns:a="http://schemas.openxmlformats.org/drawingml/2006/main" noGrp="1"/>
          </p:cNvSpPr>
          <p:nvPr/>
        </p:nvSpPr>
        <p:spPr>
          <a:xfrm xmlns:a="http://schemas.openxmlformats.org/drawingml/2006/main">
            <a:off x="7315200" y="1280160"/>
            <a:ext cx="4389120" cy="4572000"/>
          </a:xfrm>
          <a:prstGeom xmlns:a="http://schemas.openxmlformats.org/drawingml/2006/main" prst="roundRect">
            <a:avLst/>
          </a:prstGeom>
          <a:solidFill xmlns:a="http://schemas.openxmlformats.org/drawingml/2006/main">
            <a:srgbClr val="D6E6F5"/>
          </a:solidFill>
          <a:ln xmlns:a="http://schemas.openxmlformats.org/drawingml/2006/main" w="19050">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内禀约束</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设备状态机本地处理</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实验室基线约束</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持续监督实验室运行</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任务约束</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在任务执行期间生效</a:t>
            </a:r>
          </a:p>
        </p:txBody>
      </p:sp>
      <p:sp>
        <p:nvSpPr>
          <p:cNvPr id="6" name="TextBox 5">
            <a:extLst xmlns:a="http://schemas.openxmlformats.org/drawingml/2006/main">
              <a:ext uri="{FF2B5EF4-FFF2-40B4-BE49-F238E27FC236}">
                <a16:creationId xmlns:a16="http://schemas.microsoft.com/office/drawing/2014/main" id="{AE4616B2-5401-4B5C-9052-F6431BD2E4E2}"/>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88344C7A-A4AF-4C74-B7FE-8CD38F6F97C6}"/>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10/15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68847301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B27CB85-55C8-43AF-9304-B7FA6028AB0A}"/>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8A869FD-6C18-4E93-9D47-26F99429154B}"/>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11  实现案例：反应釜加热</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6A9C3858-BBBB-437A-8965-20E0F8C0ADDD}"/>
              </a:ext>
            </a:extLst>
          </p:cNvPr>
          <p:cNvSpPr>
            <a:spLocks xmlns:a="http://schemas.openxmlformats.org/drawingml/2006/main" noGrp="1"/>
          </p:cNvSpPr>
          <p:nvPr/>
        </p:nvSpPr>
        <p:spPr>
          <a:xfrm xmlns:a="http://schemas.openxmlformats.org/drawingml/2006/main">
            <a:off x="457200" y="1097280"/>
            <a:ext cx="1124712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2E75B6"/>
                </a:solidFill>
                <a:latin typeface="微软雅黑"/>
                <a:ea typeface="微软雅黑"/>
                <a:cs typeface="微软雅黑"/>
              </a:rPr>
              <a:t>目的：说明链路可实例化、可执行（不是性能对比）</a:t>
            </a:r>
            <a:endParaRPr sz="1500" b="1">
              <a:solidFill>
                <a:srgbClr val="2E75B6"/>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C63A3A77-AB65-4240-A284-F8088DA2673D}"/>
              </a:ext>
            </a:extLst>
          </p:cNvPr>
          <p:cNvSpPr>
            <a:spLocks xmlns:a="http://schemas.openxmlformats.org/drawingml/2006/main" noGrp="1"/>
          </p:cNvSpPr>
          <p:nvPr/>
        </p:nvSpPr>
        <p:spPr>
          <a:xfrm xmlns:a="http://schemas.openxmlformats.org/drawingml/2006/main">
            <a:off x="457200" y="1554480"/>
            <a:ext cx="68580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200"/>
              </a:spcAft>
              <a:buNone/>
            </a:pPr>
            <a:r>
              <a:rPr sz="1600" b="0">
                <a:solidFill>
                  <a:srgbClr val="2D2D2D"/>
                </a:solidFill>
                <a:latin typeface="微软雅黑"/>
                <a:ea typeface="微软雅黑"/>
                <a:cs typeface="微软雅黑"/>
              </a:rPr>
              <a:t>• 加热节点发出执行信号 → 反应釜状态机 → 适配器加热</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温度与状态回传 → 节点完成并激活后续</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约束可在任务温度越界或设备异常时介入</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原型 SmartLab 2.0：工作流引擎 → 接口 → 状态机引擎 → MQTT 适配器 → 设备</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语义在模型与引擎中；适配器做协议翻译，不承担旁路模型的总控</a:t>
            </a:r>
            <a:endParaRPr sz="1600" b="0">
              <a:solidFill>
                <a:srgbClr val="2D2D2D"/>
              </a:solidFill>
              <a:latin typeface="微软雅黑"/>
              <a:ea typeface="微软雅黑"/>
              <a:cs typeface="微软雅黑"/>
            </a:endParaRPr>
          </a:p>
        </p:txBody>
      </p:sp>
      <p:sp>
        <p:nvSpPr>
          <p:cNvPr id="6" name="Rounded Rectangle 5">
            <a:extLst xmlns:a="http://schemas.openxmlformats.org/drawingml/2006/main">
              <a:ext uri="{FF2B5EF4-FFF2-40B4-BE49-F238E27FC236}">
                <a16:creationId xmlns:a16="http://schemas.microsoft.com/office/drawing/2014/main" id="{CF4A47D6-BF6C-4939-B261-8B184F98CF0B}"/>
              </a:ext>
            </a:extLst>
          </p:cNvPr>
          <p:cNvSpPr>
            <a:spLocks xmlns:a="http://schemas.openxmlformats.org/drawingml/2006/main" noGrp="1"/>
          </p:cNvSpPr>
          <p:nvPr/>
        </p:nvSpPr>
        <p:spPr>
          <a:xfrm xmlns:a="http://schemas.openxmlformats.org/drawingml/2006/main">
            <a:off x="7498079" y="1554480"/>
            <a:ext cx="4206240" cy="4206240"/>
          </a:xfrm>
          <a:prstGeom xmlns:a="http://schemas.openxmlformats.org/drawingml/2006/main" prst="roundRect">
            <a:avLst/>
          </a:prstGeom>
          <a:solidFill xmlns:a="http://schemas.openxmlformats.org/drawingml/2006/main">
            <a:srgbClr val="D6E6F5"/>
          </a:solidFill>
          <a:ln xmlns:a="http://schemas.openxmlformats.org/drawingml/2006/main" w="19050">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反应釜加热</a:t>
            </a:r>
          </a:p>
          <a:p xmlns:a="http://schemas.openxmlformats.org/drawingml/2006/main">
            <a:pPr>
              <a:spcBef>
                <a:spcPts val="0"/>
              </a:spcBef>
              <a:spcAft>
                <a:spcPts val="1000"/>
              </a:spcAft>
            </a:pPr>
            <a:r>
              <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加热节点提出请求</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状态机经 Adapter 发令</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温度与状态回传</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节点完成并激活后续</a:t>
            </a:r>
          </a:p>
          <a:p xmlns:a="http://schemas.openxmlformats.org/drawingml/2006/main">
            <a:pPr>
              <a:spcBef>
                <a:spcPts val="0"/>
              </a:spcBef>
              <a:spcAft>
                <a:spcPts val="1000"/>
              </a:spcAft>
            </a:pPr>
            <a:r>
              <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越界或异常时由约束介入</a:t>
            </a:r>
          </a:p>
        </p:txBody>
      </p:sp>
      <p:sp>
        <p:nvSpPr>
          <p:cNvPr id="7" name="TextBox 6">
            <a:extLst xmlns:a="http://schemas.openxmlformats.org/drawingml/2006/main">
              <a:ext uri="{FF2B5EF4-FFF2-40B4-BE49-F238E27FC236}">
                <a16:creationId xmlns:a16="http://schemas.microsoft.com/office/drawing/2014/main" id="{5EA28A86-C763-43A0-ACEB-B8E854EF0D11}"/>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8" name="TextBox 7">
            <a:extLst xmlns:a="http://schemas.openxmlformats.org/drawingml/2006/main">
              <a:ext uri="{FF2B5EF4-FFF2-40B4-BE49-F238E27FC236}">
                <a16:creationId xmlns:a16="http://schemas.microsoft.com/office/drawing/2014/main" id="{987E5A4A-B8A6-4AAB-A2B0-47DB1427B636}"/>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11/15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85576839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25033A-D4CA-48F2-BDCB-C2EB16676633}"/>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FFE515C-5B26-483C-A7BB-201034415CA1}"/>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12  贡献、边界与展望</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BC9BF6E0-24D4-4647-B09F-1C03934454F2}"/>
              </a:ext>
            </a:extLst>
          </p:cNvPr>
          <p:cNvSpPr>
            <a:spLocks xmlns:a="http://schemas.openxmlformats.org/drawingml/2006/main" noGrp="1"/>
          </p:cNvSpPr>
          <p:nvPr/>
        </p:nvSpPr>
        <p:spPr>
          <a:xfrm xmlns:a="http://schemas.openxmlformats.org/drawingml/2006/main">
            <a:off x="457200" y="11430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1A3A5C"/>
                </a:solidFill>
                <a:latin typeface="微软雅黑"/>
                <a:ea typeface="微软雅黑"/>
                <a:cs typeface="微软雅黑"/>
              </a:rPr>
              <a:t>贡献</a:t>
            </a:r>
            <a:endParaRPr sz="1800" b="1">
              <a:solidFill>
                <a:srgbClr val="1A3A5C"/>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871C006C-3222-43CF-BF93-DD317A9EB4AB}"/>
              </a:ext>
            </a:extLst>
          </p:cNvPr>
          <p:cNvSpPr>
            <a:spLocks xmlns:a="http://schemas.openxmlformats.org/drawingml/2006/main" noGrp="1"/>
          </p:cNvSpPr>
          <p:nvPr/>
        </p:nvSpPr>
        <p:spPr>
          <a:xfrm xmlns:a="http://schemas.openxmlformats.org/drawingml/2006/main">
            <a:off x="457200" y="1554480"/>
            <a:ext cx="10972800" cy="20116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将人的设备操作过程建模，建立经设备状态机执行的统一链路。</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在 R/F/C/Π 框架中组织模型、状态、流程与约束。</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以 SmartLab 2.0 原型和加热案例说明链路可实例化、可执行。</a:t>
            </a:r>
          </a:p>
        </p:txBody>
      </p:sp>
      <p:sp>
        <p:nvSpPr>
          <p:cNvPr id="6" name="TextBox 5">
            <a:extLst xmlns:a="http://schemas.openxmlformats.org/drawingml/2006/main">
              <a:ext uri="{FF2B5EF4-FFF2-40B4-BE49-F238E27FC236}">
                <a16:creationId xmlns:a16="http://schemas.microsoft.com/office/drawing/2014/main" id="{0CE187EC-FEDF-4DA5-95E4-DD77DA33F56B}"/>
              </a:ext>
            </a:extLst>
          </p:cNvPr>
          <p:cNvSpPr>
            <a:spLocks xmlns:a="http://schemas.openxmlformats.org/drawingml/2006/main" noGrp="1"/>
          </p:cNvSpPr>
          <p:nvPr/>
        </p:nvSpPr>
        <p:spPr>
          <a:xfrm xmlns:a="http://schemas.openxmlformats.org/drawingml/2006/main">
            <a:off x="457200" y="3657600"/>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1A3A5C"/>
                </a:solidFill>
                <a:latin typeface="微软雅黑"/>
                <a:ea typeface="微软雅黑"/>
                <a:cs typeface="微软雅黑"/>
              </a:rPr>
              <a:t>边界</a:t>
            </a:r>
            <a:endParaRPr sz="1800" b="1">
              <a:solidFill>
                <a:srgbClr val="1A3A5C"/>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9D7B6B84-3359-4D9A-A5C9-65CB276038B3}"/>
              </a:ext>
            </a:extLst>
          </p:cNvPr>
          <p:cNvSpPr>
            <a:spLocks xmlns:a="http://schemas.openxmlformats.org/drawingml/2006/main" noGrp="1"/>
          </p:cNvSpPr>
          <p:nvPr/>
        </p:nvSpPr>
        <p:spPr>
          <a:xfrm xmlns:a="http://schemas.openxmlformats.org/drawingml/2006/main">
            <a:off x="457200" y="4023360"/>
            <a:ext cx="109728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当前验证为原型与示意案例，尚缺大规模、高并发及长时程评估。</a:t>
            </a:r>
          </a:p>
        </p:txBody>
      </p:sp>
      <p:sp>
        <p:nvSpPr>
          <p:cNvPr id="8" name="TextBox 7">
            <a:extLst xmlns:a="http://schemas.openxmlformats.org/drawingml/2006/main">
              <a:ext uri="{FF2B5EF4-FFF2-40B4-BE49-F238E27FC236}">
                <a16:creationId xmlns:a16="http://schemas.microsoft.com/office/drawing/2014/main" id="{61D280C0-97CF-49F4-87B2-BBE4A76F792F}"/>
              </a:ext>
            </a:extLst>
          </p:cNvPr>
          <p:cNvSpPr>
            <a:spLocks xmlns:a="http://schemas.openxmlformats.org/drawingml/2006/main" noGrp="1"/>
          </p:cNvSpPr>
          <p:nvPr/>
        </p:nvSpPr>
        <p:spPr>
          <a:xfrm xmlns:a="http://schemas.openxmlformats.org/drawingml/2006/main">
            <a:off x="457200" y="4663440"/>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1A3A5C"/>
                </a:solidFill>
                <a:latin typeface="微软雅黑"/>
                <a:ea typeface="微软雅黑"/>
                <a:cs typeface="微软雅黑"/>
              </a:rPr>
              <a:t>展望</a:t>
            </a:r>
            <a:endParaRPr sz="1800" b="1">
              <a:solidFill>
                <a:srgbClr val="1A3A5C"/>
              </a:solidFill>
              <a:latin typeface="微软雅黑"/>
              <a:ea typeface="微软雅黑"/>
              <a:cs typeface="微软雅黑"/>
            </a:endParaRPr>
          </a:p>
        </p:txBody>
      </p:sp>
      <p:sp>
        <p:nvSpPr>
          <p:cNvPr id="9" name="TextBox 8">
            <a:extLst xmlns:a="http://schemas.openxmlformats.org/drawingml/2006/main">
              <a:ext uri="{FF2B5EF4-FFF2-40B4-BE49-F238E27FC236}">
                <a16:creationId xmlns:a16="http://schemas.microsoft.com/office/drawing/2014/main" id="{676B4E25-BACF-47EE-9C3B-2A74EEE7D2FF}"/>
              </a:ext>
            </a:extLst>
          </p:cNvPr>
          <p:cNvSpPr>
            <a:spLocks xmlns:a="http://schemas.openxmlformats.org/drawingml/2006/main" noGrp="1"/>
          </p:cNvSpPr>
          <p:nvPr/>
        </p:nvSpPr>
        <p:spPr>
          <a:xfrm xmlns:a="http://schemas.openxmlformats.org/drawingml/2006/main">
            <a:off x="457200" y="5029200"/>
            <a:ext cx="10972800" cy="827735"/>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7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扩展仿真 Adapter，形成大模型决策与反馈调整闭环。</a:t>
            </a:r>
          </a:p>
          <a:p xmlns:a="http://schemas.openxmlformats.org/drawingml/2006/main">
            <a:pPr algn="l">
              <a:lnSpc>
                <a:spcPct val="118000"/>
              </a:lnSpc>
              <a:spcBef>
                <a:spcPts val="0"/>
              </a:spcBef>
              <a:spcAft>
                <a:spcPts val="7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进一步开展多设备验证及覆盖率、复用率等量化评估。</a:t>
            </a:r>
          </a:p>
        </p:txBody>
      </p:sp>
      <p:sp>
        <p:nvSpPr>
          <p:cNvPr id="10" name="TextBox 9">
            <a:extLst xmlns:a="http://schemas.openxmlformats.org/drawingml/2006/main">
              <a:ext uri="{FF2B5EF4-FFF2-40B4-BE49-F238E27FC236}">
                <a16:creationId xmlns:a16="http://schemas.microsoft.com/office/drawing/2014/main" id="{AB08595F-4D9E-4316-9F77-73F8F9141408}"/>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5260D063-1D0E-4375-87F0-251AE5F9D01C}"/>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12/15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2931760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25033A-D4CA-48F2-BDCB-C2EB16676633}"/>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FFE515C-5B26-483C-A7BB-201034415CA1}"/>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13  扩展：仿真闭环与上机条件</a:t>
            </a:r>
          </a:p>
        </p:txBody>
      </p:sp>
      <p:sp>
        <p:nvSpPr>
          <p:cNvPr id="4" name="TextBox 3">
            <a:extLst xmlns:a="http://schemas.openxmlformats.org/drawingml/2006/main">
              <a:ext uri="{FF2B5EF4-FFF2-40B4-BE49-F238E27FC236}">
                <a16:creationId xmlns:a16="http://schemas.microsoft.com/office/drawing/2014/main" id="{BC9BF6E0-24D4-4647-B09F-1C03934454F2}"/>
              </a:ext>
            </a:extLst>
          </p:cNvPr>
          <p:cNvSpPr>
            <a:spLocks xmlns:a="http://schemas.openxmlformats.org/drawingml/2006/main" noGrp="1"/>
          </p:cNvSpPr>
          <p:nvPr/>
        </p:nvSpPr>
        <p:spPr>
          <a:xfrm xmlns:a="http://schemas.openxmlformats.org/drawingml/2006/main">
            <a:off x="457200" y="1143000"/>
            <a:ext cx="10972800" cy="4421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Adapter 区分仿真执行与实机执行</a:t>
            </a:r>
          </a:p>
        </p:txBody>
      </p:sp>
      <p:sp>
        <p:nvSpPr>
          <p:cNvPr id="5" name="TextBox 4">
            <a:extLst xmlns:a="http://schemas.openxmlformats.org/drawingml/2006/main">
              <a:ext uri="{FF2B5EF4-FFF2-40B4-BE49-F238E27FC236}">
                <a16:creationId xmlns:a16="http://schemas.microsoft.com/office/drawing/2014/main" id="{871C006C-3222-43CF-BF93-DD317A9EB4AB}"/>
              </a:ext>
            </a:extLst>
          </p:cNvPr>
          <p:cNvSpPr>
            <a:spLocks xmlns:a="http://schemas.openxmlformats.org/drawingml/2006/main" noGrp="1"/>
          </p:cNvSpPr>
          <p:nvPr/>
        </p:nvSpPr>
        <p:spPr>
          <a:xfrm xmlns:a="http://schemas.openxmlformats.org/drawingml/2006/main">
            <a:off x="457200" y="1600200"/>
            <a:ext cx="10972800" cy="14287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仿真执行：接入仿真环境，返回模拟状态与实验数据。</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实机执行：接入物理设备，返回实际状态与实验数据。</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两种执行模式沿用同一套设备模型、状态机、工作流与约束。</a:t>
            </a:r>
          </a:p>
        </p:txBody>
      </p:sp>
      <p:sp>
        <p:nvSpPr>
          <p:cNvPr id="6" name="TextBox 5">
            <a:extLst xmlns:a="http://schemas.openxmlformats.org/drawingml/2006/main">
              <a:ext uri="{FF2B5EF4-FFF2-40B4-BE49-F238E27FC236}">
                <a16:creationId xmlns:a16="http://schemas.microsoft.com/office/drawing/2014/main" id="{0CE187EC-FEDF-4DA5-95E4-DD77DA33F56B}"/>
              </a:ext>
            </a:extLst>
          </p:cNvPr>
          <p:cNvSpPr>
            <a:spLocks xmlns:a="http://schemas.openxmlformats.org/drawingml/2006/main" noGrp="1"/>
          </p:cNvSpPr>
          <p:nvPr/>
        </p:nvSpPr>
        <p:spPr>
          <a:xfrm xmlns:a="http://schemas.openxmlformats.org/drawingml/2006/main">
            <a:off x="457200" y="3209925"/>
            <a:ext cx="10972800" cy="3619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大模型决策与反馈调整闭环</a:t>
            </a:r>
          </a:p>
        </p:txBody>
      </p:sp>
      <p:sp>
        <p:nvSpPr>
          <p:cNvPr id="7" name="TextBox 6">
            <a:extLst xmlns:a="http://schemas.openxmlformats.org/drawingml/2006/main">
              <a:ext uri="{FF2B5EF4-FFF2-40B4-BE49-F238E27FC236}">
                <a16:creationId xmlns:a16="http://schemas.microsoft.com/office/drawing/2014/main" id="{9D7B6B84-3359-4D9A-A5C9-65CB276038B3}"/>
              </a:ext>
            </a:extLst>
          </p:cNvPr>
          <p:cNvSpPr>
            <a:spLocks xmlns:a="http://schemas.openxmlformats.org/drawingml/2006/main" noGrp="1"/>
          </p:cNvSpPr>
          <p:nvPr/>
        </p:nvSpPr>
        <p:spPr>
          <a:xfrm xmlns:a="http://schemas.openxmlformats.org/drawingml/2006/main">
            <a:off x="457200" y="3638550"/>
            <a:ext cx="10972800" cy="10668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10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大模型决策 → 提出控制请求 → 统一链路 → 仿真执行</a:t>
            </a:r>
          </a:p>
          <a:p xmlns:a="http://schemas.openxmlformats.org/drawingml/2006/main">
            <a:pPr algn="l">
              <a:lnSpc>
                <a:spcPct val="118000"/>
              </a:lnSpc>
              <a:spcBef>
                <a:spcPts val="0"/>
              </a:spcBef>
              <a:spcAft>
                <a:spcPts val="110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模拟反馈 → 大模型调整 → 再次决策与仿真</a:t>
            </a:r>
          </a:p>
        </p:txBody>
      </p:sp>
      <p:sp>
        <p:nvSpPr>
          <p:cNvPr id="8" name="TextBox 7">
            <a:extLst xmlns:a="http://schemas.openxmlformats.org/drawingml/2006/main">
              <a:ext uri="{FF2B5EF4-FFF2-40B4-BE49-F238E27FC236}">
                <a16:creationId xmlns:a16="http://schemas.microsoft.com/office/drawing/2014/main" id="{61D280C0-97CF-49F4-87B2-BBE4A76F792F}"/>
              </a:ext>
            </a:extLst>
          </p:cNvPr>
          <p:cNvSpPr>
            <a:spLocks xmlns:a="http://schemas.openxmlformats.org/drawingml/2006/main" noGrp="1"/>
          </p:cNvSpPr>
          <p:nvPr/>
        </p:nvSpPr>
        <p:spPr>
          <a:xfrm xmlns:a="http://schemas.openxmlformats.org/drawingml/2006/main">
            <a:off x="457200" y="4867275"/>
            <a:ext cx="10972800" cy="3619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满足预设条件后进入实机执行</a:t>
            </a:r>
          </a:p>
        </p:txBody>
      </p:sp>
      <p:sp>
        <p:nvSpPr>
          <p:cNvPr id="9" name="TextBox 8">
            <a:extLst xmlns:a="http://schemas.openxmlformats.org/drawingml/2006/main">
              <a:ext uri="{FF2B5EF4-FFF2-40B4-BE49-F238E27FC236}">
                <a16:creationId xmlns:a16="http://schemas.microsoft.com/office/drawing/2014/main" id="{676B4E25-BACF-47EE-9C3B-2A74EEE7D2FF}"/>
              </a:ext>
            </a:extLst>
          </p:cNvPr>
          <p:cNvSpPr>
            <a:spLocks xmlns:a="http://schemas.openxmlformats.org/drawingml/2006/main" noGrp="1"/>
          </p:cNvSpPr>
          <p:nvPr/>
        </p:nvSpPr>
        <p:spPr>
          <a:xfrm xmlns:a="http://schemas.openxmlformats.org/drawingml/2006/main">
            <a:off x="457200" y="5286375"/>
            <a:ext cx="10972800" cy="866775"/>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9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依据仿真结果、约束检查与上机准入条件决定是否执行。</a:t>
            </a:r>
          </a:p>
          <a:p xmlns:a="http://schemas.openxmlformats.org/drawingml/2006/main">
            <a:pPr algn="l">
              <a:lnSpc>
                <a:spcPct val="118000"/>
              </a:lnSpc>
              <a:spcBef>
                <a:spcPts val="0"/>
              </a:spcBef>
              <a:spcAft>
                <a:spcPts val="9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切换到实机后，控制请求仍须经过相同的状态机与约束检查。</a:t>
            </a:r>
          </a:p>
        </p:txBody>
      </p:sp>
      <p:sp>
        <p:nvSpPr>
          <p:cNvPr id="10" name="TextBox 9">
            <a:extLst xmlns:a="http://schemas.openxmlformats.org/drawingml/2006/main">
              <a:ext uri="{FF2B5EF4-FFF2-40B4-BE49-F238E27FC236}">
                <a16:creationId xmlns:a16="http://schemas.microsoft.com/office/drawing/2014/main" id="{AB08595F-4D9E-4316-9F77-73F8F9141408}"/>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5260D063-1D0E-4375-87F0-251AE5F9D01C}"/>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13/15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2931760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12B71D5-E4C1-4847-B96E-4FA452B3774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386F66A-581B-4598-B506-5F72CD56AD26}"/>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14  总结</a:t>
            </a:r>
          </a:p>
        </p:txBody>
      </p:sp>
      <p:sp>
        <p:nvSpPr>
          <p:cNvPr id="4" name="Rounded Rectangle 3">
            <a:extLst xmlns:a="http://schemas.openxmlformats.org/drawingml/2006/main">
              <a:ext uri="{FF2B5EF4-FFF2-40B4-BE49-F238E27FC236}">
                <a16:creationId xmlns:a16="http://schemas.microsoft.com/office/drawing/2014/main" id="{5E5BA2A6-3D81-46F3-A1A2-5529B66DB354}"/>
              </a:ext>
            </a:extLst>
          </p:cNvPr>
          <p:cNvSpPr>
            <a:spLocks xmlns:a="http://schemas.openxmlformats.org/drawingml/2006/main" noGrp="1"/>
          </p:cNvSpPr>
          <p:nvPr/>
        </p:nvSpPr>
        <p:spPr>
          <a:xfrm xmlns:a="http://schemas.openxmlformats.org/drawingml/2006/main">
            <a:off x="914400" y="1645920"/>
            <a:ext cx="10332720" cy="320040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B1F3FD23-3EE7-4B41-B31B-C449A662BAE2}"/>
              </a:ext>
            </a:extLst>
          </p:cNvPr>
          <p:cNvSpPr>
            <a:spLocks xmlns:a="http://schemas.openxmlformats.org/drawingml/2006/main" noGrp="1"/>
          </p:cNvSpPr>
          <p:nvPr/>
        </p:nvSpPr>
        <p:spPr>
          <a:xfrm xmlns:a="http://schemas.openxmlformats.org/drawingml/2006/main">
            <a:off x="1280160" y="1920240"/>
            <a:ext cx="9601200" cy="28003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设备操作过程进入模型，流程通过能力模型与状态机控制设备。</a:t>
            </a:r>
          </a:p>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流程、人和大模型共用同一执行链路，</a:t>
            </a:r>
            <a:r>
              <a:rPr sz="2025" b="1">
                <a:solidFill>
                  <a:srgbClr val="1C3C5D"/>
                </a:solidFill>
                <a:latin typeface="微软雅黑"/>
                <a:ea typeface="微软雅黑"/>
                <a:cs typeface="微软雅黑"/>
              </a:rPr>
              <a:t>没有特权旁路</a:t>
            </a:r>
            <a:r>
              <a:rPr sz="2025" b="0">
                <a:solidFill>
                  <a:srgbClr val="303030"/>
                </a:solidFill>
                <a:latin typeface="微软雅黑"/>
                <a:ea typeface="微软雅黑"/>
                <a:cs typeface="微软雅黑"/>
              </a:rPr>
              <a:t>。</a:t>
            </a:r>
          </a:p>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模型、状态、流程与约束共同界定设备执行的能力边界。</a:t>
            </a:r>
          </a:p>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在此基础上扩展仿真反馈闭环，满足上机条件后进入实机执行。</a:t>
            </a:r>
          </a:p>
        </p:txBody>
      </p:sp>
      <p:sp>
        <p:nvSpPr>
          <p:cNvPr id="6" name="TextBox 5">
            <a:extLst xmlns:a="http://schemas.openxmlformats.org/drawingml/2006/main">
              <a:ext uri="{FF2B5EF4-FFF2-40B4-BE49-F238E27FC236}">
                <a16:creationId xmlns:a16="http://schemas.microsoft.com/office/drawing/2014/main" id="{C5228686-41D1-494F-ACC9-0FC1540CF1A6}"/>
              </a:ext>
            </a:extLst>
          </p:cNvPr>
          <p:cNvSpPr>
            <a:spLocks xmlns:a="http://schemas.openxmlformats.org/drawingml/2006/main" noGrp="1"/>
          </p:cNvSpPr>
          <p:nvPr/>
        </p:nvSpPr>
        <p:spPr>
          <a:xfrm xmlns:a="http://schemas.openxmlformats.org/drawingml/2006/main">
            <a:off x="914400" y="5120640"/>
            <a:ext cx="103327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200" b="1">
                <a:solidFill>
                  <a:srgbClr val="1A3A5C"/>
                </a:solidFill>
                <a:latin typeface="微软雅黑"/>
                <a:ea typeface="微软雅黑"/>
                <a:cs typeface="微软雅黑"/>
              </a:rPr>
              <a:t>谢谢各位，欢迎提问。</a:t>
            </a:r>
            <a:endParaRPr sz="2200" b="1">
              <a:solidFill>
                <a:srgbClr val="1A3A5C"/>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17763E56-E0C0-48F0-B0B3-5F12994E7611}"/>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8" name="TextBox 7">
            <a:extLst xmlns:a="http://schemas.openxmlformats.org/drawingml/2006/main">
              <a:ext uri="{FF2B5EF4-FFF2-40B4-BE49-F238E27FC236}">
                <a16:creationId xmlns:a16="http://schemas.microsoft.com/office/drawing/2014/main" id="{BAE642F9-B282-4741-8019-EDB273CB63D1}"/>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14/15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55515315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8AB7EE8-E28F-4006-A110-4954EF6548D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2A0842F-1B19-4FF8-890E-09C298592E15}"/>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Q&amp;A  备用短答</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88BF6DDC-7895-4ED5-A934-CAAB85ACA363}"/>
              </a:ext>
            </a:extLst>
          </p:cNvPr>
          <p:cNvSpPr>
            <a:spLocks xmlns:a="http://schemas.openxmlformats.org/drawingml/2006/main" noGrp="1"/>
          </p:cNvSpPr>
          <p:nvPr/>
        </p:nvSpPr>
        <p:spPr>
          <a:xfrm xmlns:a="http://schemas.openxmlformats.org/drawingml/2006/main">
            <a:off x="548640" y="1280160"/>
            <a:ext cx="10972800" cy="4572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与设备模型加流程图的区别：模型与状态机是发令的必经环节。</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大模型的作用：参与决策并提出控制请求，不能绕过模型直连 Adapter。</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框架的边界：约束已建模能力、参数及状态下的执行，不保证决策本身正确。</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仿真闭环的进展：属于扩展方向，当前验证仍为原型与加热示意案例。</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进入实机的条件：通过仿真评估、约束检查与预设上机准入条件。</a:t>
            </a:r>
          </a:p>
        </p:txBody>
      </p:sp>
      <p:sp>
        <p:nvSpPr>
          <p:cNvPr id="5" name="TextBox 4">
            <a:extLst xmlns:a="http://schemas.openxmlformats.org/drawingml/2006/main">
              <a:ext uri="{FF2B5EF4-FFF2-40B4-BE49-F238E27FC236}">
                <a16:creationId xmlns:a16="http://schemas.microsoft.com/office/drawing/2014/main" id="{2F7B9BD6-14F7-441A-A78B-081015E5ECE1}"/>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BE71AF97-5534-4BE0-A8A7-569BF22211FB}"/>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15/15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76411076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2026-09-08T01:55:11.4060000Z</dcterms:created>
  <dcterms:modified xsi:type="dcterms:W3CDTF">2026-09-08T01:55:11.4060000Z</dcterms:modified>
</coreProperties>
</file>