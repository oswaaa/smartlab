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94faf115b548cc" /><Relationship Type="http://schemas.openxmlformats.org/officeDocument/2006/relationships/extended-properties" Target="/docProps/app.xml" Id="R4b6cfd7c50e940f2" /><Relationship Type="http://schemas.openxmlformats.org/officeDocument/2006/relationships/officeDocument" Target="/ppt/presentation.xml" Id="Rcb1461e9a26e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d92e3073c45e7"/>
  </p:sldMasterIdLst>
  <p:notesMasterIdLst>
    <p:notesMasterId xmlns:r="http://schemas.openxmlformats.org/officeDocument/2006/relationships" r:id="R4e01230c1e5c4700"/>
  </p:notesMasterIdLst>
  <p:sldIdLst>
    <p:sldId xmlns:r="http://schemas.openxmlformats.org/officeDocument/2006/relationships" id="256" r:id="Rd449216f6b2c41d2"/>
    <p:sldId xmlns:r="http://schemas.openxmlformats.org/officeDocument/2006/relationships" id="257" r:id="Ra5e8313ae7dd4e27"/>
    <p:sldId xmlns:r="http://schemas.openxmlformats.org/officeDocument/2006/relationships" id="258" r:id="Rae3a76b51907461d"/>
    <p:sldId xmlns:r="http://schemas.openxmlformats.org/officeDocument/2006/relationships" id="259" r:id="Rd561209ddfab490c"/>
    <p:sldId xmlns:r="http://schemas.openxmlformats.org/officeDocument/2006/relationships" id="260" r:id="R15f66ee928d841ce"/>
    <p:sldId xmlns:r="http://schemas.openxmlformats.org/officeDocument/2006/relationships" id="261" r:id="R3a6d81feda434c67"/>
    <p:sldId xmlns:r="http://schemas.openxmlformats.org/officeDocument/2006/relationships" id="262" r:id="R08bfda93a5f04644"/>
    <p:sldId xmlns:r="http://schemas.openxmlformats.org/officeDocument/2006/relationships" id="263" r:id="Rb71893607fca47f0"/>
    <p:sldId xmlns:r="http://schemas.openxmlformats.org/officeDocument/2006/relationships" id="264" r:id="Rbf90faed8a7542e2"/>
    <p:sldId xmlns:r="http://schemas.openxmlformats.org/officeDocument/2006/relationships" id="265" r:id="Rc5b357a8f9f747bd"/>
    <p:sldId xmlns:r="http://schemas.openxmlformats.org/officeDocument/2006/relationships" id="266" r:id="Rd0f65c9a32e34c62"/>
    <p:sldId xmlns:r="http://schemas.openxmlformats.org/officeDocument/2006/relationships" id="267" r:id="R96c24af31ff94ed2"/>
    <p:sldId xmlns:r="http://schemas.openxmlformats.org/officeDocument/2006/relationships" id="268" r:id="R6f7b207941084979"/>
    <p:sldId xmlns:r="http://schemas.openxmlformats.org/officeDocument/2006/relationships" id="269" r:id="R9397a9093a054ceb"/>
    <p:sldId xmlns:r="http://schemas.openxmlformats.org/officeDocument/2006/relationships" id="270" r:id="R6f927c19317f4423"/>
    <p:sldId xmlns:r="http://schemas.openxmlformats.org/officeDocument/2006/relationships" id="271" r:id="R4c8317d012b44503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9d5297a2b243f8" /><Relationship Type="http://schemas.openxmlformats.org/officeDocument/2006/relationships/slideMaster" Target="/ppt/slideMasters/slideMaster1.xml" Id="Rb5cd92e3073c45e7" /><Relationship Type="http://schemas.openxmlformats.org/officeDocument/2006/relationships/notesMaster" Target="/ppt/notesMasters/notesMaster1.xml" Id="R4e01230c1e5c4700" /><Relationship Type="http://schemas.openxmlformats.org/officeDocument/2006/relationships/presProps" Target="/ppt/presProps.xml" Id="Rd27ce253fe5847fc" /><Relationship Type="http://schemas.openxmlformats.org/officeDocument/2006/relationships/viewProps" Target="/ppt/viewProps.xml" Id="R72c287d9a0a946c0" /><Relationship Type="http://schemas.openxmlformats.org/officeDocument/2006/relationships/tableStyles" Target="/ppt/tableStyles.xml" Id="R6f7b7963d5e84783" /><Relationship Type="http://schemas.openxmlformats.org/officeDocument/2006/relationships/slide" Target="/ppt/slides/slide1.xml" Id="Rd449216f6b2c41d2" /><Relationship Type="http://schemas.openxmlformats.org/officeDocument/2006/relationships/slide" Target="/ppt/slides/slide2.xml" Id="Ra5e8313ae7dd4e27" /><Relationship Type="http://schemas.openxmlformats.org/officeDocument/2006/relationships/slide" Target="/ppt/slides/slide3.xml" Id="Rae3a76b51907461d" /><Relationship Type="http://schemas.openxmlformats.org/officeDocument/2006/relationships/slide" Target="/ppt/slides/slide4.xml" Id="Rd561209ddfab490c" /><Relationship Type="http://schemas.openxmlformats.org/officeDocument/2006/relationships/slide" Target="/ppt/slides/slide5.xml" Id="R15f66ee928d841ce" /><Relationship Type="http://schemas.openxmlformats.org/officeDocument/2006/relationships/slide" Target="/ppt/slides/slide6.xml" Id="R3a6d81feda434c67" /><Relationship Type="http://schemas.openxmlformats.org/officeDocument/2006/relationships/slide" Target="/ppt/slides/slide7.xml" Id="R08bfda93a5f04644" /><Relationship Type="http://schemas.openxmlformats.org/officeDocument/2006/relationships/slide" Target="/ppt/slides/slide8.xml" Id="Rb71893607fca47f0" /><Relationship Type="http://schemas.openxmlformats.org/officeDocument/2006/relationships/slide" Target="/ppt/slides/slide9.xml" Id="Rbf90faed8a7542e2" /><Relationship Type="http://schemas.openxmlformats.org/officeDocument/2006/relationships/slide" Target="/ppt/slides/slide10.xml" Id="Rc5b357a8f9f747bd" /><Relationship Type="http://schemas.openxmlformats.org/officeDocument/2006/relationships/slide" Target="/ppt/slides/slide11.xml" Id="Rd0f65c9a32e34c62" /><Relationship Type="http://schemas.openxmlformats.org/officeDocument/2006/relationships/slide" Target="/ppt/slides/slide12.xml" Id="R96c24af31ff94ed2" /><Relationship Type="http://schemas.openxmlformats.org/officeDocument/2006/relationships/slide" Target="/ppt/slides/slide13.xml" Id="R6f7b207941084979" /><Relationship Type="http://schemas.openxmlformats.org/officeDocument/2006/relationships/slide" Target="/ppt/slides/slide14.xml" Id="R9397a9093a054ceb" /><Relationship Type="http://schemas.openxmlformats.org/officeDocument/2006/relationships/slide" Target="/ppt/slides/slide15.xml" Id="R6f927c19317f4423" /><Relationship Type="http://schemas.openxmlformats.org/officeDocument/2006/relationships/slide" Target="/ppt/slides/slide16.xml" Id="R4c8317d012b445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b0ad80c2f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64cddaca94041" /><Relationship Type="http://schemas.openxmlformats.org/officeDocument/2006/relationships/notesMaster" Target="/ppt/notesMasters/notesMaster1.xml" Id="Rb871b617d6cf47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3aa7e2ca14c56" /><Relationship Type="http://schemas.openxmlformats.org/officeDocument/2006/relationships/notesMaster" Target="/ppt/notesMasters/notesMaster1.xml" Id="R4ab0e2fb26eb40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6b86bd23974317" /><Relationship Type="http://schemas.openxmlformats.org/officeDocument/2006/relationships/notesMaster" Target="/ppt/notesMasters/notesMaster1.xml" Id="R159f68277a2040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785db561f140dc" /><Relationship Type="http://schemas.openxmlformats.org/officeDocument/2006/relationships/notesMaster" Target="/ppt/notesMasters/notesMaster1.xml" Id="R2098aaa9d2104d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68e6d65675485c" /><Relationship Type="http://schemas.openxmlformats.org/officeDocument/2006/relationships/notesMaster" Target="/ppt/notesMasters/notesMaster1.xml" Id="Ra0b7b4c891a04e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62a1392dc4eda" /><Relationship Type="http://schemas.openxmlformats.org/officeDocument/2006/relationships/notesMaster" Target="/ppt/notesMasters/notesMaster1.xml" Id="R0a0f34ae5e17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732017079f48bd" /><Relationship Type="http://schemas.openxmlformats.org/officeDocument/2006/relationships/notesMaster" Target="/ppt/notesMasters/notesMaster1.xml" Id="R918f6f5415ce43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d1c08daf474c00" /><Relationship Type="http://schemas.openxmlformats.org/officeDocument/2006/relationships/notesMaster" Target="/ppt/notesMasters/notesMaster1.xml" Id="R3b1d8a44f8ec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d1ab5e65c14899" /><Relationship Type="http://schemas.openxmlformats.org/officeDocument/2006/relationships/notesMaster" Target="/ppt/notesMasters/notesMaster1.xml" Id="Rcfa07cbe46ba42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c71263ac174f88" /><Relationship Type="http://schemas.openxmlformats.org/officeDocument/2006/relationships/notesMaster" Target="/ppt/notesMasters/notesMaster1.xml" Id="R7050aaf91c1c4a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f4d47973334297" /><Relationship Type="http://schemas.openxmlformats.org/officeDocument/2006/relationships/notesMaster" Target="/ppt/notesMasters/notesMaster1.xml" Id="R09fa4a2fe5b340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d14c8f6dbe4b5d" /><Relationship Type="http://schemas.openxmlformats.org/officeDocument/2006/relationships/notesMaster" Target="/ppt/notesMasters/notesMaster1.xml" Id="R1a1c1e9890c34d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65d53762284211" /><Relationship Type="http://schemas.openxmlformats.org/officeDocument/2006/relationships/notesMaster" Target="/ppt/notesMasters/notesMaster1.xml" Id="R26416b8a7e9041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0ae61a43454865" /><Relationship Type="http://schemas.openxmlformats.org/officeDocument/2006/relationships/notesMaster" Target="/ppt/notesMasters/notesMaster1.xml" Id="R5d1cb705e8134f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d1b97775604145" /><Relationship Type="http://schemas.openxmlformats.org/officeDocument/2006/relationships/notesMaster" Target="/ppt/notesMasters/notesMaster1.xml" Id="R8f5dda9647b64e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51abd7bb6945e9" /><Relationship Type="http://schemas.openxmlformats.org/officeDocument/2006/relationships/notesMaster" Target="/ppt/notesMasters/notesMaster1.xml" Id="R2e96be08b7fa4a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0 页 · 封面（20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各位老师、各位同事，大家好。我是北京信息科技大学的于涛。今天汇报我们的工作：面向智慧化学实验室的任务导向可执行建模框架，通讯作者是赵淳老师。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今天的主线很明确：大模型开始参与实验决策后，设备控制必须有清晰的边界；我们通过统一建模和统一执行链路，把这个边界落实到可执行过程中。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 · 目录（20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汇报分六部分。先说明实验室自动化和大模型参与后带来的执行边界问题；然后介绍资源、工作流、约束和跨层协议组成的统一建模框架；接着说明这几层如何通过共同的设备执行链路协同运行。之后用 SmartLab 2.0 的反应釜加热任务说明原型落点，再讨论仿真反馈闭环和上机条件，最后总结框架的建模语言与执行语义。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前两部分回答“为什么需要统一建模”，中间两部分回答“模型怎样运行”，后两部分回答“当前做到哪里、还能怎样扩展”。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 · 背景问题：大模型参与后的执行边界（约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实验室已经能够自动执行预设任务流程。随着大模型接入，系统进一步出现了由大模型参与实验决策和流程控制的形态。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论是否接入大模型，一次任务执行都必须说清四件事：资源如何组织，设备状态如何演化，实验数据如何传递，以及执行是否落在允许边界内。大模型加入后，边界问题变得更加直接：它可以提出什么控制请求，这些请求在什么状态和约束下才允许执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我们的原则是，不能为大模型开特权，也不能另开一条直达设备的旁路。大模型的控制请求必须与人的操作和自动化流程一样，经过模型、状态和约束检查。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那么，这条共同的执行链路应该如何组织？要回答这个问题，需要回到自动化最初要替代的过程，也就是人逐台操作设备的过程。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 · 现有形态：流程控制与设备模型分离（约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自动化流程最初要替代的是实验人员逐台操作设备的过程。人会先观察当前状态，判断允许的操作，再操作设备并检查反馈。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系统通常已经能够编排步骤、组织任务，也能够用设备模型描述属性、展示状态。但在这里所讨论的分离形态中，流程通过驱动直接向设备发令，设备模型主要承担描述和显示作用，没有成为发令的必经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这样一来，人的操作过程虽然被自动化了，却没有被统一建模。资源、状态、数据和约束分散在不同位置，难以沿同一条执行链路检查。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因此我们要补齐的关系是：抽象流程先作用于抽象设备模型，再由设备模型驱动物理设备。下一页把这个结构问题收束成一个明确的建模问题。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 · 问题收束（约 40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问题可以表述为：如何把人的设备操作过程建模为可执行模型，使任务流程、人的操作和大模型提出的控制请求，都能沿同一条链路执行和检查？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这要求设备模型同时描述设备能力与状态演化，也要求资源组织、数据依赖和约束检查进入同一次任务执行。请求来源可以不同，但设备执行路径必须相同，不能为任何一种来源设置旁路。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下面介绍核心方法：让设备模型真正进入控制链路。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 · 核心方法：设备模型进入控制链路（约 2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我们为设备模型增加状态机，使设备模型同时表达“设备能做什么”和“当前状态下允许怎样执行”。流程先作用于由能力模型和状态机构成的设备模型，再由状态机把命令下发到 Adapter，最后由 Adapter 控制物理设备；设备反馈沿原路返回，更新设备状态和任务进度。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这实际上是在建模人控制设备的过程。人的操作包含状态判断、能力选择、发令和观察反馈，模型中的能力、状态机、Adapter 和反馈机制分别承载这些环节。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因此，无论意图来自工作流、人的操作还是大模型，都要转换为模型支持的控制请求，并经过同样的状态机和约束检查。大模型参与决策，但不能直接调用 Adapter 或物理设备。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从横向看，工作流组织多个任务步骤和数据依赖；从纵向看，每个步骤都沿设备状态机完成执行。横向步骤和纵向链路的结合，就是一次具体任务的执行切片。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 · 对照：发令走哪条路（约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两种形态的区别，最终体现在实际发令路径上。分离形态中，流程可以绕过设备模型直接调用驱动，设备模型主要展示信息；如果再增加大模型接口，也可能继续绕过模型。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统一执行链路中，流程先调用设备模型定义的能力，状态机根据当前状态处理请求并发令，执行反馈再更新设备模型和工作流。人的操作和大模型提出的控制请求也遵守同一套规则。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这里的关键不是把所有意图都改写成同一种来源，而是让不同来源在设备执行阶段汇入同一个模型、状态和约束检查路径。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 · 统一框架：L = ⟨R, F, C, Π⟩（约 50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这条共同的执行链路进一步组织为 L = ⟨R, F, C, Π⟩。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是资源层，组织设备能力和状态机，形成可执行的设备对象；F 是工作流层，表达任务步骤和数据依赖，并调用设备模型；C 是约束层，结合资源状态和任务上下文监督执行边界；Π 是跨层协议，约定控制信号、数据端口和执行反馈。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这样，模型、状态、流程和约束不再是彼此分离的描述，而是围绕同一次任务执行被组织、检查和推进。下面分别说明三层模型。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 · 资源层（约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资源层把每台设备建成对象模型，由能力模型和状态机构成。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能力模型描述设备属性、可用能力、参数、端口和 Adapter 契约，为执行请求提供明确的操作语义。状态机接收执行信号，根据当前状态判断请求，经过 Adapter 下发命令并回收反馈；当设备内禀约束被破坏时，状态机进入异常处理。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因此，设备模型不只是展示设备信息，它还参与实际控制过程。来自流程、人或大模型的设备控制请求，都必须经过状态机。调用来源改变，不改变设备的执行路径和允许边界。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接下来从任务侧看工作流如何组织这些设备能力。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 · 工作流层与触发器（约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工作流层先组织任务步骤和数据依赖。接口传递控制信号和请求载荷，端口传递实验数据；节点通过约定接口与设备状态机交互，而不是直接调用设备驱动。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每个执行节点绑定设备的一项能力，功能节点处理分支、同步和等待，节点生命周期反映任务进度，设备状态机则管理设备自身状态。两者通过控制信号和执行反馈关联起来。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节点触发器在条件满足时执行动作，使条件分支、状态更新和后续节点推进接入统一执行链路。触发器、接口和节点生命周期共同定义了工作流的执行语义。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 · 约束层（约 40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约束层同时观察资源侧和工作流侧。内禀约束由设备状态机本地处理；实验室基线约束持续监督实验室运行；任务约束在任务执行期间生效。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条件成立时，系统可以执行警告、报警、停止或中止等动作。约束不是额外挂在链路旁边的脚本，而是与模型、状态和工作流共同参与执行判断。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到这里，资源、工作流和约束三层已经形成一个完整的任务执行模型。下面用反应釜加热任务说明它如何落到原型。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 · 实现案例：反应釜加热（约 1.5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这一页的目的，是说明执行链路可以被具体任务实例化和执行，不做性能对比。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在反应釜加热任务中，加热节点提出请求，反应釜状态机根据当前状态处理请求，经 Adapter 发出加热命令；温度和运行状态反馈返回后，状态机更新设备状态，节点在满足完成条件后推进后续步骤。温度越界或设备异常时，约束层可以介入。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SmartLab 2.0 原型中，对应的链路是：工作流引擎经过接口连接状态机引擎，再经 MQTT Adapter 连接设备。模型和引擎承载任务的执行语义，Adapter 负责协议转换，因此具体设备通信不会改变上层的建模关系。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这说明前面的模型和链路不是抽象描述，而是能够落到一个具体实验任务上。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 · 贡献、边界与展望（约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我们的工作可以概括为三点：对人的设备操作过程进行可执行建模；在 R、F、C、Π 框架中统一组织模型、状态、流程和约束；用 SmartLab 2.0 原型和反应釜加热案例说明链路可以实例化。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当前验证主要用于说明框架和任务链路的可执行性，尚不涉及大规模、高并发或长时程性能评估。仿真 Adapter 和大模型反馈调整闭环是下一步扩展方向。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下一页具体说明：为什么只在 Adapter 层区分仿真和实机，就能在相同模型与规则上形成反馈闭环。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 · 扩展：仿真闭环与上机条件（约 1 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如果在 Adapter 层区分仿真执行和实机执行，上层仍然沿用同一套设备模型、状态机、工作流和约束。仿真 Adapter 返回模拟状态与实验数据，实机 Adapter 返回真实设备反馈。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这样可以形成一个闭环：大模型根据目标作出决策，提出控制请求；请求进入统一执行链路，由仿真 Adapter 执行；模拟反馈返回后，大模型调整方案并再次决策与仿真。大模型的作用是提出受模型和约束限制的控制请求，不是直接访问 Adapter 或物理设备。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当仿真结果通过目标检查、约束检查和预设的上机准入条件后，再进入实机执行。切换到实机后仍沿用相同的状态机和约束检查。这个闭环属于框架扩展方向，具体准入条件需要结合实验任务定义。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 · 总结（约 30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大模型参与决策，使设备执行的能力边界更加重要。我们从人的设备操作过程出发，为设备模型增加状态机，让流程先作用于设备模型，再由状态机经 Adapter 控制设备。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在统一框架中，模型、状态、流程和约束共同定义执行过程；无论控制意图来自流程、人还是大模型，都共用同一条执行链路，没有特权旁路。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在此基础上，框架还可以扩展仿真反馈闭环，在满足预设上机条件后进入实机执行。谢谢各位，欢迎提问。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备用短答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与设备模型加流程图的区别：设备模型与状态机位于发令必经之路，工作流不能绕过它们直接控制设备。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现有系统是否已经有状态机：本文不声称首次使用模型或状态机控制设备，关注的是任务级执行链路，以及流程必须经设备模型和状态机执行的统一关系。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大模型在本文中的位置：大模型参与决策并提出控制请求，它引出了执行边界问题；本文核心是统一执行框架，不是新的大模型算法。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能力边界是什么：设备可用能力、参数条件、当前状态允许的操作，以及任务和实验室约束。统一链路约束的是这些已建模执行条件，不保证大模型决策本身总是正确。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仿真闭环是否已经完成：仿真闭环作为扩展方向提出，当前证据是原型和反应釜加热示意案例。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什么时候上机：依据仿真评估、约束检查和预设上机准入条件作出决定，切换实机后仍沿相同状态机和约束执行。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f38f3f91f46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3755a82e844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098632d8f4b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a5833fc6342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c4f4a790c41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6e4521d7546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324f863ec41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4b9217ac043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fe1a0c7b44f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32c887ed34e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d0ccb6b494dc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9DC85-54F5-4264-8AA5-ABE2BEACE3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24B2CF-0C91-4B1A-B97A-0CC6018F68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E78BEE-BC3B-4897-ACB8-CFC63AB31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967F8-2A92-4480-8CDA-C55843F33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D52F7-86F4-4DD3-A691-267C2B81AF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E5EC0-8780-4109-9108-856D8C3DB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E7247-3CE2-40CE-BF8E-08E8C9AD6A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B25F1-EA49-41A9-B684-C16A359EB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8E4320-B3AD-441E-BBB7-6628A66F2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832057-6783-4296-9C0C-BD3B75AA0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FD48A6-F7AE-489F-8CDD-48CBB3E6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F6350-A668-48E3-BE9D-F70A8F65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CE4BBE-EB84-4807-80A1-400096F09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677CD-B8E8-4609-85A3-441897DC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AEF26-A2A8-4C26-B881-151E6AB2B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57711-D861-4167-826E-1C699DB5B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877F64-A2CA-47A8-925F-0414F58A6A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13105-8F19-43FF-BC40-D6B127493B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542793-A3B0-48C3-935B-214D9CF1D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BDC7C5-24A7-4E55-8B8B-1122F6DF5B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7EEDA-57E2-4BFC-AABF-864060C6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7BC59-4ECF-4B7D-B29C-02D7A36D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3D0D23-F9EF-4A9C-9815-8A03DD8899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237916-E258-4387-8EA3-F69F14BC0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87D74C-3168-4541-8807-92F3DE2CC8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441DF1-579F-4C84-BB98-4534A167D6B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C447C8B-3B0E-41D2-88FD-90B37EE3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CE6D9C-A3AA-405E-897D-0BB9D664F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FBF5E5-704F-452F-809E-B84DA758F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E4369-F598-4E50-937D-FF0133C7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BFD23B-2EC1-4819-99D4-527B79E0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5A2CF0-A4C6-4995-8038-4C1F84E2FE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87972B-BAC0-426E-B5FC-DFBA81F2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485BCE-C3BD-4312-909B-D8DA72E9D0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B3FD05-5462-42C6-9E2E-856EA1FA6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568220-1FB3-48D3-B54D-D4C021FB5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165B9-F882-4E8A-9B85-6843353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1B3653-63CE-4E67-A908-F195C2FD25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7E8D05-E91E-4E5F-8112-4F3D45873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73C5D9-6D87-4395-98A6-873424B0D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490EFB-AD64-4F37-9C16-342BB5B82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4AB5C9-AFA5-4894-AE70-5ADC1E840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5AEC2D-5ADC-4674-B9D5-1E730FDE7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70C9F9-4433-4E98-9675-BDACFCE007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68B74B-892B-444B-9366-02D45531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67B799-E31D-4F2E-A98E-C543C1F80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0BC3E-3EC2-4F13-85E8-B7713C38A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D4C378-9535-4637-9537-083270BF8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D4D2C-1F36-438F-B5D7-5C01DD51B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40A84-02BB-464E-BE83-68596CEA1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9442A3-17D4-4A74-9C7C-9F68561DC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B02E6-6893-454A-99EA-0707FB282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0B1FDF-EF83-4A01-8A9B-EE1DE45BA2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75978D0-1441-4863-9E69-110EF57F5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D69BB-D056-43F8-8152-AD90AFDFB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F5B8D-CB17-4F42-81C4-6C1CBD7C3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C2C652-BD55-45A5-BB10-87D5B9127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F60E3-53D1-4AD3-8FF7-A96CA6E4E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2f4280ced743b5" /><Relationship Type="http://schemas.openxmlformats.org/officeDocument/2006/relationships/slideLayout" Target="/ppt/slideLayouts/slideLayout1.xml" Id="R5a1a5b45eb334bc6" /><Relationship Type="http://schemas.openxmlformats.org/officeDocument/2006/relationships/slideLayout" Target="/ppt/slideLayouts/slideLayout2.xml" Id="Rb3b616b6795d43ce" /><Relationship Type="http://schemas.openxmlformats.org/officeDocument/2006/relationships/slideLayout" Target="/ppt/slideLayouts/slideLayout3.xml" Id="R5a7ce402e1734785" /><Relationship Type="http://schemas.openxmlformats.org/officeDocument/2006/relationships/slideLayout" Target="/ppt/slideLayouts/slideLayout4.xml" Id="R1f73e1bef2674313" /><Relationship Type="http://schemas.openxmlformats.org/officeDocument/2006/relationships/slideLayout" Target="/ppt/slideLayouts/slideLayout5.xml" Id="Ra5ad46bec4994ba1" /><Relationship Type="http://schemas.openxmlformats.org/officeDocument/2006/relationships/slideLayout" Target="/ppt/slideLayouts/slideLayout6.xml" Id="Re3131af996854ff3" /><Relationship Type="http://schemas.openxmlformats.org/officeDocument/2006/relationships/slideLayout" Target="/ppt/slideLayouts/slideLayout7.xml" Id="Re356a616f1e14192" /><Relationship Type="http://schemas.openxmlformats.org/officeDocument/2006/relationships/slideLayout" Target="/ppt/slideLayouts/slideLayout8.xml" Id="R27f3a6c10bdc42db" /><Relationship Type="http://schemas.openxmlformats.org/officeDocument/2006/relationships/slideLayout" Target="/ppt/slideLayouts/slideLayout9.xml" Id="Rdf32fead68d948d6" /><Relationship Type="http://schemas.openxmlformats.org/officeDocument/2006/relationships/slideLayout" Target="/ppt/slideLayouts/slideLayout10.xml" Id="R6e232c1cfebf4efd" /><Relationship Type="http://schemas.openxmlformats.org/officeDocument/2006/relationships/slideLayout" Target="/ppt/slideLayouts/slideLayout11.xml" Id="Re72ab4399d784a9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8C0D63-CA9F-404A-B534-B682079DA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15D1C-DAAD-4762-9173-03B9AC3F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55B65E-F81D-43DB-AF87-01C39EE5D4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08882-3239-4C53-B5B9-C39E631AB8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03BF4-0881-41BE-8239-6E0D55CCA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a5b45eb334bc6"/>
    <p:sldLayoutId xmlns:r="http://schemas.openxmlformats.org/officeDocument/2006/relationships" id="2147483650" r:id="Rb3b616b6795d43ce"/>
    <p:sldLayoutId xmlns:r="http://schemas.openxmlformats.org/officeDocument/2006/relationships" id="2147483651" r:id="R5a7ce402e1734785"/>
    <p:sldLayoutId xmlns:r="http://schemas.openxmlformats.org/officeDocument/2006/relationships" id="2147483652" r:id="R1f73e1bef2674313"/>
    <p:sldLayoutId xmlns:r="http://schemas.openxmlformats.org/officeDocument/2006/relationships" id="2147483653" r:id="Ra5ad46bec4994ba1"/>
    <p:sldLayoutId xmlns:r="http://schemas.openxmlformats.org/officeDocument/2006/relationships" id="2147483654" r:id="Re3131af996854ff3"/>
    <p:sldLayoutId xmlns:r="http://schemas.openxmlformats.org/officeDocument/2006/relationships" id="2147483655" r:id="Re356a616f1e14192"/>
    <p:sldLayoutId xmlns:r="http://schemas.openxmlformats.org/officeDocument/2006/relationships" id="2147483656" r:id="R27f3a6c10bdc42db"/>
    <p:sldLayoutId xmlns:r="http://schemas.openxmlformats.org/officeDocument/2006/relationships" id="2147483657" r:id="Rdf32fead68d948d6"/>
    <p:sldLayoutId xmlns:r="http://schemas.openxmlformats.org/officeDocument/2006/relationships" id="2147483658" r:id="R6e232c1cfebf4efd"/>
    <p:sldLayoutId xmlns:r="http://schemas.openxmlformats.org/officeDocument/2006/relationships" id="2147483659" r:id="Re72ab4399d784a9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7a65322b264c44" /><Relationship Type="http://schemas.openxmlformats.org/officeDocument/2006/relationships/notesSlide" Target="/ppt/notesSlides/notesSlide1.xml" Id="Raed5d3a20666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e05a85fad94c9a" /><Relationship Type="http://schemas.openxmlformats.org/officeDocument/2006/relationships/notesSlide" Target="/ppt/notesSlides/notesSlide2.xml" Id="R56fcfc0726554c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744d0e66d54ca5" /><Relationship Type="http://schemas.openxmlformats.org/officeDocument/2006/relationships/notesSlide" Target="/ppt/notesSlides/notesSlide3.xml" Id="R45ad84cc641e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109e54608d4e96" /><Relationship Type="http://schemas.openxmlformats.org/officeDocument/2006/relationships/notesSlide" Target="/ppt/notesSlides/notesSlide4.xml" Id="R5d0b0571bd7942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7dbecd18d94ce9" /><Relationship Type="http://schemas.openxmlformats.org/officeDocument/2006/relationships/notesSlide" Target="/ppt/notesSlides/notesSlide5.xml" Id="R5318d1b18ad54e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3c7fc34f3e4a67" /><Relationship Type="http://schemas.openxmlformats.org/officeDocument/2006/relationships/image" Target="/ppt/media/image.png" Id="Rb3fc5f7259994cfb" /><Relationship Type="http://schemas.openxmlformats.org/officeDocument/2006/relationships/notesSlide" Target="/ppt/notesSlides/notesSlide6.xml" Id="R3d93fde774814e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003ce2eeb34215" /><Relationship Type="http://schemas.openxmlformats.org/officeDocument/2006/relationships/notesSlide" Target="/ppt/notesSlides/notesSlide7.xml" Id="Ra94cde03b2ba49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d9f62f410143f1" /><Relationship Type="http://schemas.openxmlformats.org/officeDocument/2006/relationships/notesSlide" Target="/ppt/notesSlides/notesSlide8.xml" Id="R68d081acabe141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383823712e4e82" /><Relationship Type="http://schemas.openxmlformats.org/officeDocument/2006/relationships/notesSlide" Target="/ppt/notesSlides/notesSlide9.xml" Id="Rd458343cecbd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23428435694286" /><Relationship Type="http://schemas.openxmlformats.org/officeDocument/2006/relationships/notesSlide" Target="/ppt/notesSlides/notesSlide10.xml" Id="R46300c7fe2224f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d712072c0d42ee" /><Relationship Type="http://schemas.openxmlformats.org/officeDocument/2006/relationships/notesSlide" Target="/ppt/notesSlides/notesSlide11.xml" Id="R22798456f07e4c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1f331da2614295" /><Relationship Type="http://schemas.openxmlformats.org/officeDocument/2006/relationships/notesSlide" Target="/ppt/notesSlides/notesSlide12.xml" Id="R4e5b465017d44e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155c2a551747ab" /><Relationship Type="http://schemas.openxmlformats.org/officeDocument/2006/relationships/notesSlide" Target="/ppt/notesSlides/notesSlide13.xml" Id="R44956bea45a148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2a026d34cc4130" /><Relationship Type="http://schemas.openxmlformats.org/officeDocument/2006/relationships/notesSlide" Target="/ppt/notesSlides/notesSlide14.xml" Id="Re351d600ae4b45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85b39a3aa14134" /><Relationship Type="http://schemas.openxmlformats.org/officeDocument/2006/relationships/notesSlide" Target="/ppt/notesSlides/notesSlide15.xml" Id="Recd3c5fab69745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927b321b0c4126" /><Relationship Type="http://schemas.openxmlformats.org/officeDocument/2006/relationships/notesSlide" Target="/ppt/notesSlides/notesSlide16.xml" Id="R1df7e774f1d84e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8D0283-46CC-4865-85BD-F69594B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7B968C-3390-4FC4-9F93-F7A4B56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B767-6D28-4088-A11B-2DFEFDE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640F5-7D8A-4CD8-87CC-97BCBBD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F2A41-1F00-4791-AA10-43E22F1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08879E-6C1A-4C5F-8A94-956EF1B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656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C6A048-DF1E-4678-BD75-14DF139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5C94B-88A9-4BC6-A7A1-37135C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</a:t>
            </a: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7B281-3960-4056-9148-115ACFB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背景与问题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统一执行机制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实现与案例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扩展与展望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  <a:def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总结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E43546-3A5B-4C17-A4BC-D6E190F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主线：从执行边界出发，建立资源、工作流与约束统一的执行链路。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990B9D-1DBD-479C-AB7B-A7B40BA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44AD840-496B-4114-AE14-4B0951D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5311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9544A-4150-4003-91A4-7B5981B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0AB52-1B8A-445B-950F-E53A7DC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背景问题：大模型参与后的执行边界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63D468-DC68-425C-8E37-ECA8C56E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8250"/>
            <a:ext cx="10725150" cy="461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实验室已经能够自动执行任务流程，大模型进一步参与实验决策与流程控制。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资源如何组织　　设备状态如何演化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数据如何传递　　执行是否落在允许边界内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大模型接入后，执行边界问题更加突出：它可以提出哪些控制请求，又必须遵守哪些边界？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基本原则：不为大模型开特权或另设旁路，所有控制请求进入同一套执行链路。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8EC2F-B214-40A0-8781-D913BF3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E191EA-4D91-4D29-8980-C3BABE0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19376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49AF34-3761-4A6D-937D-530DE446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557BCB-0EEA-4C8B-95C6-69204DF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现有形态：流程控制与设备模型分离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CC49FFC-3563-4B8A-BBB8-71244CB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566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EC9C9C-EB99-4509-AA36-A5C4C325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人工逐台操作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27198A-5E15-499D-8B10-2FA79D8F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3200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判断设备当前状态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选择允许执行的操作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操作设备并观察反馈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CA0E4DC-F3F5-4849-B766-4A9CADE8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188720"/>
            <a:ext cx="3566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D544D57-7AD3-4402-AFE7-90C10EB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自动化流程控制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726098B-694D-4ACC-9471-8B4E1A1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00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编排步骤、组织任务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通过驱动直接控制设备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替代逐台人工操作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1629929-2838-4956-B963-3901E8C8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188720"/>
            <a:ext cx="3566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46E2BE-D250-4091-8647-F42EFC5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3258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设备模型与状态展示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4199453-A3D4-4CA3-83BB-7A9F3E59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200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描述设备能力与属性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展示状态与运行信息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  <a:def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未成为发令的必经环节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7EDEDF-3FF7-4C2A-B3B1-3EC9D59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112471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在这种分离形态下，流程绕过设备模型直接控制设备，控制过程没有统一建模。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资源、状态、数据与约束难以沿同一条执行链路检查。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需要补齐的关系：</a:t>
            </a: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抽象流程控制抽象设备模型，再由模型驱动物理设备。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A2F7021-A056-490E-854F-D52508AE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CA0FFF-DFC4-4A10-9EC5-A1D1CEC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572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E50159-5E8A-4CFE-8EA6-1561CDB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53EDE4-1DF7-4188-9A8A-D19DBF9C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问题收束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3D1E6AF-97D2-475E-80B2-D8E649A2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033272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499AB44-E4BF-46A6-A785-D870AC1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228850"/>
            <a:ext cx="9784080" cy="2571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如何把人的设备操作过程建模为可执行模型，使流程、人和大模型共用同一条可检查的执行链路？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设备模型统一描述能力与状态演化，资源、数据与约束在执行中共同检查。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统一原则：请求来源可以不同，设备执行路径必须相同。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032FF4-E7AB-4D14-BC4B-D69C6CA5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ECC6D0-D22A-4F7B-BA07-10CC7E7E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826238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9163D9-980C-4714-9783-06B13E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2BFAFE-011B-498E-BFF0-F7B9F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核心方法：设备模型进入控制链路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3BBE21-86FE-4CE7-A07D-0874583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设备模型 = 能力模型 + 状态机。流程先作用于模型，由状态机经适配器驱动物理设备。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02BA5A6-E7D7-4DC2-B1F4-86C174C2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471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7E0EBF-8E4C-4F69-B424-504526F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9072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 / 人 / 大模型  →  设备模型（能力 + 状态机）  →  Adapter  →  物理设备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F86A037-C0EB-43EE-B66A-C43EEC7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3657600" cy="32004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850"/>
              </a:spcAft>
              <a:buNone/>
            </a:pPr>
            <a:r>
              <a:t/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BDB5633-0041-4988-A8CF-66F7D75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4476750" cy="3048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横向：工作流组织任务步骤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明确各步的顺序与数据依赖。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纵向：每一步经过设备状态机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状态机经 Adapter 发令并接收反馈。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任务切片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横向步骤组织与纵向执行链路的结合。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78EA6A-0307-4085-9DAB-9992C07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05475"/>
            <a:ext cx="4572000" cy="5143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控制意图来源不同，设备执行链路相同。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775A6-0E45-48C4-825B-1CF0C27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AF8FB-DF12-4C2C-BEB7-A611C5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c5f725999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00350"/>
            <a:ext cx="6334125" cy="33311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742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60804D-086E-4945-84E5-2B68D15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5E4D77-DB7B-4B98-BA95-4C69B500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对照：发令走哪条路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046F1E3-4358-4315-BFF2-263907DC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539496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45F5FA-D44C-4513-849A-46B1E4D1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029200" cy="442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流程与模型分离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3746DD-EEFE-4A17-B9D4-119F8B3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0292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流程编排任务后直接调用驱动。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设备模型主要展示属性与状态。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操作判断和发令逻辑分散在模型之外。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新增大模型接口可能继续绕过模型。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D233A3C-2F10-4BC7-8BE9-9A63475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80160"/>
            <a:ext cx="539496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6AC477D-A6F4-4465-9392-98EF4FBE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5029200" cy="442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统一执行链路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4963C5-E2C5-4747-ADDF-DB1DD92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50292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流程先调用设备模型所定义的能力。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状态机根据当前状态处理请求并发令。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执行反馈更新模型与工作流。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0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流程、人和大模型遵守相同的执行约束。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F44C43-E1D4-472E-ABB8-44459081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080A827-F079-469D-8F6A-93AD99E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106167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B1527-8C0F-401F-8516-77B16C0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DED688-C690-43F6-8690-CE2B63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核心方法：结构  L = ⟨R, F, C, Π⟩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8E7E420-EB94-4361-BDA5-CF895EB0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34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FCC9E0-3145-43BD-B927-9ABEDD8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R 资源层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A67C34F-0D13-43DF-B4A5-AB0DDD3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组织设备能力与状态机，形成可执行模型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B3DA4AE-BDE8-4496-AC43-70F86BD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77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D67C11-2210-4A3D-ACEE-2229385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F 工作流层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B0A1D8-1D86-41C9-9EAB-06AFF05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06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组织任务步骤与数据依赖，调用设备模型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C31BBB-5202-4426-8B08-0BA354B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20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90E4CB-3CC5-48EE-9536-6EADDCF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C 约束层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DCB61A-4980-40CE-A5F6-EF78299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49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结合模型状态与任务上下文监督执行边界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BE5C129-5C80-45CD-9D72-F05F983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78EF2E-4233-4A58-B807-2A3E18B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Π 协议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6D64AB3-E14C-4C28-9EAA-2ED047A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892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约定控制信号、数据端口与执行反馈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642D7E-4B01-4235-AF51-2C3F27E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66548-9FCA-4D53-B49B-4956B62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67011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4A7FCF-90AA-4A43-A59B-460F63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6F955-271D-494A-9C8C-34DC837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资源层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299101-FB0B-43BB-B5DE-E99EE818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685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每台设备建成对象模型，由能力模型与状态机构成。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能力模型定义属性、能力、适配器契约、端口与内禀约束。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状态机接收信号，经适配器发令并回收反馈。内禀约束破坏时进入异常状态。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流程、人和大模型的设备控制请求，</a:t>
            </a: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都必须经过状态机</a:t>
            </a: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4CA204E-5922-44F4-AF97-4A4E3E34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371600"/>
            <a:ext cx="411480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定义可用能力、参数与端口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管理状态演化、发令与反馈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C22E5-345A-4C5B-84E1-6CE6E25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4F3B0-DC9C-4B8B-AD4A-E5E1AA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090647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FB015B-0AC2-4375-B396-EC594F9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D7CB1-0F5E-4F18-89EB-41A3EFD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工作流层与触发器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274A3A-A8DA-4C0F-92EF-C85F631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接口传递控制信号，端口传递实验数据。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工作流通过约定接口与状态机交互，每个执行节点绑定设备的一项能力。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功能节点处理分支、同步和等待，明确任务步骤及数据依赖。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节点生命周期反映任务进度，设备状态机管理设备自身状态。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节点触发器在条件满足时执行动作，使条件分支接入统一执行链路。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671BB5-68C1-40CE-8322-D04B2FF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97B97-1CF4-40A7-B28F-62B2D53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88220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FC6F03-03A4-49D8-8EB4-4CA1D72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C8577-8ED3-4077-B2BB-07103EF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约束层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D6170B0-6B44-4072-A053-048CAB6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658368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三层约束：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– 内禀约束 —— 状态机本地处理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– 实验室基线约束 —— 常开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– 任务约束 —— 仅在任务期生效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观察空间同时来自资源侧与工作流侧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处理：警告 / 报警 / 停止 / 中止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约束与执行链路同属一套方法，而非外挂脚本</a:t>
            </a:r>
            <a:endParaRPr sz="170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BC1A606-C1FB-49E5-8ADA-BCE8CDC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0160"/>
            <a:ext cx="438912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4616B2-5401-4B5C-9052-F6431B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44C7A-A4AF-4C74-B7FE-8CD38F6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884730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27CB85-55C8-43AF-9304-B7FA602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A869FD-6C18-4E93-9D47-26F9942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 实现案例：反应釜加热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9C3858-BBBB-437A-8965-20E0F8C0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目的：说明链路可实例化、可执行（不是性能对比）</a:t>
            </a:r>
            <a:endParaRPr sz="1500" b="1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3A3A77-AB65-4240-A284-F8088DA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68580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加热节点提出请求 → 反应釜状态机 → Adapter 发令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温度与状态回传 → 状态机更新 → 节点满足条件后推进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约束在温度越界或设备异常时介入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SmartLab 2.0 原型：工作流引擎 → 接口 → 状态机引擎 → MQTT Adapter → 设备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• 模型与引擎承载执行语义，Adapter 负责协议转换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F4A47D6-BF6C-4939-B261-8B184F9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554480"/>
            <a:ext cx="420624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反应釜加热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加热节点提出请求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状态机经 Adapter 发令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温度与状态回传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节点完成并激活后续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越界或异常时由约束介入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A28A86-C763-43A0-ACEB-B8E854E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7E5A4A-B8A6-4AAB-A2B0-47DB142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11/15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557683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033A-D4CA-48F2-BDCB-C2EB1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FE515C-5B26-483C-A7BB-2010344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 贡献、边界与展望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9BF6E0-24D4-4647-B09F-1C03934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贡献</a:t>
            </a:r>
            <a:endParaRPr sz="18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1C006C-3222-43CF-BF93-DD317A9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09728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将人的设备操作过程建模，建立经设备状态机执行的统一链路。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在 R/F/C/Π 框架中组织模型、状态、流程与约束。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以 SmartLab 2.0 原型和加热案例说明链路可实例化、可执行。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E187EC-FEDF-4DA5-95E4-DD77DA33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18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7B6B84-3359-4D9A-A5C9-65CB276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当前验证为原型与示意案例，尚缺大规模、高并发及长时程评估。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D280C0-97CF-49F4-87B2-BBE4A76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展望</a:t>
            </a:r>
            <a:endParaRPr sz="18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6B4E25-BACF-47EE-9C3B-2A74EEE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972800" cy="827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扩展仿真 Adapter，形成大模型决策与反馈调整闭环。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进一步开展多设备验证及覆盖率、复用率等量化评估。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8595F-4D9E-4316-9F77-73F8F91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60D063-1D0E-4375-87F0-251AE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12/15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31760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033A-D4CA-48F2-BDCB-C2EB1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FE515C-5B26-483C-A7BB-2010344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  扩展：仿真闭环与上机条件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9BF6E0-24D4-4647-B09F-1C03934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972800" cy="442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Adapter 区分仿真执行与实机执行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1C006C-3222-43CF-BF93-DD317A9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仿真执行：接入仿真环境，返回模拟状态与实验数据。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实机执行：接入物理设备，返回实际状态与实验数据。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两种执行模式沿用同一套设备模型、状态机、工作流与约束。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E187EC-FEDF-4DA5-95E4-DD77DA33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大模型决策与反馈调整闭环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7B6B84-3359-4D9A-A5C9-65CB276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 → 提出控制请求 → 统一链路 → 仿真执行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模拟反馈 → 大模型调整 → 再次决策与仿真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D280C0-97CF-49F4-87B2-BBE4A76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满足预设条件后进入实机执行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6B4E25-BACF-47EE-9C3B-2A74EEE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依据仿真结果、约束检查与上机准入条件决定是否执行。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切换到实机后，控制请求仍须经过相同的状态机与约束检查。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8595F-4D9E-4316-9F77-73F8F91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60D063-1D0E-4375-87F0-251AE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13/15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31760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B71D5-E4C1-4847-B96E-4FA452B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86F66A-581B-4598-B506-5F72CD5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  总结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E5BA2A6-3D81-46F3-A1A2-5529B66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F3FD23-3EE7-4B41-B31B-C449A66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20240"/>
            <a:ext cx="9601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100"/>
              </a:spcAft>
              <a:buNone/>
              <a:def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设备操作过程进入模型，流程通过能力模型与状态机控制设备。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100"/>
              </a:spcAft>
              <a:buNone/>
              <a:def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流程、人和大模型共用同一执行链路，</a:t>
            </a: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没有特权旁路</a:t>
            </a:r>
            <a:r>
              <a: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100"/>
              </a:spcAft>
              <a:buNone/>
              <a:def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模型、状态、流程与约束共同界定设备执行的能力边界。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100"/>
              </a:spcAft>
              <a:buNone/>
              <a:def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在此基础上扩展仿真反馈闭环，满足上机条件后进入实机执行。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228686-41D1-494F-ACC9-0FC1540C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763E56-E0C0-48F0-B0B3-5F12994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E642F9-B282-4741-8019-EDB273C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14/15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551531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AB7EE8-E28F-4006-A110-4954EF6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2A0842F-1B19-4FF8-890E-09C29859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Q&amp;A  备用短答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BF6DDC-7895-4ED5-A934-CAAB85AC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4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与设备模型加流程图的区别：模型与状态机是发令的必经环节。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4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大模型的作用：参与决策并提出控制请求，不能绕过模型直连 Adapter。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4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框架的边界：约束已建模能力、参数及状态下的执行，不保证决策本身正确。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4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仿真闭环的进展：属于扩展方向，当前验证仍为原型与加热示意案例。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24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进入实机的条件：通过仿真评估、约束检查与预设上机准入条件。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7B9BD6-14F7-441A-A78B-081015E5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E71AF97-5534-4BE0-A8A7-569BF222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15/15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641107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2026-09-09T07:14:53.9200000Z</dcterms:created>
  <dcterms:modified xsi:type="dcterms:W3CDTF">2026-09-09T07:14:53.9200000Z</dcterms:modified>
</coreProperties>
</file>