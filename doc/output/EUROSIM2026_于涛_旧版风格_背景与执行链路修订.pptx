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c89e5a81c54c75" /><Relationship Type="http://schemas.openxmlformats.org/officeDocument/2006/relationships/extended-properties" Target="/docProps/app.xml" Id="Rc7fb42dbc4e944a6" /><Relationship Type="http://schemas.openxmlformats.org/officeDocument/2006/relationships/officeDocument" Target="/ppt/presentation.xml" Id="Re11fc836119541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272c3ecee4512"/>
  </p:sldMasterIdLst>
  <p:notesMasterIdLst>
    <p:notesMasterId xmlns:r="http://schemas.openxmlformats.org/officeDocument/2006/relationships" r:id="R89ffb79d7ef84349"/>
  </p:notesMasterIdLst>
  <p:sldIdLst>
    <p:sldId xmlns:r="http://schemas.openxmlformats.org/officeDocument/2006/relationships" id="256" r:id="R22eab429e2a3457d"/>
    <p:sldId xmlns:r="http://schemas.openxmlformats.org/officeDocument/2006/relationships" id="257" r:id="Rb36b193acbba4cc9"/>
    <p:sldId xmlns:r="http://schemas.openxmlformats.org/officeDocument/2006/relationships" id="258" r:id="R0f91893b3c7f4e3f"/>
    <p:sldId xmlns:r="http://schemas.openxmlformats.org/officeDocument/2006/relationships" id="259" r:id="R22a2f6d69ee54103"/>
    <p:sldId xmlns:r="http://schemas.openxmlformats.org/officeDocument/2006/relationships" id="260" r:id="R6b37a7a14aee4e17"/>
    <p:sldId xmlns:r="http://schemas.openxmlformats.org/officeDocument/2006/relationships" id="261" r:id="R89a43a7aac684034"/>
    <p:sldId xmlns:r="http://schemas.openxmlformats.org/officeDocument/2006/relationships" id="262" r:id="Re9f253635c0942a5"/>
    <p:sldId xmlns:r="http://schemas.openxmlformats.org/officeDocument/2006/relationships" id="263" r:id="Re946a3dfc5eb44a2"/>
    <p:sldId xmlns:r="http://schemas.openxmlformats.org/officeDocument/2006/relationships" id="264" r:id="Rfdcd1c9122be45b1"/>
    <p:sldId xmlns:r="http://schemas.openxmlformats.org/officeDocument/2006/relationships" id="265" r:id="R0228bd4991484bf9"/>
    <p:sldId xmlns:r="http://schemas.openxmlformats.org/officeDocument/2006/relationships" id="266" r:id="R7138e06538bd4849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ecd37b203f4cb7" /><Relationship Type="http://schemas.openxmlformats.org/officeDocument/2006/relationships/slideMaster" Target="/ppt/slideMasters/slideMaster1.xml" Id="R9db272c3ecee4512" /><Relationship Type="http://schemas.openxmlformats.org/officeDocument/2006/relationships/notesMaster" Target="/ppt/notesMasters/notesMaster1.xml" Id="R89ffb79d7ef84349" /><Relationship Type="http://schemas.openxmlformats.org/officeDocument/2006/relationships/presProps" Target="/ppt/presProps.xml" Id="R407f644bb0f04e30" /><Relationship Type="http://schemas.openxmlformats.org/officeDocument/2006/relationships/viewProps" Target="/ppt/viewProps.xml" Id="R6aedcffd7e5746e9" /><Relationship Type="http://schemas.openxmlformats.org/officeDocument/2006/relationships/tableStyles" Target="/ppt/tableStyles.xml" Id="R608e1d56b0374edb" /><Relationship Type="http://schemas.openxmlformats.org/officeDocument/2006/relationships/slide" Target="/ppt/slides/slide1.xml" Id="R22eab429e2a3457d" /><Relationship Type="http://schemas.openxmlformats.org/officeDocument/2006/relationships/slide" Target="/ppt/slides/slide2.xml" Id="Rb36b193acbba4cc9" /><Relationship Type="http://schemas.openxmlformats.org/officeDocument/2006/relationships/slide" Target="/ppt/slides/slide3.xml" Id="R0f91893b3c7f4e3f" /><Relationship Type="http://schemas.openxmlformats.org/officeDocument/2006/relationships/slide" Target="/ppt/slides/slide4.xml" Id="R22a2f6d69ee54103" /><Relationship Type="http://schemas.openxmlformats.org/officeDocument/2006/relationships/slide" Target="/ppt/slides/slide5.xml" Id="R6b37a7a14aee4e17" /><Relationship Type="http://schemas.openxmlformats.org/officeDocument/2006/relationships/slide" Target="/ppt/slides/slide6.xml" Id="R89a43a7aac684034" /><Relationship Type="http://schemas.openxmlformats.org/officeDocument/2006/relationships/slide" Target="/ppt/slides/slide7.xml" Id="Re9f253635c0942a5" /><Relationship Type="http://schemas.openxmlformats.org/officeDocument/2006/relationships/slide" Target="/ppt/slides/slide8.xml" Id="Re946a3dfc5eb44a2" /><Relationship Type="http://schemas.openxmlformats.org/officeDocument/2006/relationships/slide" Target="/ppt/slides/slide9.xml" Id="Rfdcd1c9122be45b1" /><Relationship Type="http://schemas.openxmlformats.org/officeDocument/2006/relationships/slide" Target="/ppt/slides/slide10.xml" Id="R0228bd4991484bf9" /><Relationship Type="http://schemas.openxmlformats.org/officeDocument/2006/relationships/slide" Target="/ppt/slides/slide11.xml" Id="R7138e06538bd48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54e48f32d14d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9f2260d21b4809" /><Relationship Type="http://schemas.openxmlformats.org/officeDocument/2006/relationships/notesMaster" Target="/ppt/notesMasters/notesMaster1.xml" Id="Ra7dfcaa8cea843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ac401b524b49d7" /><Relationship Type="http://schemas.openxmlformats.org/officeDocument/2006/relationships/notesMaster" Target="/ppt/notesMasters/notesMaster1.xml" Id="R0382b6c859264d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4647851fc4725" /><Relationship Type="http://schemas.openxmlformats.org/officeDocument/2006/relationships/notesMaster" Target="/ppt/notesMasters/notesMaster1.xml" Id="Reb902dc2bf6547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1c294657f84bb9" /><Relationship Type="http://schemas.openxmlformats.org/officeDocument/2006/relationships/notesMaster" Target="/ppt/notesMasters/notesMaster1.xml" Id="Rd55a1b2801ce42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605aa2c1f54885" /><Relationship Type="http://schemas.openxmlformats.org/officeDocument/2006/relationships/notesMaster" Target="/ppt/notesMasters/notesMaster1.xml" Id="R47ae5e66723d40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67b4f72654cb1" /><Relationship Type="http://schemas.openxmlformats.org/officeDocument/2006/relationships/notesMaster" Target="/ppt/notesMasters/notesMaster1.xml" Id="R290da708079343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bb1191c1ef4de7" /><Relationship Type="http://schemas.openxmlformats.org/officeDocument/2006/relationships/notesMaster" Target="/ppt/notesMasters/notesMaster1.xml" Id="R49fd96aaface4b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41e83ecf88418d" /><Relationship Type="http://schemas.openxmlformats.org/officeDocument/2006/relationships/notesMaster" Target="/ppt/notesMasters/notesMaster1.xml" Id="R8d729bc2e80246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50d80ac5a24835" /><Relationship Type="http://schemas.openxmlformats.org/officeDocument/2006/relationships/notesMaster" Target="/ppt/notesMasters/notesMaster1.xml" Id="R416c3a31945549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ab7a47a3bc4860" /><Relationship Type="http://schemas.openxmlformats.org/officeDocument/2006/relationships/notesMaster" Target="/ppt/notesMasters/notesMaster1.xml" Id="Ra55a3097e0134f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99c9b08e5a41c2" /><Relationship Type="http://schemas.openxmlformats.org/officeDocument/2006/relationships/notesMaster" Target="/ppt/notesMasters/notesMaster1.xml" Id="Ree8403c58119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0 页 · 封面（20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各位老师、各位同事，大家好。我是北京信息科技大学的于涛。今天汇报我们的工作：面向智慧化学实验室的任务导向可执行建模框架。通讯作者是赵淳老师。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今天的汇报围绕一个核心问题展开：当实验室已经能够自动执行流程，而且大模型开始参与决策和控制时，怎样让不同来源的控制意图都在同一套可解释、可检查的机制中运行。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先介绍背景问题，再说明一次任务执行需要建模的内容。随后给出资源、工作流、约束和跨层协议组成的统一框架，接着展开设备模型进入控制链路的关键机制。最后用反应釜加热说明具体执行，并介绍仿真反馈闭环和工作总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从自动执行任务流程，进入大模型参与决策与流程控制的阶段。无论意图来自人工、任务流程还是大模型，一次任务执行始终需要说明四件事：资源如何组织与调用，设备状态如何演化，数据如何产生与传递，以及执行是否落在允许边界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加入后，这个问题更加突出，因为它可以动态提出控制请求，也会根据反馈调整方案。我们的基本原则是不能为大模型开特权，也不能另设直达设备的旁路。所有控制请求都必须进入同一套执行链路。接下来要介绍的统一框架，就是为了解决这个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提到的一次执行要说明资源、状态、数据和边界。这里把它们组织成统一模型：资源层描述设备能力、属性、状态和反馈；工作流层描述任务步骤、数据依赖、节点交互和生命周期；约束层描述实验室基线、任务目标和允许边界；跨层协议规定控制信号、数据类型、端口关系和反馈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三层不是串行的命令转发，而是共同描述同一个任务执行过程。模型定义对象和规则，统一执行机制按照这些规则运行。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资源层把每台设备表达为一个可执行的对象模型。能力模型回答设备能做什么、可以接收哪些参数、有哪些接口和数据端口；状态机回答当前状态能否接受请求、请求如何推进，以及反馈如何更新状态。Adapter 只负责协议映射和通信。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样，设备控制不再是流程直接调用某个物理设备，而是先作用于设备模型，再由状态机结合当前状态决定是否发令。人工、流程和大模型提出的控制请求经过同一状态机，设备的能力和当前状态也能够沿同一条链路被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层先组织整个任务的步骤和数据依赖，再由节点表达每一步的执行语义。节点保存当前值、目标值和业务标志，也记录待执行、运行中、已完成和失败等生命周期。接口传递控制信号与载荷，数据端口传递实验数据和属性映射。触发器读取变量、接口值和生命周期，在条件成立时执行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例如加热节点在满足前置条件后发出设备请求，设备反馈更新状态和变量，节点只有在完成条件成立时才结束并激活后续步骤。节点、接口和触发器共同构成一个具有明确交互逻辑的任务单元。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约束层同时观察资源侧和工作流侧。内禀约束由设备状态机本地处理，例如设备不允许在某种状态下接受请求；实验室基线约束持续监督实验室运行；任务约束只在具体任务期间生效。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条件成立时，可以采取警告、报警、停止或中止等动作。关键是约束与执行链路使用同一套模型对象和执行方法，而不是在设备控制之外外挂一段脚本。这样执行边界能够被说明、被检查，也能在运行过程中产生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前面三层模型在这里汇合成一条实际执行链路。任务流程通过接口调用设备模型定义的能力，设备模型中的状态机根据当前状态处理请求，再通过 Adapter 向物理设备发令。物理设备返回的状态、事件和数据沿同一条路径反馈到状态机和工作流。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横向表示工作流组织任务步骤，纵向表示每一步都要经过设备状态机。无论意图来自人工、流程还是大模型，设备执行都要经过同一个模型、状态机和约束检查。我们建模的正是“人如何控制设备”这一过程，因此大模型没有特权旁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这一页用反应釜加热把抽象机制落到一个具体任务。加热节点提出请求，状态机依据当前状态处理请求，通过 MQTT Adapter 下发到设备。反应釜返回温度和运行状态，Adapter 把反馈带回状态机，状态机更新设备状态，节点再依据完成条件判断是否结束并激活后续步骤。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SmartLab 2.0 原型中，这条链路由工作流引擎、接口、状态机引擎、MQTT Adapter 和设备共同实现。温度越界或设备异常时，约束介入并执行相应处理。这个案例用于说明模型能够实例化并执行任务，不用于宣称性能对比。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统一执行链路还可以扩展到仿真环境。仿真执行和实机执行只在 Adapter 层区分，上层继续使用同一套工作流、设备模型、状态机和约束。大模型提出控制请求后，先在仿真环境中获得模拟状态和实验数据，再根据反馈调整方案并继续决策。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仿真结果、约束检查和预设上机条件都满足时，才切换到实机执行。切换后控制请求仍然经过相同的状态机和约束检查。这样可以形成大模型决策、统一控制、仿真反馈和方案调整的闭环，同时把大模型的设备控制能力限制在可观察、可检查的范围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最后总结四点。第一，我们把设备操作过程纳入模型，流程通过设备能力模型和状态机控制设备。第二，资源、工作流和约束共同描述一次任务执行，接口、触发器、状态机和 Adapter 共同构成执行语义。第三，流程、人工和大模型共用同一条设备执行链路，没有特权旁路。第四，在这套机制上可以进一步接入仿真执行，通过反馈调整和上机准入条件形成闭环。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因此，我们的核心贡献可以概括为：用明确的建模语言描述具体实验室和任务，用统一的执行语义组织它们运行。谢谢各位。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90e86431c4d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fc648f8ba48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7e856780449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24ca411cd47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58da5c03046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2a1727dd3462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111a3bba742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fc8b568574f5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9413ac80a40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9d551c15845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6507f29c8454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89DC85-54F5-4264-8AA5-ABE2BEACE3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24B2CF-0C91-4B1A-B97A-0CC6018F68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E78BEE-BC3B-4897-ACB8-CFC63AB315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9967F8-2A92-4480-8CDA-C55843F331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DD52F7-86F4-4DD3-A691-267C2B81AF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7E5EC0-8780-4109-9108-856D8C3DB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3E7247-3CE2-40CE-BF8E-08E8C9AD6A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6B25F1-EA49-41A9-B684-C16A359EB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8E4320-B3AD-441E-BBB7-6628A66F2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832057-6783-4296-9C0C-BD3B75AA0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FD48A6-F7AE-489F-8CDD-48CBB3E65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F6350-A668-48E3-BE9D-F70A8F65D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CE4BBE-EB84-4807-80A1-400096F096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677CD-B8E8-4609-85A3-441897DC5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8AEF26-A2A8-4C26-B881-151E6AB2B9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57711-D861-4167-826E-1C699DB5B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877F64-A2CA-47A8-925F-0414F58A6A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1A13105-8F19-43FF-BC40-D6B127493B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542793-A3B0-48C3-935B-214D9CF1D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BDC7C5-24A7-4E55-8B8B-1122F6DF5B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8C7EEDA-57E2-4BFC-AABF-864060C66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7BC59-4ECF-4B7D-B29C-02D7A36D5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3D0D23-F9EF-4A9C-9815-8A03DD8899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237916-E258-4387-8EA3-F69F14BC04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C87D74C-3168-4541-8807-92F3DE2CC8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6441DF1-579F-4C84-BB98-4534A167D6B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C447C8B-3B0E-41D2-88FD-90B37EE31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FCE6D9C-A3AA-405E-897D-0BB9D664F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FBF5E5-704F-452F-809E-B84DA758F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E4369-F598-4E50-937D-FF0133C73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9BFD23B-2EC1-4819-99D4-527B79E01C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5A2CF0-A4C6-4995-8038-4C1F84E2FE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E87972B-BAC0-426E-B5FC-DFBA81F22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485BCE-C3BD-4312-909B-D8DA72E9D0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DB3FD05-5462-42C6-9E2E-856EA1FA6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568220-1FB3-48D3-B54D-D4C021FB50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5165B9-F882-4E8A-9B85-68433535E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1B3653-63CE-4E67-A908-F195C2FD25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7E8D05-E91E-4E5F-8112-4F3D45873D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73C5D9-6D87-4395-98A6-873424B0DC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490EFB-AD64-4F37-9C16-342BB5B82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4AB5C9-AFA5-4894-AE70-5ADC1E840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5AEC2D-5ADC-4674-B9D5-1E730FDE7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670C9F9-4433-4E98-9675-BDACFCE0071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68B74B-892B-444B-9366-02D4553138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67B799-E31D-4F2E-A98E-C543C1F80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10BC3E-3EC2-4F13-85E8-B7713C38AE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D4C378-9535-4637-9537-083270BF8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8D4D2C-1F36-438F-B5D7-5C01DD51B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B40A84-02BB-464E-BE83-68596CEA1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9442A3-17D4-4A74-9C7C-9F68561DC8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DB02E6-6893-454A-99EA-0707FB282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0B1FDF-EF83-4A01-8A9B-EE1DE45BA2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75978D0-1441-4863-9E69-110EF57F5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D69BB-D056-43F8-8152-AD90AFDFB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6F5B8D-CB17-4F42-81C4-6C1CBD7C3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C2C652-BD55-45A5-BB10-87D5B91274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CF60E3-53D1-4AD3-8FF7-A96CA6E4E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4a55a377514d33" /><Relationship Type="http://schemas.openxmlformats.org/officeDocument/2006/relationships/slideLayout" Target="/ppt/slideLayouts/slideLayout1.xml" Id="R60b240d6a4ce46be" /><Relationship Type="http://schemas.openxmlformats.org/officeDocument/2006/relationships/slideLayout" Target="/ppt/slideLayouts/slideLayout2.xml" Id="R57e1df60c0c74582" /><Relationship Type="http://schemas.openxmlformats.org/officeDocument/2006/relationships/slideLayout" Target="/ppt/slideLayouts/slideLayout3.xml" Id="R2187418521994afb" /><Relationship Type="http://schemas.openxmlformats.org/officeDocument/2006/relationships/slideLayout" Target="/ppt/slideLayouts/slideLayout4.xml" Id="Rfdc7706d099c4e4e" /><Relationship Type="http://schemas.openxmlformats.org/officeDocument/2006/relationships/slideLayout" Target="/ppt/slideLayouts/slideLayout5.xml" Id="R630e426064704b68" /><Relationship Type="http://schemas.openxmlformats.org/officeDocument/2006/relationships/slideLayout" Target="/ppt/slideLayouts/slideLayout6.xml" Id="Rc4cd2acc27414aed" /><Relationship Type="http://schemas.openxmlformats.org/officeDocument/2006/relationships/slideLayout" Target="/ppt/slideLayouts/slideLayout7.xml" Id="Re7d4b222da26496a" /><Relationship Type="http://schemas.openxmlformats.org/officeDocument/2006/relationships/slideLayout" Target="/ppt/slideLayouts/slideLayout8.xml" Id="Rb82e1b9ce0864820" /><Relationship Type="http://schemas.openxmlformats.org/officeDocument/2006/relationships/slideLayout" Target="/ppt/slideLayouts/slideLayout9.xml" Id="Ra519ef19ab9d42aa" /><Relationship Type="http://schemas.openxmlformats.org/officeDocument/2006/relationships/slideLayout" Target="/ppt/slideLayouts/slideLayout10.xml" Id="Rd951f3d36c4842ec" /><Relationship Type="http://schemas.openxmlformats.org/officeDocument/2006/relationships/slideLayout" Target="/ppt/slideLayouts/slideLayout11.xml" Id="Re97ecbc0ba79457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8C0D63-CA9F-404A-B534-B682079DA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C15D1C-DAAD-4762-9173-03B9AC3FD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55B65E-F81D-43DB-AF87-01C39EE5D4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08882-3239-4C53-B5B9-C39E631AB8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203BF4-0881-41BE-8239-6E0D55CCA8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b240d6a4ce46be"/>
    <p:sldLayoutId xmlns:r="http://schemas.openxmlformats.org/officeDocument/2006/relationships" id="2147483650" r:id="R57e1df60c0c74582"/>
    <p:sldLayoutId xmlns:r="http://schemas.openxmlformats.org/officeDocument/2006/relationships" id="2147483651" r:id="R2187418521994afb"/>
    <p:sldLayoutId xmlns:r="http://schemas.openxmlformats.org/officeDocument/2006/relationships" id="2147483652" r:id="Rfdc7706d099c4e4e"/>
    <p:sldLayoutId xmlns:r="http://schemas.openxmlformats.org/officeDocument/2006/relationships" id="2147483653" r:id="R630e426064704b68"/>
    <p:sldLayoutId xmlns:r="http://schemas.openxmlformats.org/officeDocument/2006/relationships" id="2147483654" r:id="Rc4cd2acc27414aed"/>
    <p:sldLayoutId xmlns:r="http://schemas.openxmlformats.org/officeDocument/2006/relationships" id="2147483655" r:id="Re7d4b222da26496a"/>
    <p:sldLayoutId xmlns:r="http://schemas.openxmlformats.org/officeDocument/2006/relationships" id="2147483656" r:id="Rb82e1b9ce0864820"/>
    <p:sldLayoutId xmlns:r="http://schemas.openxmlformats.org/officeDocument/2006/relationships" id="2147483657" r:id="Ra519ef19ab9d42aa"/>
    <p:sldLayoutId xmlns:r="http://schemas.openxmlformats.org/officeDocument/2006/relationships" id="2147483658" r:id="Rd951f3d36c4842ec"/>
    <p:sldLayoutId xmlns:r="http://schemas.openxmlformats.org/officeDocument/2006/relationships" id="2147483659" r:id="Re97ecbc0ba794577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d56568dc1a40a0" /><Relationship Type="http://schemas.openxmlformats.org/officeDocument/2006/relationships/notesSlide" Target="/ppt/notesSlides/notesSlide1.xml" Id="Re1d103808d9e44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2e894a77fb4130" /><Relationship Type="http://schemas.openxmlformats.org/officeDocument/2006/relationships/notesSlide" Target="/ppt/notesSlides/notesSlide2.xml" Id="R0a27b58f00224b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78265600914de8" /><Relationship Type="http://schemas.openxmlformats.org/officeDocument/2006/relationships/notesSlide" Target="/ppt/notesSlides/notesSlide3.xml" Id="Rd6e11a5780714b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56e292ebcc45cf" /><Relationship Type="http://schemas.openxmlformats.org/officeDocument/2006/relationships/notesSlide" Target="/ppt/notesSlides/notesSlide4.xml" Id="Re697abb338ff4c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e0b4c9dbce4630" /><Relationship Type="http://schemas.openxmlformats.org/officeDocument/2006/relationships/notesSlide" Target="/ppt/notesSlides/notesSlide5.xml" Id="R273bc931d2b141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2dced50dca4f0e" /><Relationship Type="http://schemas.openxmlformats.org/officeDocument/2006/relationships/notesSlide" Target="/ppt/notesSlides/notesSlide6.xml" Id="R415a3295887f4b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d9c1175e7b47c0" /><Relationship Type="http://schemas.openxmlformats.org/officeDocument/2006/relationships/notesSlide" Target="/ppt/notesSlides/notesSlide7.xml" Id="R2c9e7ae916494e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a60a4d9fcd4f2b" /><Relationship Type="http://schemas.openxmlformats.org/officeDocument/2006/relationships/image" Target="/ppt/media/image.png" Id="R869b4952f90648af" /><Relationship Type="http://schemas.openxmlformats.org/officeDocument/2006/relationships/notesSlide" Target="/ppt/notesSlides/notesSlide8.xml" Id="R9a09d5f74bef4c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08b72417254d68" /><Relationship Type="http://schemas.openxmlformats.org/officeDocument/2006/relationships/notesSlide" Target="/ppt/notesSlides/notesSlide9.xml" Id="Rb6b710eb328442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2a0775399f4ae5" /><Relationship Type="http://schemas.openxmlformats.org/officeDocument/2006/relationships/notesSlide" Target="/ppt/notesSlides/notesSlide10.xml" Id="R1495719c2b2249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695c15d58846c4" /><Relationship Type="http://schemas.openxmlformats.org/officeDocument/2006/relationships/notesSlide" Target="/ppt/notesSlides/notesSlide11.xml" Id="R17a1dcd6f6e848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8D0283-46CC-4865-85BD-F69594B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7B968C-3390-4FC4-9F93-F7A4B569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7AB767-6D28-4088-A11B-2DFEFDE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6640F5-7D8A-4CD8-87CC-97BCBBDA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DF2A41-1F00-4791-AA10-43E22F1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08879E-6C1A-4C5F-8A94-956EF1B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65611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C6A048-DF1E-4678-BD75-14DF139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C5C94B-88A9-4BC6-A7A1-37135C6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687B281-3960-4056-9148-115ACFB4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背景与问题：大模型参与后的执行边界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统一建模框架：资源、工作流与约束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关键执行机制：共同的设备执行链路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实现与案例：反应釜加热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扩展与展望：仿真反馈闭环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BE43546-3A5B-4C17-A4BC-D6E190F1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990B9D-1DBD-479C-AB7B-A7B40BA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44AD840-496B-4114-AE14-4B0951D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53117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59544A-4150-4003-91A4-7B5981B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A0AB52-1B8A-445B-950F-E53A7DC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背景问题：大模型参与后的执行边界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63D468-DC68-425C-8E37-ECA8C56E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8250"/>
            <a:ext cx="10725150" cy="461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随着大模型发展，智慧化学实验室开始由自动执行任务流程，走向大模型参与决策与流程控制。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资源如何组织与调用　　设备状态如何演化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数据如何产生与传递　　执行是否落在允许边界内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大模型可以动态提出控制请求，也会根据反馈调整方案，因此执行边界问题更加突出。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600"/>
              </a:spcAft>
              <a:buNone/>
              <a:defRPr sz="195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基本原则：不为大模型开特权或另设旁路，所有控制请求进入同一套执行链路。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D8EC2F-B214-40A0-8781-D913BF3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E191EA-4D91-4D29-8980-C3BABE0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193763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DB1527-8C0F-401F-8516-77B16C0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DED688-C690-43F6-8690-CE2B634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统一建模框架：L = ⟨R, F, C, Π⟩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68E7E420-EB94-4361-BDA5-CF895EB0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234440"/>
            <a:ext cx="9966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FCC9E0-3145-43BD-B927-9ABEDD8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71600"/>
            <a:ext cx="3200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R  资源层</a:t>
            </a:r>
            <a:endParaRPr sz="20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A67C34F-0D13-43DF-B4A5-AB0DDD3C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6304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组织设备能力、属性与状态机，形成可执行资源模型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B3DA4AE-BDE8-4496-AC43-70F86BDB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77440"/>
            <a:ext cx="9966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4D67C11-2210-4A3D-ACEE-2229385E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14600"/>
            <a:ext cx="3200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F  工作流层</a:t>
            </a:r>
            <a:endParaRPr sz="20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B0A1D8-1D86-41C9-9EAB-06AFF052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0604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组织任务步骤、数据依赖与节点交互，调用设备模型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C31BBB-5202-4426-8B08-0BA354B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20440"/>
            <a:ext cx="9966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90E4CB-3CC5-48EE-9536-6EADDCF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3200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C  约束层</a:t>
            </a:r>
            <a:endParaRPr sz="20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DCB61A-4980-40CE-A5F6-EF782993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4904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结合资源状态与任务上下文，监督执行边界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BE5C129-5C80-45CD-9D72-F05F9838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663440"/>
            <a:ext cx="99669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78EF2E-4233-4A58-B807-2A3E18B1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32004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Π  跨层协议</a:t>
            </a:r>
            <a:endParaRPr sz="20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6D64AB3-E14C-4C28-9EAA-2ED047AE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892040"/>
            <a:ext cx="594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约定控制信号、数据类型、端口关系与执行反馈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6642D7E-4B01-4235-AF51-2C3F27E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766548-9FCA-4D53-B49B-4956B62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167011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4A7FCF-90AA-4A43-A59B-460F639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B6F955-271D-494A-9C8C-34DC837C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3299101-FB0B-43BB-B5DE-E99EE818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68580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每台设备建成可执行对象模型，由能力模型与状态机构成。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能力模型定义设备属性、可用能力、参数、接口、数据端口和内禀约束。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状态机接收控制请求，依据当前状态处理请求，经 Adapter 发令并回收反馈。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流程、人工和大模型的设备控制请求，都必须经过状态机。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4CA204E-5922-44F4-AF97-4A4E3E34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371600"/>
            <a:ext cx="411480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定义可用能力、参数与端口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管理状态演化、发令与反馈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2C22E5-345A-4C5B-84E1-6CE6E25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4F3B0-DC9C-4B8B-AD4A-E5E1AAD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09064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FB015B-0AC2-4375-B396-EC594F9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2D7CB1-0F5E-4F18-89EB-41A3EFD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274A3A-A8DA-4C0F-92EF-C85F631C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工作流组织任务步骤及数据依赖，节点通过接口和触发器协同执行。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接口传递控制信号，端口传递实验数据。每个执行节点绑定设备的一项能力，并保存任务变量和生命周期状态。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900"/>
              </a:spcAft>
              <a:buNone/>
              <a:def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功能节点处理分支、同步和等待，触发器在条件成立时更新状态、发出请求或激活后续步骤。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671BB5-68C1-40CE-8322-D04B2FF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497B97-1CF4-40A7-B28F-62B2D53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288220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FC6F03-03A4-49D8-8EB4-4CA1D72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2C8577-8ED3-4077-B2BB-07103EF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D6170B0-6B44-4072-A053-048CAB6B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6583680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三类约束：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   – 内禀约束 —— 状态机本地处理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   – 实验室基线约束 —— 持续监督运行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lvl="1" algn="l">
              <a:spcAft>
                <a:spcPts val="1000"/>
              </a:spcAft>
              <a:buNone/>
            </a:pPr>
            <a:r>
              <a:rPr sz="15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   – 任务约束 —— 在任务执行期间生效</a:t>
            </a:r>
            <a:endParaRPr sz="15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观察空间同时来自资源侧与工作流侧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处理：警告 / 报警 / 停止 / 中止</a:t>
            </a:r>
            <a:endParaRPr sz="17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000"/>
              </a:spcAft>
              <a:buNone/>
            </a:pPr>
            <a:r>
              <a:rPr sz="170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约束与执行链路同属一套方法，而非外挂脚本</a:t>
            </a:r>
            <a:endParaRPr sz="1700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BC1A606-C1FB-49E5-8ADA-BCE8CDC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80160"/>
            <a:ext cx="438912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7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4616B2-5401-4B5C-9052-F6431BD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344C7A-A4AF-4C74-B7FE-8CD38F6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884730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9163D9-980C-4714-9783-06B13EF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42BFAFE-011B-498E-BFF0-F7B9F1D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3BBE21-86FE-4CE7-A07D-08745831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11247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设备模型 = 能力模型 + 状态机。流程先作用于模型，由状态机经适配器驱动物理设备。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02BA5A6-E7D7-4DC2-B1F4-86C174C2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471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7E0EBF-8E4C-4F69-B424-504526F3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9072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 / 人 / 大模型  →  设备模型（能力 + 状态机）  →  Adapter  →  物理设备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F86A037-C0EB-43EE-B66A-C43EEC7D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3657600" cy="32004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850"/>
              </a:spcAft>
              <a:buNone/>
            </a:pPr>
            <a:r>
              <a:t/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BDB5633-0041-4988-A8CF-66F7D75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4476750" cy="3048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横向：工作流组织任务步骤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明确各步的顺序与数据依赖。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纵向：每一步经过设备状态机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状态机经 Adapter 发令并接收反馈。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任务切片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横向步骤组织与纵向执行链路的结合。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78EA6A-0307-4085-9DAB-9992C07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05475"/>
            <a:ext cx="4572000" cy="51435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控制意图来源不同，设备执行链路相同。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3775A6-0E45-48C4-825B-1CF0C27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2AF8FB-DF12-4C2C-BEB7-A611C57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b4952f90648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00350"/>
            <a:ext cx="6334125" cy="33311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742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27CB85-55C8-43AF-9304-B7FA602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A869FD-6C18-4E93-9D47-26F9942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9C3858-BBBB-437A-8965-20E0F8C0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目的：说明模型如何实例化为可执行任务（不是性能对比）</a:t>
            </a:r>
            <a:endParaRPr sz="1500" b="1">
              <a:solidFill>
                <a:srgbClr val="2E75B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3A3A77-AB65-4240-A284-F8088DA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685800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加热节点提出请求 → 反应釜状态机 → Adapter 下发加热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温度与运行状态回传 → 状态机更新 → 节点判断完成条件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节点完成后激活后续步骤，越界或异常时由约束介入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SmartLab 2.0 原型：工作流引擎 → 接口 → 状态机引擎 → MQTT Adapter → 设备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200"/>
              </a:spcAft>
              <a:buNone/>
            </a:pPr>
            <a:r>
              <a:rPr sz="16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语义在模型与引擎中，Adapter 负责协议映射，不承担旁路总控</a:t>
            </a:r>
            <a:endParaRPr sz="16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F4A47D6-BF6C-4939-B261-8B184F9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554480"/>
            <a:ext cx="4206240" cy="4206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E6F5"/>
          </a:solidFill>
          <a:ln xmlns:a="http://schemas.openxmlformats.org/drawingml/2006/main" w="19050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反应釜加热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加热节点提出请求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状态机经 Adapter 发令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温度与状态回传</a:t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满足条件后推进后续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  <a:buNone/>
              <a:def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越界或异常时由约束介入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A28A86-C763-43A0-ACEB-B8E854EF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7E5A4A-B8A6-4AAB-A2B0-47DB1427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557683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033A-D4CA-48F2-BDCB-C2EB166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FE515C-5B26-483C-A7BB-20103441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9BF6E0-24D4-4647-B09F-1C039344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10972800" cy="442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Adapter 区分仿真执行与实机执行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1C006C-3222-43CF-BF93-DD317A9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仿真执行：接入仿真环境，返回模拟状态与实验数据。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实机执行：接入物理设备，返回实际状态与实验数据。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两种执行模式沿用同一套设备模型、状态机、工作流与约束。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CE187EC-FEDF-4DA5-95E4-DD77DA33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大模型决策与反馈调整闭环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7B6B84-3359-4D9A-A5C9-65CB2760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 → 提出控制请求 → 统一执行链路 → 仿真执行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10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模拟反馈 → 大模型调整 → 再次决策与仿真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D280C0-97CF-49F4-87B2-BBE4A76F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满足预设条件后进入实机执行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6B4E25-BACF-47EE-9C3B-2A74EEE7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0972800" cy="866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依据仿真结果、约束检查与上机准入条件决定是否执行。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切换到实机后，控制请求仍须经过相同的状态机与约束检查。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08595F-4D9E-4316-9F77-73F8F914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260D063-1D0E-4375-87F0-251AE5F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31760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B71D5-E4C1-4847-B96E-4FA452B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86F66A-581B-4598-B506-5F72CD5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E5BA2A6-3D81-46F3-A1A2-5529B66D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F3FD23-3EE7-4B41-B31B-C449A662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20240"/>
            <a:ext cx="9601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210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设备操作过程进入模型，流程通过能力模型与状态机控制设备。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210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资源、工作流、约束、接口和触发器共同实现执行语义。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210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流程、人工和大模型共用同一执行链路，仿真反馈闭环在此基础上扩展。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5228686-41D1-494F-ACC9-0FC1540C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7763E56-E0C0-48F0-B0B3-5F12994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AE642F9-B282-4741-8019-EDB273C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551531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2026-09-09T07:28:47.4660000Z</dcterms:created>
  <dcterms:modified xsi:type="dcterms:W3CDTF">2026-09-09T07:28:47.4660000Z</dcterms:modified>
</coreProperties>
</file>