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de47b0db3e4540" /><Relationship Type="http://schemas.openxmlformats.org/officeDocument/2006/relationships/extended-properties" Target="/docProps/app.xml" Id="R76e65e0c7e654598" /><Relationship Type="http://schemas.openxmlformats.org/officeDocument/2006/relationships/officeDocument" Target="/ppt/presentation.xml" Id="R2d0ff8d6f74e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434181da5d419b"/>
  </p:sldMasterIdLst>
  <p:notesMasterIdLst>
    <p:notesMasterId xmlns:r="http://schemas.openxmlformats.org/officeDocument/2006/relationships" r:id="R05026a06fb5542af"/>
  </p:notesMasterIdLst>
  <p:sldIdLst>
    <p:sldId xmlns:r="http://schemas.openxmlformats.org/officeDocument/2006/relationships" id="256" r:id="R2ec3cc90e17548ed"/>
    <p:sldId xmlns:r="http://schemas.openxmlformats.org/officeDocument/2006/relationships" id="257" r:id="Rfbb95ef753b848fd"/>
    <p:sldId xmlns:r="http://schemas.openxmlformats.org/officeDocument/2006/relationships" id="258" r:id="Ra070509699044dca"/>
    <p:sldId xmlns:r="http://schemas.openxmlformats.org/officeDocument/2006/relationships" id="259" r:id="Rfdc2351f0b9242e1"/>
    <p:sldId xmlns:r="http://schemas.openxmlformats.org/officeDocument/2006/relationships" id="260" r:id="R36627a01a0174ead"/>
    <p:sldId xmlns:r="http://schemas.openxmlformats.org/officeDocument/2006/relationships" id="261" r:id="R0a82e5e2ac144421"/>
    <p:sldId xmlns:r="http://schemas.openxmlformats.org/officeDocument/2006/relationships" id="262" r:id="Rf6e1abb9453e4ffc"/>
    <p:sldId xmlns:r="http://schemas.openxmlformats.org/officeDocument/2006/relationships" id="263" r:id="Rc038bad0dcea4ddf"/>
    <p:sldId xmlns:r="http://schemas.openxmlformats.org/officeDocument/2006/relationships" id="264" r:id="R5220c9eccadb4e5b"/>
    <p:sldId xmlns:r="http://schemas.openxmlformats.org/officeDocument/2006/relationships" id="265" r:id="Rfd47eb6e005e4d8c"/>
    <p:sldId xmlns:r="http://schemas.openxmlformats.org/officeDocument/2006/relationships" id="266" r:id="R34747ed369d542c4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e1e74c756a4c70" /><Relationship Type="http://schemas.openxmlformats.org/officeDocument/2006/relationships/slideMaster" Target="/ppt/slideMasters/slideMaster1.xml" Id="R14434181da5d419b" /><Relationship Type="http://schemas.openxmlformats.org/officeDocument/2006/relationships/notesMaster" Target="/ppt/notesMasters/notesMaster1.xml" Id="R05026a06fb5542af" /><Relationship Type="http://schemas.openxmlformats.org/officeDocument/2006/relationships/presProps" Target="/ppt/presProps.xml" Id="Radf6487b69924694" /><Relationship Type="http://schemas.openxmlformats.org/officeDocument/2006/relationships/viewProps" Target="/ppt/viewProps.xml" Id="R0dc3a1ffc1934b9d" /><Relationship Type="http://schemas.openxmlformats.org/officeDocument/2006/relationships/tableStyles" Target="/ppt/tableStyles.xml" Id="R8dffbe559aba4df9" /><Relationship Type="http://schemas.openxmlformats.org/officeDocument/2006/relationships/slide" Target="/ppt/slides/slide1.xml" Id="R2ec3cc90e17548ed" /><Relationship Type="http://schemas.openxmlformats.org/officeDocument/2006/relationships/slide" Target="/ppt/slides/slide2.xml" Id="Rfbb95ef753b848fd" /><Relationship Type="http://schemas.openxmlformats.org/officeDocument/2006/relationships/slide" Target="/ppt/slides/slide3.xml" Id="Ra070509699044dca" /><Relationship Type="http://schemas.openxmlformats.org/officeDocument/2006/relationships/slide" Target="/ppt/slides/slide4.xml" Id="Rfdc2351f0b9242e1" /><Relationship Type="http://schemas.openxmlformats.org/officeDocument/2006/relationships/slide" Target="/ppt/slides/slide5.xml" Id="R36627a01a0174ead" /><Relationship Type="http://schemas.openxmlformats.org/officeDocument/2006/relationships/slide" Target="/ppt/slides/slide6.xml" Id="R0a82e5e2ac144421" /><Relationship Type="http://schemas.openxmlformats.org/officeDocument/2006/relationships/slide" Target="/ppt/slides/slide7.xml" Id="Rf6e1abb9453e4ffc" /><Relationship Type="http://schemas.openxmlformats.org/officeDocument/2006/relationships/slide" Target="/ppt/slides/slide8.xml" Id="Rc038bad0dcea4ddf" /><Relationship Type="http://schemas.openxmlformats.org/officeDocument/2006/relationships/slide" Target="/ppt/slides/slide9.xml" Id="R5220c9eccadb4e5b" /><Relationship Type="http://schemas.openxmlformats.org/officeDocument/2006/relationships/slide" Target="/ppt/slides/slide10.xml" Id="Rfd47eb6e005e4d8c" /><Relationship Type="http://schemas.openxmlformats.org/officeDocument/2006/relationships/slide" Target="/ppt/slides/slide11.xml" Id="R34747ed369d542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20543b52c74e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a469889e934ed4" /><Relationship Type="http://schemas.openxmlformats.org/officeDocument/2006/relationships/notesMaster" Target="/ppt/notesMasters/notesMaster1.xml" Id="R43418420152840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bf308a93fa4281" /><Relationship Type="http://schemas.openxmlformats.org/officeDocument/2006/relationships/notesMaster" Target="/ppt/notesMasters/notesMaster1.xml" Id="R50d1b92b31c040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5b1b6f3dba4b3d" /><Relationship Type="http://schemas.openxmlformats.org/officeDocument/2006/relationships/notesMaster" Target="/ppt/notesMasters/notesMaster1.xml" Id="Rd60e5d86c8184b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b2f0944ea844b8" /><Relationship Type="http://schemas.openxmlformats.org/officeDocument/2006/relationships/notesMaster" Target="/ppt/notesMasters/notesMaster1.xml" Id="R957d91ebfb1246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0317ce3fdf47e1" /><Relationship Type="http://schemas.openxmlformats.org/officeDocument/2006/relationships/notesMaster" Target="/ppt/notesMasters/notesMaster1.xml" Id="Rba0f44e7215e41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2d141a3dec46d5" /><Relationship Type="http://schemas.openxmlformats.org/officeDocument/2006/relationships/notesMaster" Target="/ppt/notesMasters/notesMaster1.xml" Id="Rb908a65a92114e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f3c6cb6d1b4285" /><Relationship Type="http://schemas.openxmlformats.org/officeDocument/2006/relationships/notesMaster" Target="/ppt/notesMasters/notesMaster1.xml" Id="R37b702fab3ae48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280d141b1240aa" /><Relationship Type="http://schemas.openxmlformats.org/officeDocument/2006/relationships/notesMaster" Target="/ppt/notesMasters/notesMaster1.xml" Id="R50929b29dc9248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fae6bc6c304ab6" /><Relationship Type="http://schemas.openxmlformats.org/officeDocument/2006/relationships/notesMaster" Target="/ppt/notesMasters/notesMaster1.xml" Id="Ra434ea2172c847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fd0afccbce4fb9" /><Relationship Type="http://schemas.openxmlformats.org/officeDocument/2006/relationships/notesMaster" Target="/ppt/notesMasters/notesMaster1.xml" Id="R10355685545f46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db7d0a357842dc" /><Relationship Type="http://schemas.openxmlformats.org/officeDocument/2006/relationships/notesMaster" Target="/ppt/notesMasters/notesMaster1.xml" Id="R8a78ffc572b745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各位老师、各位同行，大家好。我是于涛，今天汇报的题目是《面向智慧化学实验室的任务导向可执行建模框架》。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工作关注实验室任务从提出到实际执行的过程：我们怎样用模型明确表达设备、任务逻辑和执行规则，并让这些模型按一套共同的机制运行。大模型开始参与实验室决策和控制后，这个问题也直接关系到它的控制请求应该怎样进入设备执行。下面我按背景、建模、执行和案例这条主线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今天的汇报分为六个部分。首先说明大模型参与后，为什么需要更加明确的执行边界；然后从一次任务的执行需求出发，介绍资源、工作流、约束及跨层协议构成的统一框架。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在框架部分，我会先给出整体组织方式，再分别介绍各层。接着用统一执行链路说明这些模型如何协同运行，并回到人工、流程和大模型共用执行机制这一问题。最后通过 SmartLab 2.0 中的反应釜加热案例说明实现，介绍仿真反馈闭环的扩展方向，并总结这项工作的贡献。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随着大模型发展，智慧化学实验室正在从能够自动执行任务流程，逐步走向大模型参与决策与控制。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但是，无论执行意图来自人工、任务流程还是大模型，一次任务执行始终需要说明四件事：资源如何组织与调用，设备状态如何演化，数据如何产生与传递，以及执行是否落在允许边界内。这些都是任务执行本身需要明确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的加入，使执行边界问题更加突出：它可以提出什么控制请求，这些请求又必须在什么条件下才能执行？我们的原则是不能为大模型开特权，也不能另设直达设备的旁路，所有控制请求都使用同一套执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因此，我们需要对任务执行统一建模，让资源、状态、数据和边界能够在共同的机制中被描述和处理。接下来的问题就是：这套模型应该怎样组织？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从一次实验室任务出发，分析需要建模的内容。首先，任务需要调用设备，要说明设备能做什么、有哪些属性以及当前处于什么状态，这些执行对象形成资源模型。其次，任务包含多个步骤，要说明步骤顺序、数据依赖和推进条件，这些任务过程形成工作流模型。第三，执行必须遵守运行规则，需要结合设备状态和任务上下文判断边界，这些规则形成约束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图中不是把四个问题机械地分成四层，而是按建模职责组织为资源、工作流与约束。请先看整体：左侧工作流层组织任务，右侧资源层描述设备，底部约束同时观察两者，并将处理动作返回相应模型。上方的跨层协议 Π 统一约定控制信号、数据类型、端口关系和执行反馈，连接各层的交互。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对应页面下方的概括：资源层承载能力与状态，工作流层组织步骤与数据，约束层界定执行边界。它们共同回应背景中的四个执行问题。状态和数据贯穿各层交互，由协议统一约定表达与交互方式。这样就形成了由 R、F、C 和 Π 构成的统一可执行框架。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这套框架具有明确的建模语言和执行语义。具体实验室的设备与任务逻辑写在模型中，通用机制根据模型解释运行。图中每个模块的内部组成会在后面分别放大说明，最后再把它们连接成完整的执行链路。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先看资源层。图中放大了总览中的设备对象模型，它由能力模型与状态机共同构成。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力模型回答设备能做什么。它定义设备属性、可用操作、参数要求以及相关接口和内禀约束。例如，反应釜提供加热能力，具有温度属性，加热操作接收目标温度等参数。这样，任务使用的是明确的设备能力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状态机回答操作怎样执行。它接收控制请求，结合能力定义和当前状态判断能否执行，然后按状态转移规则推进操作，通过输出接口发令，并依据反馈更新设备状态和属性。具体设备通信由 Adapter 完成，这一部分稍后在执行链路中展开。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资源模型既描述设备的结构，也描述操作过程。人工、工作流和大模型提出的请求，都从设备模型的共同入口进入，遵守相同的能力要求和状态规则。这为统一执行提供了基础。接下来再看，怎样把多个设备操作组织为一个完整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工作流层首先组织整个任务的步骤及数据依赖。请先看图上方，前序节点、当前节点与后续节点通过接口建立执行关系。设备执行节点绑定具体设备能力，分支、同步和等待等组织逻辑由相应的功能节点承担。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下方展开的当前节点。变量空间保存目标值、当前值和业务标志，生命周期描述节点所处的执行阶段，控制接口传递执行信号，数据端口表达输入和输出。触发器将这些组成部分联系起来：读取变量、接口值与生命周期，判断条件是否成立，再更新变量或状态、发出请求，或者推进后续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部分共同构成一个具有明确语义的节点。例如，加热节点收到前序激活信号，在前置条件成立后向设备模型提出加热请求。温度反馈到达后更新节点变量，触发器再判断是否满足任务的完成条件。反馈到达并不直接等于节点完成，后续步骤由节点规定的条件和动作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任务逻辑因此能够通过变量空间、生命周期、接口和触发规则在模型中表达，执行机制按照这些语义运行。下一步还需要说明：运行过程中，如何共同观察资源与任务，确保执行遵守边界。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约束层关心执行是否处于允许范围。请看图的上半部分：资源侧提供设备状态、属性和测量数据，工作流侧提供当前步骤、任务变量以及执行上下文。绿色箭头表示这些可观察信息进入约束判断。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结合观察结果判断条件。条件触发后，系统可以采取警告、报警、停止或中止等相应动作。橙色箭头表示处理动作通过接口返回资源模型或工作流模型，使设备操作和任务推进按照统一语义得到处理。约束是对执行过程的跨层观察与处理，不是控制请求依次通过的串行转发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统一考虑三类规则。内禀约束与设备自身能力和状态相关，由设备状态机本地处理；实验室基线约束持续监督实验室运行；任务约束在具体任务期间生效。例如，同一温度数值可以结合当前任务阶段，判断是否触发相应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至此，执行对象、任务过程和运行规则都已经说明。下面把这些模型合起来，展示一次设备请求怎样下发、反馈怎样返回，以及各层如何协同运行。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这一页把前面的模型组成转成实际运行的链路。先抓住图下方的第一句话：控制请求经设备状态机与 Adapter 执行，反馈返回模型并驱动任务推进。再看图的左侧，横向由工作流组织多个任务步骤，纵向由工作流节点、设备模型、Adapter 和物理设备完成一次设备执行。向下是控制请求与指令，向上是状态和数据反馈。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右侧展开了各单元。工作流节点的触发器读取变量、接口值与生命周期，在条件成立时发出控制请求。设备状态机结合能力定义和当前状态处理请求，按照状态转移规则推进操作，再通过输出接口发令。Adapter 将标准指令映射为设备协议，由物理设备执行。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反馈沿相同结构返回：Adapter 转换设备事件和测量数据，状态机更新设备状态与属性，再将执行状态和相关数据提供给节点。节点根据更新后的信息判断完成条件，并决定是否推进后续步骤。约束同时观察资源与任务上下文，必要时通过相应接口作用于节点或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回到背景中的大模型问题。人工、任务流程和大模型可以提出不同来源的意图，但对设备的请求都进入共同的设备模型与状态机，遵守相同的能力、状态和约束规则。人工或大模型可以直接调用设备模型的共同入口，并不需要先变成某个工作流节点；图中以工作流发起的一次执行展示这套共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这条链路说明，框架不仅定义了各类模型，也明确了模型之间如何交互和执行。大模型能够提出请求和调整方案，其设备控制始终在这套机制内完成。接下来用反应釜加热任务说明具体实现。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这一页先说明实现，再看一次任务执行。在 SmartLab 2.0 原型中，工作流与状态机引擎解释执行模型，MQTT Adapter 完成设备通信。我们以反应釜加热任务实例化这些模型。资源模型给出反应釜的加热能力、属性与状态机；加热节点绑定该能力，保存任务参数，并定义触发和完成条件；约束模型给出运行期间需要检查的规则。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图中的时序从上到下阅读。加热节点首先提出请求，状态机结合当前状态和能力要求处理请求，再通过 Adapter 发出加热指令，反应釜执行操作。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中间的循环表示持续反馈。反应釜返回温度和运行状态，Adapter 转换反馈，状态机与节点更新各自的模型信息；约束同时观察设备状态和任务上下文。这里的重点是，收到反馈并不等于任务已经完成，节点还需要判断完成条件。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方分开展示两种情况。正常执行满足完成条件时，节点完成并激活后续步骤。如果温度越界或设备异常触发了停止、中止类规则，则由约束通过相应接口采取动作，设备状态与任务状态随处理结果更新；这条异常分支不会直接接入正常的后续激活。警告、报警等其他规则则按各自定义的处理语义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因此，这个案例把能力绑定、请求处理、设备执行、持续反馈、完成判断和异常处理连接起来，说明模型怎样参与实际任务运行。沿用相同的执行机制，还可以进一步扩展到仿真执行。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这一页介绍在统一执行机制上扩展仿真反馈闭环。首先明确模拟发生在哪里：模拟执行由 Adapter 内部完成。同一个 Adapter 提供模拟执行与真机执行两种模式，上层继续使用相同的工作流、设备能力模型、状态机与约束规则。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请先看上方，大模型提出方案和控制请求，经过共同模型与执行机制后，进入 Adapter 的统一控制入口。开始时选择模拟执行模式。Adapter 在内部模拟指令执行，并生成模拟状态与数据，这些反馈沿原来的接口返回设备模型和工作流。约束仍然结合资源状态和任务上下文进行检查，相应状态、数据与约束结果再提供给大模型。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大模型根据反馈判断方案是否需要调整。如果模拟执行或相关检查未通过，就调整方案，再经相同的模型与执行链路继续模拟。这样形成大模型决策、模拟执行、反馈与方案调整的闭环。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当模拟执行及相关检查通过后，切换 Adapter 的执行模式，进入真机执行。图中橙色虚线表示检查通过后的模式切换。切换后，控制请求仍然由上层模型经同一入口交给 Adapter，只是改为映射设备协议、下发实际指令，并由物理设备完成操作。实际测量与运行状态再经 Adapter 返回共同模型。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因此，这个扩展的关键是：模拟和真机共用上层模型、控制入口与反馈机制，差别由 Adapter 内部的执行模式承担。我们先在模拟模式下检查和调整，模拟没有问题后再执行到真实设备上，大模型的请求始终遵守共同的状态规则与约束。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这项工作的三个要点。第一，统一建模。我们从实验室任务执行出发，用资源、工作流和约束描述执行对象、任务过程与运行规则，并由跨层协议连接它们。第二，明确语义。变量空间、生命周期、接口、触发器和状态机，让任务如何推进、数据如何传递以及设备如何响应，都能在模型层面得到明确解释。第三，共同链路。人工、流程和大模型的设备请求使用同一套执行机制，仿真反馈闭环也可以在此基础上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这套框架的整体意义，是用模型表达具体实验室和任务，用统一的规则驱动执行。具体任务的结构与逻辑写在模型中，框架按照共同的执行语义运行，因此具有清晰的结构、可解释的过程和可复用的机制。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这也回应了汇报开头的问题：大模型可以参与决策与控制，而它对设备的作用始终落在统一的模型、状态和约束机制之内。我的汇报到这里，谢谢各位，欢迎提问。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9c5fa515b4e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38634ab3c4a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ea530792240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70761772a42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0d075886a42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b4bfa974f4ce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281fb894b4af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da92cc62c4b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b339cb4c946a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e2c8dab0546e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56a627a884b9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D82A73-1D70-4EA8-B93C-4C4DA159F6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A93EEB-B661-4EDD-81D5-CD79941957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9D339E-F950-46F5-BF6F-5069A745BD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CF6EAA-DDD5-456F-B57A-B7B86E8E59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A73E7E-25EF-4DCC-8651-C5E4CEEAED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83F83F-B096-4AA8-94BA-0C0568DE1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333838-3396-43BE-9F42-A8D03D4946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B08A12-2E43-4AB3-A6DC-77B3B55165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A2FA5B-5668-4AAF-8475-37807D1042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2D351C-81E3-4C1B-B0B0-296F108C2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F9B0F8-B95A-4ACB-94C6-06B35CB1A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9ECAF2-A793-4572-85A7-DA55A135E5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5FC47D-6F2F-4D20-A61B-A32852B634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077E56-7047-4B96-B584-12C11DFB8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D2185A-71BD-420C-B580-029083234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CB21B1-C7D9-4C9E-BFF6-A855C7177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6E9FA0-CEE1-4AFA-98EE-58459C4C94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D85E740-79A7-4E92-90E3-F9EE06A11F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42B17DA-9425-4661-A437-E26B78C6E6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FDE4D5D-2A07-4EA0-875D-B004B14AB4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64D447-37E0-4EB7-94C8-24D9BFFCF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7471DB-CF5A-4F38-9F86-5658B19859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C87918-F7F1-44FC-B171-C7B93D144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76ED8FC-E8C9-43BE-88E7-3A7D48CC7A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4E484A0-5A81-40E2-8531-5A18960691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2F006B6-5490-4DFA-9D41-16DF82267C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7BA0EE3-F332-4412-88A9-48A7BB22F6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0D620C5-D97E-4765-B444-8FE87531DE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B93A624-3AF3-4455-83C8-A0883AF95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A2B114-C293-4650-825A-4CCD13ADC3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A848FA8-5BB7-43F5-875F-2768C51749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EE4697-08AE-4402-BB0A-2770670ECE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6EC5564-C025-46DC-B099-91C66DC7DB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B7790DA-FFD3-4337-AB7E-FB2DCEEF25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710259B-37DB-41C3-8C74-582F564F01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89C81C5-E923-4EE5-8A63-7CF1D00AD3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400DAA-F612-43C2-8FCD-8A39B019FF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1D15C4-CF18-4C14-A2B0-EEA3606923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E4BFE94-066A-4C6E-B06A-69115A1E54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06328C5-4290-4CC1-B83F-7A39D37A8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DA8E06A-F85A-4B72-B74A-E20470DDA0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CEA1F7-CCB5-4C99-85A2-E7E40BC731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362B44-1DF9-4335-9ADD-3FC41D537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C3E2F39-AB12-4EAA-9FBF-214698AA2A2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2BFD044-FCCC-4D65-A16C-F037BBB2C1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0AC53E7-AF3F-4BC6-B0D4-44E7264120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3933047-B9A2-4F56-AAE1-2F5624829F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9ED09FB-96A3-485D-B3AA-274A991773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BDAF44-C155-487F-A52F-AE7F6E52C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D67D7A-2552-4441-90F9-78C6B0DDE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E485F7-9D44-4737-9232-3DC5BD15C9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33AC8C-0A97-4473-819D-E664238502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25A5AC-3D5B-4F0D-BE5A-38BB0ED933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53751E5-614A-4362-948F-BA8852668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1CDCB4-13A1-4CA0-BD64-611522CDE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A1F701-4F53-4D05-BA25-C5D9CB33B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471F97-2BFA-4C80-950B-39721BADE4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1C0C98-B2C0-403A-9644-35DDBC5EC3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8e90a3334f49a4" /><Relationship Type="http://schemas.openxmlformats.org/officeDocument/2006/relationships/slideLayout" Target="/ppt/slideLayouts/slideLayout1.xml" Id="Rb57af797ea994b7d" /><Relationship Type="http://schemas.openxmlformats.org/officeDocument/2006/relationships/slideLayout" Target="/ppt/slideLayouts/slideLayout2.xml" Id="R620dfb81437a43fd" /><Relationship Type="http://schemas.openxmlformats.org/officeDocument/2006/relationships/slideLayout" Target="/ppt/slideLayouts/slideLayout3.xml" Id="R80ea9e904f0342d5" /><Relationship Type="http://schemas.openxmlformats.org/officeDocument/2006/relationships/slideLayout" Target="/ppt/slideLayouts/slideLayout4.xml" Id="R519de7e5065b4901" /><Relationship Type="http://schemas.openxmlformats.org/officeDocument/2006/relationships/slideLayout" Target="/ppt/slideLayouts/slideLayout5.xml" Id="Rad6dc17828cd409b" /><Relationship Type="http://schemas.openxmlformats.org/officeDocument/2006/relationships/slideLayout" Target="/ppt/slideLayouts/slideLayout6.xml" Id="R50bde1ba89dd490f" /><Relationship Type="http://schemas.openxmlformats.org/officeDocument/2006/relationships/slideLayout" Target="/ppt/slideLayouts/slideLayout7.xml" Id="Rd1b691bdf313447e" /><Relationship Type="http://schemas.openxmlformats.org/officeDocument/2006/relationships/slideLayout" Target="/ppt/slideLayouts/slideLayout8.xml" Id="Rb9dad1dcf0bd4b64" /><Relationship Type="http://schemas.openxmlformats.org/officeDocument/2006/relationships/slideLayout" Target="/ppt/slideLayouts/slideLayout9.xml" Id="Rd8606d5beff842ae" /><Relationship Type="http://schemas.openxmlformats.org/officeDocument/2006/relationships/slideLayout" Target="/ppt/slideLayouts/slideLayout10.xml" Id="R3892bb7f087d4b3c" /><Relationship Type="http://schemas.openxmlformats.org/officeDocument/2006/relationships/slideLayout" Target="/ppt/slideLayouts/slideLayout11.xml" Id="R7c743fe1f3a242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A0F67D8-486A-42CC-A570-A2DB79F91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38B5FE-789D-414D-BC22-FEAF6A43F0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27A10E-1D71-4174-A46D-A1402E39C13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762946-A2F8-4032-A9B1-2A7216007B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23899D-105E-4CA7-A1A9-F5B6A28132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7af797ea994b7d"/>
    <p:sldLayoutId xmlns:r="http://schemas.openxmlformats.org/officeDocument/2006/relationships" id="2147483650" r:id="R620dfb81437a43fd"/>
    <p:sldLayoutId xmlns:r="http://schemas.openxmlformats.org/officeDocument/2006/relationships" id="2147483651" r:id="R80ea9e904f0342d5"/>
    <p:sldLayoutId xmlns:r="http://schemas.openxmlformats.org/officeDocument/2006/relationships" id="2147483652" r:id="R519de7e5065b4901"/>
    <p:sldLayoutId xmlns:r="http://schemas.openxmlformats.org/officeDocument/2006/relationships" id="2147483653" r:id="Rad6dc17828cd409b"/>
    <p:sldLayoutId xmlns:r="http://schemas.openxmlformats.org/officeDocument/2006/relationships" id="2147483654" r:id="R50bde1ba89dd490f"/>
    <p:sldLayoutId xmlns:r="http://schemas.openxmlformats.org/officeDocument/2006/relationships" id="2147483655" r:id="Rd1b691bdf313447e"/>
    <p:sldLayoutId xmlns:r="http://schemas.openxmlformats.org/officeDocument/2006/relationships" id="2147483656" r:id="Rb9dad1dcf0bd4b64"/>
    <p:sldLayoutId xmlns:r="http://schemas.openxmlformats.org/officeDocument/2006/relationships" id="2147483657" r:id="Rd8606d5beff842ae"/>
    <p:sldLayoutId xmlns:r="http://schemas.openxmlformats.org/officeDocument/2006/relationships" id="2147483658" r:id="R3892bb7f087d4b3c"/>
    <p:sldLayoutId xmlns:r="http://schemas.openxmlformats.org/officeDocument/2006/relationships" id="2147483659" r:id="R7c743fe1f3a2427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897d031cf64a7b" /><Relationship Type="http://schemas.openxmlformats.org/officeDocument/2006/relationships/notesSlide" Target="/ppt/notesSlides/notesSlide1.xml" Id="R4e0c899f40184f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59746b12244c65" /><Relationship Type="http://schemas.openxmlformats.org/officeDocument/2006/relationships/notesSlide" Target="/ppt/notesSlides/notesSlide2.xml" Id="R02c29de668ce47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38267468984afb" /><Relationship Type="http://schemas.openxmlformats.org/officeDocument/2006/relationships/notesSlide" Target="/ppt/notesSlides/notesSlide3.xml" Id="R238e268704654e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cadbfdb5a74afe" /><Relationship Type="http://schemas.openxmlformats.org/officeDocument/2006/relationships/image" Target="/ppt/media/image.png" Id="R1c55f911b3ae4204" /><Relationship Type="http://schemas.openxmlformats.org/officeDocument/2006/relationships/notesSlide" Target="/ppt/notesSlides/notesSlide4.xml" Id="Rb707ccbd1b914c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4f47a263cb4977" /><Relationship Type="http://schemas.openxmlformats.org/officeDocument/2006/relationships/image" Target="/ppt/media/image2.png" Id="R7da44a2663704d4c" /><Relationship Type="http://schemas.openxmlformats.org/officeDocument/2006/relationships/notesSlide" Target="/ppt/notesSlides/notesSlide5.xml" Id="R216747bdaac94a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b61799f5774d80" /><Relationship Type="http://schemas.openxmlformats.org/officeDocument/2006/relationships/image" Target="/ppt/media/image3.png" Id="R6cb84187f802493c" /><Relationship Type="http://schemas.openxmlformats.org/officeDocument/2006/relationships/notesSlide" Target="/ppt/notesSlides/notesSlide6.xml" Id="R62a7559f360142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8fdb282ab14b55" /><Relationship Type="http://schemas.openxmlformats.org/officeDocument/2006/relationships/image" Target="/ppt/media/image4.png" Id="R211f0cca8aa748c5" /><Relationship Type="http://schemas.openxmlformats.org/officeDocument/2006/relationships/notesSlide" Target="/ppt/notesSlides/notesSlide7.xml" Id="R6a3569ee44f849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44d28245c54e2a" /><Relationship Type="http://schemas.openxmlformats.org/officeDocument/2006/relationships/image" Target="/ppt/media/image5.png" Id="R11ada837d5a245fa" /><Relationship Type="http://schemas.openxmlformats.org/officeDocument/2006/relationships/notesSlide" Target="/ppt/notesSlides/notesSlide8.xml" Id="R847685c537c247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d4547d40bf4185" /><Relationship Type="http://schemas.openxmlformats.org/officeDocument/2006/relationships/image" Target="/ppt/media/image6.png" Id="R75012f359c8a497e" /><Relationship Type="http://schemas.openxmlformats.org/officeDocument/2006/relationships/notesSlide" Target="/ppt/notesSlides/notesSlide9.xml" Id="R881cffac9ff541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348b72a6e4401b" /><Relationship Type="http://schemas.openxmlformats.org/officeDocument/2006/relationships/notesSlide" Target="/ppt/notesSlides/notesSlide10.xml" Id="R4391edecff4241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024e42ff824580" /><Relationship Type="http://schemas.openxmlformats.org/officeDocument/2006/relationships/notesSlide" Target="/ppt/notesSlides/notesSlide11.xml" Id="Ra709da46b3954f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5C5DCD-87BC-43E2-BBDB-AEF72E4D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0C1B83E-440C-4F71-94C4-A4D46618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CDD001-6585-48CE-9344-6C573800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448AEF-2B2E-4CD7-8133-E4336C0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9B0AFD4-E5C9-46ED-9D9C-63C16E84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008B65-5010-4543-A0D8-DD5A0AC2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845814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26B1B75-1C5E-46B7-9361-F9B830F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AD1AC5-2B50-4084-AEAF-C916833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5A4DF6-BF5E-43B3-84E0-0F2A2BEA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4E6B226-3550-4006-BB09-A240DC9F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D3F77-3321-45FE-B1EA-D64722A3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ABCC67-3F6A-4719-BA6E-3532B2F0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708866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094F74-2AE9-4D16-9669-CCBCA51C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953B72A-C167-46EE-B5FC-1168B268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4227A1-CC57-411C-85F7-2A0EF9FB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4D2C09-1D21-45B6-B56A-3F1795D8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CD48E652-FF36-4A77-8DE3-2C66887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303030"/>
                </a:solidFill>
              </a:rPr>
              <a:t>随着大模型发展，智慧化学实验室从自动执行任务流程，逐步走向大模型参与决策与控制。</a:t>
            </a:r>
            <a:endParaRPr sz="20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ADDF087-E004-4D39-9CCC-5CAB5B15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一次任务执行始终需要说清四件事：</a:t>
            </a:r>
            <a:endParaRPr sz="20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8AB6B2EF-3B20-4108-B497-90B9B2E1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7ED547A8-CB11-4269-834D-A4E1667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00DE64D7-618C-4772-B9F5-7D67869C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53F00F1F-C86F-4020-884E-5D95C2CA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56E4F23E-9CD7-4F62-B568-578FE49D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88C522B4-35FA-465F-BFCD-8B799D8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0DC9EB49-BD8E-48C0-9EC0-FC6347DD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0B29A7E1-6B07-4AAA-9A1C-AF5431E7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3311CE27-D4D4-4060-8090-B6185E7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BCB02C0D-BDDC-4A66-B8DB-7A065363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3DBB4F6-523B-4BBE-979E-6A3BEA0C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E698F993-B339-4050-8689-D54C26CF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44EC7FE7-2EC4-4B9F-BA54-FE8DE89D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5F25DE97-76BE-4ECB-BA29-90ABC1EB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执行是否处于允许范围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A90D8CF9-049C-4304-A405-06D91414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大模型接入后，执行边界问题更加突出：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大模型可以提出什么请求，这些请求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又必须在什么条件下才能执行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？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188B48C4-314D-4B59-A62F-5FFA87D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基本原则：大模型不能拥有特权旁路，所有控制请求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进入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同一套执行链路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02F1D17F-43DB-4EB0-A3F9-0A238E1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因此，需要一套可执行框架，将资源组织、状态演化、数据传递与边界检查统一建模。</a:t>
            </a:r>
            <a:endParaRPr sz="1950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80434F56-51A4-4BB2-833F-E87FB4F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DE7E533E-7ED3-4F50-9CDC-2D5B9206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F345A4C0-A3CD-4DBA-A01D-9685BAB9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大模型的参与，使统一执行边界的需求更加突出。</a:t>
            </a:r>
            <a:endParaRPr sz="16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73601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B086AE-5201-491D-A278-E39FC6D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C20172E-F608-485F-8486-A8F3DA5A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统一建模框架：从任务执行到模型组织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70FC69A-8BE7-4707-BB04-E85B8098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CBE421F-8037-42B5-AE25-F9E7C2E7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5f911b3ae4204"/>
          <a:stretch xmlns:a="http://schemas.openxmlformats.org/drawingml/2006/main"/>
        </p:blipFill>
        <p:spPr>
          <a:xfrm xmlns:a="http://schemas.openxmlformats.org/drawingml/2006/main">
            <a:off x="952500" y="1438275"/>
            <a:ext cx="10287000" cy="4665890"/>
          </a:xfrm>
          <a:prstGeom xmlns:a="http://schemas.openxmlformats.org/drawingml/2006/main" prst="rect">
            <a:avLst/>
          </a:prstGeom>
        </p:spPr>
      </p:pic>
      <p:sp>
        <p:nvSpPr>
          <p:cNvPr id="20" name="balance-text-1">
            <a:extLst xmlns:a="http://schemas.openxmlformats.org/drawingml/2006/main">
              <a:ext uri="{FF2B5EF4-FFF2-40B4-BE49-F238E27FC236}">
                <a16:creationId xmlns:a16="http://schemas.microsoft.com/office/drawing/2014/main" id="{C0771CE1-8126-4CDF-9774-258FD0AE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从任务执行出发：执行对象形成资源模型，任务过程形成工作流，运行规则形成约束。</a:t>
            </a:r>
          </a:p>
        </p:txBody>
      </p:sp>
      <p:sp>
        <p:nvSpPr>
          <p:cNvPr id="21" name="balance-text-2">
            <a:extLst xmlns:a="http://schemas.openxmlformats.org/drawingml/2006/main">
              <a:ext uri="{FF2B5EF4-FFF2-40B4-BE49-F238E27FC236}">
                <a16:creationId xmlns:a16="http://schemas.microsoft.com/office/drawing/2014/main" id="{20791451-5E50-4339-9053-580D78B6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62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资源层承载能力与状态，工作流层组织步骤与数据，约束层界定执行边界。</a:t>
            </a:r>
          </a:p>
        </p:txBody>
      </p:sp>
    </p:spTree>
    <p:extLst>
      <p:ext uri="{BB962C8B-B14F-4D97-AF65-F5344CB8AC3E}">
        <p14:creationId xmlns:p14="http://schemas.microsoft.com/office/powerpoint/2010/main" val="1064016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D9BDE3-8A13-44E2-AC20-925D79A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9C8539E-42AB-4026-96CE-D0090B9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553BA0-9F53-4003-84BD-923E5FA0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461FD1-D3BF-4AC2-9330-93483A9A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final-text-2">
            <a:extLst xmlns:a="http://schemas.openxmlformats.org/drawingml/2006/main">
              <a:ext uri="{FF2B5EF4-FFF2-40B4-BE49-F238E27FC236}">
                <a16:creationId xmlns:a16="http://schemas.microsoft.com/office/drawing/2014/main" id="{CAC247B7-F753-44FA-B11F-AE3BD23F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设备对象模型由能力模型与状态机构成，统一描述设备能做什么、操作如何执行。</a:t>
            </a:r>
          </a:p>
        </p:txBody>
      </p:sp>
      <p:sp>
        <p:nvSpPr>
          <p:cNvPr id="9" name="final-text-3">
            <a:extLst xmlns:a="http://schemas.openxmlformats.org/drawingml/2006/main">
              <a:ext uri="{FF2B5EF4-FFF2-40B4-BE49-F238E27FC236}">
                <a16:creationId xmlns:a16="http://schemas.microsoft.com/office/drawing/2014/main" id="{C0F57144-89C3-4B09-AF87-004B0189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final-text-4">
            <a:extLst xmlns:a="http://schemas.openxmlformats.org/drawingml/2006/main">
              <a:ext uri="{FF2B5EF4-FFF2-40B4-BE49-F238E27FC236}">
                <a16:creationId xmlns:a16="http://schemas.microsoft.com/office/drawing/2014/main" id="{126F5D4C-A716-4EA4-9B83-637080F3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602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定义设备能力、属性及操作要求。</a:t>
            </a:r>
          </a:p>
        </p:txBody>
      </p:sp>
      <p:sp>
        <p:nvSpPr>
          <p:cNvPr id="11" name="final-text-5">
            <a:extLst xmlns:a="http://schemas.openxmlformats.org/drawingml/2006/main">
              <a:ext uri="{FF2B5EF4-FFF2-40B4-BE49-F238E27FC236}">
                <a16:creationId xmlns:a16="http://schemas.microsoft.com/office/drawing/2014/main" id="{842E2CCB-68C8-47B0-9AAE-D2AE4310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2" name="final-text-6">
            <a:extLst xmlns:a="http://schemas.openxmlformats.org/drawingml/2006/main">
              <a:ext uri="{FF2B5EF4-FFF2-40B4-BE49-F238E27FC236}">
                <a16:creationId xmlns:a16="http://schemas.microsoft.com/office/drawing/2014/main" id="{36C280EC-1862-4932-A6F9-707A5B09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依据当前状态处理请求，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发出指令并接收执行反馈。</a:t>
            </a:r>
          </a:p>
        </p:txBody>
      </p:sp>
      <p:sp>
        <p:nvSpPr>
          <p:cNvPr id="13" name="final-text-7">
            <a:extLst xmlns:a="http://schemas.openxmlformats.org/drawingml/2006/main">
              <a:ext uri="{FF2B5EF4-FFF2-40B4-BE49-F238E27FC236}">
                <a16:creationId xmlns:a16="http://schemas.microsoft.com/office/drawing/2014/main" id="{A60AF2CC-BF94-4B75-976A-EF003124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481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共同入口</a:t>
            </a:r>
          </a:p>
        </p:txBody>
      </p:sp>
      <p:sp>
        <p:nvSpPr>
          <p:cNvPr id="14" name="final-text-8">
            <a:extLst xmlns:a="http://schemas.openxmlformats.org/drawingml/2006/main">
              <a:ext uri="{FF2B5EF4-FFF2-40B4-BE49-F238E27FC236}">
                <a16:creationId xmlns:a16="http://schemas.microsoft.com/office/drawing/2014/main" id="{E495A9C7-E297-45CA-BA38-5284F737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8632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人工、流程与大模型的请求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遵守相同的状态规则。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44a2663704d4c"/>
          <a:stretch xmlns:a="http://schemas.openxmlformats.org/drawingml/2006/main"/>
        </p:blipFill>
        <p:spPr>
          <a:xfrm xmlns:a="http://schemas.openxmlformats.org/drawingml/2006/main">
            <a:off x="4810125" y="1752600"/>
            <a:ext cx="6953250" cy="3916704"/>
          </a:xfrm>
          <a:prstGeom xmlns:a="http://schemas.openxmlformats.org/drawingml/2006/main" prst="rect">
            <a:avLst/>
          </a:prstGeom>
        </p:spPr>
      </p:pic>
      <p:sp>
        <p:nvSpPr>
          <p:cNvPr id="16" name="final-text-9">
            <a:extLst xmlns:a="http://schemas.openxmlformats.org/drawingml/2006/main">
              <a:ext uri="{FF2B5EF4-FFF2-40B4-BE49-F238E27FC236}">
                <a16:creationId xmlns:a16="http://schemas.microsoft.com/office/drawing/2014/main" id="{7280C4AD-BE16-440D-973F-2A6473DA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能力定义与状态演化共同构成设备操作的模型语义。</a:t>
            </a:r>
          </a:p>
        </p:txBody>
      </p:sp>
    </p:spTree>
    <p:extLst>
      <p:ext uri="{BB962C8B-B14F-4D97-AF65-F5344CB8AC3E}">
        <p14:creationId xmlns:p14="http://schemas.microsoft.com/office/powerpoint/2010/main" val="1837775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5248F6-CDBF-4A61-9D16-94411E77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89CE25A-15EB-4BFA-8C46-77C8DD0D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6914BB-DEFE-495A-BC44-B82AFB21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530816-1304-4C93-91A2-7DAEFD27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final-text-10">
            <a:extLst xmlns:a="http://schemas.openxmlformats.org/drawingml/2006/main">
              <a:ext uri="{FF2B5EF4-FFF2-40B4-BE49-F238E27FC236}">
                <a16:creationId xmlns:a16="http://schemas.microsoft.com/office/drawing/2014/main" id="{CE858742-BD36-4E9D-BE05-7FD74755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工作流组织任务步骤与数据依赖，节点通过接口和触发器协同执行。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84187f802493c"/>
          <a:stretch xmlns:a="http://schemas.openxmlformats.org/drawingml/2006/main"/>
        </p:blipFill>
        <p:spPr>
          <a:xfrm xmlns:a="http://schemas.openxmlformats.org/drawingml/2006/main">
            <a:off x="1409700" y="1514475"/>
            <a:ext cx="9372600" cy="4662451"/>
          </a:xfrm>
          <a:prstGeom xmlns:a="http://schemas.openxmlformats.org/drawingml/2006/main" prst="rect">
            <a:avLst/>
          </a:prstGeom>
        </p:spPr>
      </p:pic>
      <p:sp>
        <p:nvSpPr>
          <p:cNvPr id="9" name="final-text-11">
            <a:extLst xmlns:a="http://schemas.openxmlformats.org/drawingml/2006/main">
              <a:ext uri="{FF2B5EF4-FFF2-40B4-BE49-F238E27FC236}">
                <a16:creationId xmlns:a16="http://schemas.microsoft.com/office/drawing/2014/main" id="{00FB2D06-DCA7-4B7B-A1A4-46BF171F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反馈更新变量，触发器判断条件，再决定发出请求或推进后续步骤。</a:t>
            </a:r>
          </a:p>
        </p:txBody>
      </p:sp>
    </p:spTree>
    <p:extLst>
      <p:ext uri="{BB962C8B-B14F-4D97-AF65-F5344CB8AC3E}">
        <p14:creationId xmlns:p14="http://schemas.microsoft.com/office/powerpoint/2010/main" val="12082133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B1C6A2-9964-4B27-B63C-DC32206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E63012E-0EBE-49EA-BCC5-DB7071EA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55386A-3E7C-42AD-9DD2-914F5B96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1B731-590D-4F28-8D1B-BB4B1C5C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final-text-12">
            <a:extLst xmlns:a="http://schemas.openxmlformats.org/drawingml/2006/main">
              <a:ext uri="{FF2B5EF4-FFF2-40B4-BE49-F238E27FC236}">
                <a16:creationId xmlns:a16="http://schemas.microsoft.com/office/drawing/2014/main" id="{AD4E297C-5D1C-4324-9AE1-FF89B58D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同时观察资源状态与任务上下文，通过相应接口返回处理动作。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f0cca8aa748c5"/>
          <a:stretch xmlns:a="http://schemas.openxmlformats.org/drawingml/2006/main"/>
        </p:blipFill>
        <p:spPr>
          <a:xfrm xmlns:a="http://schemas.openxmlformats.org/drawingml/2006/main">
            <a:off x="457200" y="1609725"/>
            <a:ext cx="11277600" cy="3412958"/>
          </a:xfrm>
          <a:prstGeom xmlns:a="http://schemas.openxmlformats.org/drawingml/2006/main" prst="rect">
            <a:avLst/>
          </a:prstGeom>
        </p:spPr>
      </p:pic>
      <p:sp>
        <p:nvSpPr>
          <p:cNvPr id="10" name="final-text-13">
            <a:extLst xmlns:a="http://schemas.openxmlformats.org/drawingml/2006/main">
              <a:ext uri="{FF2B5EF4-FFF2-40B4-BE49-F238E27FC236}">
                <a16:creationId xmlns:a16="http://schemas.microsoft.com/office/drawing/2014/main" id="{ECED4413-2219-4058-93AC-55EEB2C9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11" name="final-text-14">
            <a:extLst xmlns:a="http://schemas.openxmlformats.org/drawingml/2006/main">
              <a:ext uri="{FF2B5EF4-FFF2-40B4-BE49-F238E27FC236}">
                <a16:creationId xmlns:a16="http://schemas.microsoft.com/office/drawing/2014/main" id="{896675DB-BE98-4B64-A633-892D9814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</p:txBody>
      </p:sp>
      <p:sp>
        <p:nvSpPr>
          <p:cNvPr id="12" name="final-text-15">
            <a:extLst xmlns:a="http://schemas.openxmlformats.org/drawingml/2006/main">
              <a:ext uri="{FF2B5EF4-FFF2-40B4-BE49-F238E27FC236}">
                <a16:creationId xmlns:a16="http://schemas.microsoft.com/office/drawing/2014/main" id="{A018588F-75B9-4337-BDF8-7A0F9E5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</p:txBody>
      </p:sp>
      <p:sp>
        <p:nvSpPr>
          <p:cNvPr id="13" name="final-text-16">
            <a:extLst xmlns:a="http://schemas.openxmlformats.org/drawingml/2006/main">
              <a:ext uri="{FF2B5EF4-FFF2-40B4-BE49-F238E27FC236}">
                <a16:creationId xmlns:a16="http://schemas.microsoft.com/office/drawing/2014/main" id="{2A62C820-D4EE-4DFA-86A7-B4E85C32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</p:txBody>
      </p:sp>
      <p:sp>
        <p:nvSpPr>
          <p:cNvPr id="14" name="final-text-17">
            <a:extLst xmlns:a="http://schemas.openxmlformats.org/drawingml/2006/main">
              <a:ext uri="{FF2B5EF4-FFF2-40B4-BE49-F238E27FC236}">
                <a16:creationId xmlns:a16="http://schemas.microsoft.com/office/drawing/2014/main" id="{CE7DCD56-8B64-421E-B0FE-C90F4F38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</p:txBody>
      </p:sp>
      <p:sp>
        <p:nvSpPr>
          <p:cNvPr id="15" name="final-text-18">
            <a:extLst xmlns:a="http://schemas.openxmlformats.org/drawingml/2006/main">
              <a:ext uri="{FF2B5EF4-FFF2-40B4-BE49-F238E27FC236}">
                <a16:creationId xmlns:a16="http://schemas.microsoft.com/office/drawing/2014/main" id="{57D1ED2D-9A09-4D22-AF63-D1ED739D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</p:spTree>
    <p:extLst>
      <p:ext uri="{BB962C8B-B14F-4D97-AF65-F5344CB8AC3E}">
        <p14:creationId xmlns:p14="http://schemas.microsoft.com/office/powerpoint/2010/main" val="15964549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BD4CE8-8646-4D4E-8FA6-C1AFD6D5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FB768B-1BCB-4E9E-8BFC-04BD7FA2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DF0FA4-693B-4362-8C15-43CED575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E7C17B-1DAB-4E2C-BE62-A8E0511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da837d5a245fa"/>
          <a:stretch xmlns:a="http://schemas.openxmlformats.org/drawingml/2006/main"/>
        </p:blipFill>
        <p:spPr>
          <a:xfrm xmlns:a="http://schemas.openxmlformats.org/drawingml/2006/main">
            <a:off x="1438275" y="1028700"/>
            <a:ext cx="9315450" cy="4768394"/>
          </a:xfrm>
          <a:prstGeom xmlns:a="http://schemas.openxmlformats.org/drawingml/2006/main" prst="rect">
            <a:avLst/>
          </a:prstGeom>
        </p:spPr>
      </p:pic>
      <p:sp>
        <p:nvSpPr>
          <p:cNvPr id="16" name="standalone-caption-mask">
            <a:extLst xmlns:a="http://schemas.openxmlformats.org/drawingml/2006/main">
              <a:ext uri="{FF2B5EF4-FFF2-40B4-BE49-F238E27FC236}">
                <a16:creationId xmlns:a16="http://schemas.microsoft.com/office/drawing/2014/main" id="{F2B3B324-A100-4A25-A8C6-C8B90ABE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balance-text-3">
            <a:extLst xmlns:a="http://schemas.openxmlformats.org/drawingml/2006/main">
              <a:ext uri="{FF2B5EF4-FFF2-40B4-BE49-F238E27FC236}">
                <a16:creationId xmlns:a16="http://schemas.microsoft.com/office/drawing/2014/main" id="{E198EDB9-85D1-43A2-8857-3122DB72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控制请求经设备状态机与 Adapter 执行，反馈返回模型并驱动任务推进。</a:t>
            </a:r>
          </a:p>
        </p:txBody>
      </p:sp>
      <p:sp>
        <p:nvSpPr>
          <p:cNvPr id="18" name="balance-text-4">
            <a:extLst xmlns:a="http://schemas.openxmlformats.org/drawingml/2006/main">
              <a:ext uri="{FF2B5EF4-FFF2-40B4-BE49-F238E27FC236}">
                <a16:creationId xmlns:a16="http://schemas.microsoft.com/office/drawing/2014/main" id="{A353A946-6BB8-4DB1-8D36-29DB94B0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人工、流程与大模型共用设备模型入口，遵守相同状态规则与约束。</a:t>
            </a:r>
          </a:p>
        </p:txBody>
      </p:sp>
    </p:spTree>
    <p:extLst>
      <p:ext uri="{BB962C8B-B14F-4D97-AF65-F5344CB8AC3E}">
        <p14:creationId xmlns:p14="http://schemas.microsoft.com/office/powerpoint/2010/main" val="20033768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D4173D-788A-4254-A27F-326AFCD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EC755AA-B9CC-425C-8D9B-C6AB820C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7FFE68-576C-49EF-AAFA-EA01C175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6455AEF-C84B-4B49-9972-B13531FF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12f359c8a497e"/>
          <a:stretch xmlns:a="http://schemas.openxmlformats.org/drawingml/2006/main"/>
        </p:blipFill>
        <p:spPr>
          <a:xfrm xmlns:a="http://schemas.openxmlformats.org/drawingml/2006/main">
            <a:off x="1676400" y="1457325"/>
            <a:ext cx="8839200" cy="4573634"/>
          </a:xfrm>
          <a:prstGeom xmlns:a="http://schemas.openxmlformats.org/drawingml/2006/main" prst="rect">
            <a:avLst/>
          </a:prstGeom>
        </p:spPr>
      </p:pic>
      <p:sp>
        <p:nvSpPr>
          <p:cNvPr id="11" name="balance-text-5">
            <a:extLst xmlns:a="http://schemas.openxmlformats.org/drawingml/2006/main">
              <a:ext uri="{FF2B5EF4-FFF2-40B4-BE49-F238E27FC236}">
                <a16:creationId xmlns:a16="http://schemas.microsoft.com/office/drawing/2014/main" id="{201C3010-8F89-485A-83AB-77A9EDD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SmartLab 2.0：工作流与状态机引擎执行模型，MQTT Adapter 完成设备通信。</a:t>
            </a:r>
          </a:p>
        </p:txBody>
      </p:sp>
      <p:sp>
        <p:nvSpPr>
          <p:cNvPr id="12" name="balance-text-6">
            <a:extLst xmlns:a="http://schemas.openxmlformats.org/drawingml/2006/main">
              <a:ext uri="{FF2B5EF4-FFF2-40B4-BE49-F238E27FC236}">
                <a16:creationId xmlns:a16="http://schemas.microsoft.com/office/drawing/2014/main" id="{BFCF84B7-E4F8-4996-83ED-EAA15F27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节点满足完成条件后推进；温度越界或设备异常触发相应约束处理。</a:t>
            </a:r>
          </a:p>
        </p:txBody>
      </p:sp>
    </p:spTree>
    <p:extLst>
      <p:ext uri="{BB962C8B-B14F-4D97-AF65-F5344CB8AC3E}">
        <p14:creationId xmlns:p14="http://schemas.microsoft.com/office/powerpoint/2010/main" val="250676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52EAF-7527-46E2-9F8F-7C4DDBF8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C5C650-05CF-496F-94D7-2FF086A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1E13634-CBED-478A-A5B6-0A091E0A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3FD1DE-4213-4DD4-BB35-350FC595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dapter-text-1">
            <a:extLst xmlns:a="http://schemas.openxmlformats.org/drawingml/2006/main">
              <a:ext uri="{FF2B5EF4-FFF2-40B4-BE49-F238E27FC236}">
                <a16:creationId xmlns:a16="http://schemas.microsoft.com/office/drawing/2014/main" id="{B3F61F5B-AE73-4B9B-8BF8-ADDB5656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Adapter 内提供模拟执行与真机执行两种模式，上层模型与规则保持一致。</a:t>
            </a:r>
          </a:p>
        </p:txBody>
      </p:sp>
      <p:sp>
        <p:nvSpPr>
          <p:cNvPr id="13" name="adapter-text-2">
            <a:extLst xmlns:a="http://schemas.openxmlformats.org/drawingml/2006/main">
              <a:ext uri="{FF2B5EF4-FFF2-40B4-BE49-F238E27FC236}">
                <a16:creationId xmlns:a16="http://schemas.microsoft.com/office/drawing/2014/main" id="{657270C4-AB76-4F3B-8B97-498BF49B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先模拟并依据反馈调整，通过检查后切换真机执行模式。</a:t>
            </a:r>
          </a:p>
        </p:txBody>
      </p:sp>
      <p:sp>
        <p:nvSpPr>
          <p:cNvPr id="14" name="adapter-diagram-box-3">
            <a:extLst xmlns:a="http://schemas.openxmlformats.org/drawingml/2006/main">
              <a:ext uri="{FF2B5EF4-FFF2-40B4-BE49-F238E27FC236}">
                <a16:creationId xmlns:a16="http://schemas.microsoft.com/office/drawing/2014/main" id="{AECF7ACE-D8A2-4B04-A37B-133629D9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8794"/>
            <a:ext cx="18859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15" name="adapter-diagram-box-4">
            <a:extLst xmlns:a="http://schemas.openxmlformats.org/drawingml/2006/main">
              <a:ext uri="{FF2B5EF4-FFF2-40B4-BE49-F238E27FC236}">
                <a16:creationId xmlns:a16="http://schemas.microsoft.com/office/drawing/2014/main" id="{E22D90C0-B450-46BD-BD66-B7C2296F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8794"/>
            <a:ext cx="1885950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EEF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16" name="adapter-text-5">
            <a:extLst xmlns:a="http://schemas.openxmlformats.org/drawingml/2006/main">
              <a:ext uri="{FF2B5EF4-FFF2-40B4-BE49-F238E27FC236}">
                <a16:creationId xmlns:a16="http://schemas.microsoft.com/office/drawing/2014/main" id="{5F60C0D9-E160-4A8E-A4C6-6D89F0A7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3" y="1802682"/>
            <a:ext cx="16764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大模型</a:t>
            </a:r>
          </a:p>
        </p:txBody>
      </p:sp>
      <p:sp>
        <p:nvSpPr>
          <p:cNvPr id="17" name="adapter-text-6">
            <a:extLst xmlns:a="http://schemas.openxmlformats.org/drawingml/2006/main">
              <a:ext uri="{FF2B5EF4-FFF2-40B4-BE49-F238E27FC236}">
                <a16:creationId xmlns:a16="http://schemas.microsoft.com/office/drawing/2014/main" id="{563FBE1A-FAD2-47EA-A719-5F28CB94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060219"/>
            <a:ext cx="1676400" cy="249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3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403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决策与调整</a:t>
            </a:r>
          </a:p>
        </p:txBody>
      </p:sp>
      <p:sp>
        <p:nvSpPr>
          <p:cNvPr id="18" name="adapter-text-7">
            <a:extLst xmlns:a="http://schemas.openxmlformats.org/drawingml/2006/main">
              <a:ext uri="{FF2B5EF4-FFF2-40B4-BE49-F238E27FC236}">
                <a16:creationId xmlns:a16="http://schemas.microsoft.com/office/drawing/2014/main" id="{6AA8CD65-7B7F-44EC-AC6F-9B97DEBD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81" y="2377269"/>
            <a:ext cx="172878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提出方案与控制请求</a:t>
            </a:r>
          </a:p>
        </p:txBody>
      </p:sp>
      <p:sp>
        <p:nvSpPr>
          <p:cNvPr id="19" name="adapter-text-8">
            <a:extLst xmlns:a="http://schemas.openxmlformats.org/drawingml/2006/main">
              <a:ext uri="{FF2B5EF4-FFF2-40B4-BE49-F238E27FC236}">
                <a16:creationId xmlns:a16="http://schemas.microsoft.com/office/drawing/2014/main" id="{0F874A3F-F9F2-42B4-86DB-C9D3596B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81" y="2618251"/>
            <a:ext cx="172878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依据反馈调整方案</a:t>
            </a:r>
          </a:p>
        </p:txBody>
      </p:sp>
      <p:sp>
        <p:nvSpPr>
          <p:cNvPr id="20" name="adapter-diagram-box-9">
            <a:extLst xmlns:a="http://schemas.openxmlformats.org/drawingml/2006/main">
              <a:ext uri="{FF2B5EF4-FFF2-40B4-BE49-F238E27FC236}">
                <a16:creationId xmlns:a16="http://schemas.microsoft.com/office/drawing/2014/main" id="{DEE6F15E-E5E5-435C-AC29-A359E683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543050"/>
            <a:ext cx="68103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21" name="adapter-diagram-box-10">
            <a:extLst xmlns:a="http://schemas.openxmlformats.org/drawingml/2006/main">
              <a:ext uri="{FF2B5EF4-FFF2-40B4-BE49-F238E27FC236}">
                <a16:creationId xmlns:a16="http://schemas.microsoft.com/office/drawing/2014/main" id="{B6E30392-8489-4BB6-ABB5-F9E777B0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543050"/>
            <a:ext cx="6810375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EEF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22" name="adapter-text-11">
            <a:extLst xmlns:a="http://schemas.openxmlformats.org/drawingml/2006/main">
              <a:ext uri="{FF2B5EF4-FFF2-40B4-BE49-F238E27FC236}">
                <a16:creationId xmlns:a16="http://schemas.microsoft.com/office/drawing/2014/main" id="{0B6E7F57-0779-4D0E-B5D6-0D8F350A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978" y="1566939"/>
            <a:ext cx="6600825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共同模型与执行机制</a:t>
            </a:r>
          </a:p>
        </p:txBody>
      </p:sp>
      <p:sp>
        <p:nvSpPr>
          <p:cNvPr id="23" name="adapter-diagram-box-12">
            <a:extLst xmlns:a="http://schemas.openxmlformats.org/drawingml/2006/main">
              <a:ext uri="{FF2B5EF4-FFF2-40B4-BE49-F238E27FC236}">
                <a16:creationId xmlns:a16="http://schemas.microsoft.com/office/drawing/2014/main" id="{15CEF729-673B-448A-A301-EF597126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1909763"/>
            <a:ext cx="20431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24" name="adapter-text-13">
            <a:extLst xmlns:a="http://schemas.openxmlformats.org/drawingml/2006/main">
              <a:ext uri="{FF2B5EF4-FFF2-40B4-BE49-F238E27FC236}">
                <a16:creationId xmlns:a16="http://schemas.microsoft.com/office/drawing/2014/main" id="{FFFA1359-3E7F-4018-84DC-3844A68A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1970742"/>
            <a:ext cx="1885950" cy="242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1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61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工作流</a:t>
            </a:r>
          </a:p>
        </p:txBody>
      </p:sp>
      <p:sp>
        <p:nvSpPr>
          <p:cNvPr id="25" name="adapter-text-14">
            <a:extLst xmlns:a="http://schemas.openxmlformats.org/drawingml/2006/main">
              <a:ext uri="{FF2B5EF4-FFF2-40B4-BE49-F238E27FC236}">
                <a16:creationId xmlns:a16="http://schemas.microsoft.com/office/drawing/2014/main" id="{BB1B44BA-AE88-4D5F-AEA3-75FDBB05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372" y="2235822"/>
            <a:ext cx="191214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任务步骤与节点交互</a:t>
            </a:r>
          </a:p>
        </p:txBody>
      </p:sp>
      <p:sp>
        <p:nvSpPr>
          <p:cNvPr id="26" name="adapter-diagram-box-15">
            <a:extLst xmlns:a="http://schemas.openxmlformats.org/drawingml/2006/main">
              <a:ext uri="{FF2B5EF4-FFF2-40B4-BE49-F238E27FC236}">
                <a16:creationId xmlns:a16="http://schemas.microsoft.com/office/drawing/2014/main" id="{B2922530-676E-4452-A761-480C3451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1909763"/>
            <a:ext cx="20431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EB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27" name="adapter-text-16">
            <a:extLst xmlns:a="http://schemas.openxmlformats.org/drawingml/2006/main">
              <a:ext uri="{FF2B5EF4-FFF2-40B4-BE49-F238E27FC236}">
                <a16:creationId xmlns:a16="http://schemas.microsoft.com/office/drawing/2014/main" id="{C3F784EF-C3AB-4B31-B242-59463D7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744" y="1970742"/>
            <a:ext cx="1885950" cy="242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1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61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28" name="adapter-text-17">
            <a:extLst xmlns:a="http://schemas.openxmlformats.org/drawingml/2006/main">
              <a:ext uri="{FF2B5EF4-FFF2-40B4-BE49-F238E27FC236}">
                <a16:creationId xmlns:a16="http://schemas.microsoft.com/office/drawing/2014/main" id="{E44BD716-EFB5-4E4E-B8FD-25E066FD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647" y="2235822"/>
            <a:ext cx="191214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能力模型与状态机</a:t>
            </a:r>
          </a:p>
        </p:txBody>
      </p:sp>
      <p:sp>
        <p:nvSpPr>
          <p:cNvPr id="29" name="adapter-diagram-box-18">
            <a:extLst xmlns:a="http://schemas.openxmlformats.org/drawingml/2006/main">
              <a:ext uri="{FF2B5EF4-FFF2-40B4-BE49-F238E27FC236}">
                <a16:creationId xmlns:a16="http://schemas.microsoft.com/office/drawing/2014/main" id="{D61C187D-03C8-45F0-A9F8-0FB6B57A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1909763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30" name="adapter-text-19">
            <a:extLst xmlns:a="http://schemas.openxmlformats.org/drawingml/2006/main">
              <a:ext uri="{FF2B5EF4-FFF2-40B4-BE49-F238E27FC236}">
                <a16:creationId xmlns:a16="http://schemas.microsoft.com/office/drawing/2014/main" id="{ECBA400F-CF76-4EB8-B662-E4BDB3FA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019" y="1970742"/>
            <a:ext cx="1938338" cy="242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1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61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约束</a:t>
            </a:r>
          </a:p>
        </p:txBody>
      </p:sp>
      <p:sp>
        <p:nvSpPr>
          <p:cNvPr id="31" name="adapter-text-20">
            <a:extLst xmlns:a="http://schemas.openxmlformats.org/drawingml/2006/main">
              <a:ext uri="{FF2B5EF4-FFF2-40B4-BE49-F238E27FC236}">
                <a16:creationId xmlns:a16="http://schemas.microsoft.com/office/drawing/2014/main" id="{18F5878E-99C8-40EA-95F7-1130CCFF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922" y="2235822"/>
            <a:ext cx="1964531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运行规则与边界检查</a:t>
            </a:r>
          </a:p>
        </p:txBody>
      </p:sp>
      <p:sp>
        <p:nvSpPr>
          <p:cNvPr id="32" name="adapter-diagram-line-21">
            <a:extLst xmlns:a="http://schemas.openxmlformats.org/drawingml/2006/main">
              <a:ext uri="{FF2B5EF4-FFF2-40B4-BE49-F238E27FC236}">
                <a16:creationId xmlns:a16="http://schemas.microsoft.com/office/drawing/2014/main" id="{DED34BFD-B225-4271-B2EB-E2E6C46D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95335"/>
            <a:ext cx="942975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33" name="adapter-diagram-arrow-22">
            <a:extLst xmlns:a="http://schemas.openxmlformats.org/drawingml/2006/main">
              <a:ext uri="{FF2B5EF4-FFF2-40B4-BE49-F238E27FC236}">
                <a16:creationId xmlns:a16="http://schemas.microsoft.com/office/drawing/2014/main" id="{04B9E935-2D7F-43F8-BE17-7B3BD12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64293" y="2271236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34" name="adapter-text-23">
            <a:extLst xmlns:a="http://schemas.openxmlformats.org/drawingml/2006/main">
              <a:ext uri="{FF2B5EF4-FFF2-40B4-BE49-F238E27FC236}">
                <a16:creationId xmlns:a16="http://schemas.microsoft.com/office/drawing/2014/main" id="{1D6028AC-7913-44F4-BD7E-23902048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44" y="2062944"/>
            <a:ext cx="89058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235F9A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235F9A"/>
                </a:solidFill>
                <a:latin typeface="微软雅黑"/>
                <a:ea typeface="微软雅黑"/>
                <a:cs typeface="微软雅黑"/>
              </a:rPr>
              <a:t>控制请求</a:t>
            </a:r>
          </a:p>
        </p:txBody>
      </p:sp>
      <p:sp>
        <p:nvSpPr>
          <p:cNvPr id="35" name="adapter-diagram-line-24">
            <a:extLst xmlns:a="http://schemas.openxmlformats.org/drawingml/2006/main">
              <a:ext uri="{FF2B5EF4-FFF2-40B4-BE49-F238E27FC236}">
                <a16:creationId xmlns:a16="http://schemas.microsoft.com/office/drawing/2014/main" id="{74E0A36E-C707-4DB0-9714-8E80AE98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57272"/>
            <a:ext cx="628650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36" name="adapter-diagram-line-25">
            <a:extLst xmlns:a="http://schemas.openxmlformats.org/drawingml/2006/main">
              <a:ext uri="{FF2B5EF4-FFF2-40B4-BE49-F238E27FC236}">
                <a16:creationId xmlns:a16="http://schemas.microsoft.com/office/drawing/2014/main" id="{906FB1EC-6CF1-497E-8E41-F42592D6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741" y="2564606"/>
            <a:ext cx="14669" cy="5500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37" name="adapter-diagram-line-26">
            <a:extLst xmlns:a="http://schemas.openxmlformats.org/drawingml/2006/main">
              <a:ext uri="{FF2B5EF4-FFF2-40B4-BE49-F238E27FC236}">
                <a16:creationId xmlns:a16="http://schemas.microsoft.com/office/drawing/2014/main" id="{9AF02FF1-D1B2-469E-801F-726C78BE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07341"/>
            <a:ext cx="1257300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38" name="adapter-diagram-line-27">
            <a:extLst xmlns:a="http://schemas.openxmlformats.org/drawingml/2006/main">
              <a:ext uri="{FF2B5EF4-FFF2-40B4-BE49-F238E27FC236}">
                <a16:creationId xmlns:a16="http://schemas.microsoft.com/office/drawing/2014/main" id="{994E6BE1-074F-4665-9EF2-485C808C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441" y="2931319"/>
            <a:ext cx="14669" cy="183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39" name="adapter-diagram-arrow-28">
            <a:extLst xmlns:a="http://schemas.openxmlformats.org/drawingml/2006/main">
              <a:ext uri="{FF2B5EF4-FFF2-40B4-BE49-F238E27FC236}">
                <a16:creationId xmlns:a16="http://schemas.microsoft.com/office/drawing/2014/main" id="{856C2997-8897-4BA9-AD69-A81437C8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8343" y="2899886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40" name="adapter-text-29">
            <a:extLst xmlns:a="http://schemas.openxmlformats.org/drawingml/2006/main">
              <a:ext uri="{FF2B5EF4-FFF2-40B4-BE49-F238E27FC236}">
                <a16:creationId xmlns:a16="http://schemas.microsoft.com/office/drawing/2014/main" id="{5AFC6CCA-CF42-407A-A31A-78FA2327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" y="3209811"/>
            <a:ext cx="1938338" cy="19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14" b="0">
                <a:solidFill>
                  <a:srgbClr val="168270"/>
                </a:solidFill>
                <a:latin typeface="微软雅黑"/>
                <a:ea typeface="微软雅黑"/>
                <a:cs typeface="微软雅黑"/>
              </a:defRPr>
            </a:pPr>
            <a:r>
              <a:rPr sz="1114" b="0">
                <a:solidFill>
                  <a:srgbClr val="168270"/>
                </a:solidFill>
                <a:latin typeface="微软雅黑"/>
                <a:ea typeface="微软雅黑"/>
                <a:cs typeface="微软雅黑"/>
              </a:rPr>
              <a:t>状态、数据与约束结果</a:t>
            </a:r>
          </a:p>
        </p:txBody>
      </p:sp>
      <p:sp>
        <p:nvSpPr>
          <p:cNvPr id="41" name="adapter-text-30">
            <a:extLst xmlns:a="http://schemas.openxmlformats.org/drawingml/2006/main">
              <a:ext uri="{FF2B5EF4-FFF2-40B4-BE49-F238E27FC236}">
                <a16:creationId xmlns:a16="http://schemas.microsoft.com/office/drawing/2014/main" id="{23B06FF8-2BA1-4A88-B713-7E7E2657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" y="3414122"/>
            <a:ext cx="1938338" cy="19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14" b="0">
                <a:solidFill>
                  <a:srgbClr val="168270"/>
                </a:solidFill>
                <a:latin typeface="微软雅黑"/>
                <a:ea typeface="微软雅黑"/>
                <a:cs typeface="微软雅黑"/>
              </a:defRPr>
            </a:pPr>
            <a:r>
              <a:rPr sz="1114" b="0">
                <a:solidFill>
                  <a:srgbClr val="168270"/>
                </a:solidFill>
                <a:latin typeface="微软雅黑"/>
                <a:ea typeface="微软雅黑"/>
                <a:cs typeface="微软雅黑"/>
              </a:rPr>
              <a:t>反馈驱动方案调整</a:t>
            </a:r>
          </a:p>
        </p:txBody>
      </p:sp>
      <p:sp>
        <p:nvSpPr>
          <p:cNvPr id="42" name="adapter-diagram-box-31">
            <a:extLst xmlns:a="http://schemas.openxmlformats.org/drawingml/2006/main">
              <a:ext uri="{FF2B5EF4-FFF2-40B4-BE49-F238E27FC236}">
                <a16:creationId xmlns:a16="http://schemas.microsoft.com/office/drawing/2014/main" id="{ED2EB104-2436-4E45-BA44-F39E0CE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71838"/>
            <a:ext cx="6810375" cy="1990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5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43" name="adapter-diagram-box-32">
            <a:extLst xmlns:a="http://schemas.openxmlformats.org/drawingml/2006/main">
              <a:ext uri="{FF2B5EF4-FFF2-40B4-BE49-F238E27FC236}">
                <a16:creationId xmlns:a16="http://schemas.microsoft.com/office/drawing/2014/main" id="{8BFE655C-CB80-4064-BB17-FEDF86B6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71838"/>
            <a:ext cx="6810375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B0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44" name="adapter-text-33">
            <a:extLst xmlns:a="http://schemas.openxmlformats.org/drawingml/2006/main">
              <a:ext uri="{FF2B5EF4-FFF2-40B4-BE49-F238E27FC236}">
                <a16:creationId xmlns:a16="http://schemas.microsoft.com/office/drawing/2014/main" id="{2CA272D5-3283-4016-8679-612CC74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978" y="3295726"/>
            <a:ext cx="6600825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Adapter：模拟执行 / 真机执行</a:t>
            </a:r>
          </a:p>
        </p:txBody>
      </p:sp>
      <p:sp>
        <p:nvSpPr>
          <p:cNvPr id="45" name="adapter-diagram-box-34">
            <a:extLst xmlns:a="http://schemas.openxmlformats.org/drawingml/2006/main">
              <a:ext uri="{FF2B5EF4-FFF2-40B4-BE49-F238E27FC236}">
                <a16:creationId xmlns:a16="http://schemas.microsoft.com/office/drawing/2014/main" id="{88948B6B-087C-4CE4-A305-D27F8A92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3690938"/>
            <a:ext cx="6496050" cy="288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46" name="adapter-text-35">
            <a:extLst xmlns:a="http://schemas.openxmlformats.org/drawingml/2006/main">
              <a:ext uri="{FF2B5EF4-FFF2-40B4-BE49-F238E27FC236}">
                <a16:creationId xmlns:a16="http://schemas.microsoft.com/office/drawing/2014/main" id="{F981FDCF-77E0-48D3-BD9D-58D681BE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740601"/>
            <a:ext cx="6076950" cy="22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9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279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统一控制入口与反馈接口</a:t>
            </a:r>
          </a:p>
        </p:txBody>
      </p:sp>
      <p:sp>
        <p:nvSpPr>
          <p:cNvPr id="47" name="adapter-diagram-line-36">
            <a:extLst xmlns:a="http://schemas.openxmlformats.org/drawingml/2006/main">
              <a:ext uri="{FF2B5EF4-FFF2-40B4-BE49-F238E27FC236}">
                <a16:creationId xmlns:a16="http://schemas.microsoft.com/office/drawing/2014/main" id="{E5C38278-DF02-405A-B02A-4519885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291" y="2695575"/>
            <a:ext cx="14669" cy="995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48" name="adapter-diagram-arrow-37">
            <a:extLst xmlns:a="http://schemas.openxmlformats.org/drawingml/2006/main">
              <a:ext uri="{FF2B5EF4-FFF2-40B4-BE49-F238E27FC236}">
                <a16:creationId xmlns:a16="http://schemas.microsoft.com/office/drawing/2014/main" id="{692F42C2-BC29-4515-BE34-ACC3C0AA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636193" y="3659505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49" name="adapter-text-38">
            <a:extLst xmlns:a="http://schemas.openxmlformats.org/drawingml/2006/main">
              <a:ext uri="{FF2B5EF4-FFF2-40B4-BE49-F238E27FC236}">
                <a16:creationId xmlns:a16="http://schemas.microsoft.com/office/drawing/2014/main" id="{FAD1FD68-5522-461C-8A7C-3FEDA725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355" y="3011157"/>
            <a:ext cx="125730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235F9A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235F9A"/>
                </a:solidFill>
                <a:latin typeface="微软雅黑"/>
                <a:ea typeface="微软雅黑"/>
                <a:cs typeface="微软雅黑"/>
              </a:rPr>
              <a:t>控制请求</a:t>
            </a:r>
          </a:p>
        </p:txBody>
      </p:sp>
      <p:sp>
        <p:nvSpPr>
          <p:cNvPr id="50" name="adapter-diagram-line-39">
            <a:extLst xmlns:a="http://schemas.openxmlformats.org/drawingml/2006/main">
              <a:ext uri="{FF2B5EF4-FFF2-40B4-BE49-F238E27FC236}">
                <a16:creationId xmlns:a16="http://schemas.microsoft.com/office/drawing/2014/main" id="{203AEB4C-1B06-4F6E-ABF9-26AB4DAE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528" y="2695575"/>
            <a:ext cx="14669" cy="995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51" name="adapter-diagram-arrow-40">
            <a:extLst xmlns:a="http://schemas.openxmlformats.org/drawingml/2006/main">
              <a:ext uri="{FF2B5EF4-FFF2-40B4-BE49-F238E27FC236}">
                <a16:creationId xmlns:a16="http://schemas.microsoft.com/office/drawing/2014/main" id="{5DABB12D-925E-4638-8ACA-80C6D50E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5430" y="2664143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52" name="adapter-text-41">
            <a:extLst xmlns:a="http://schemas.openxmlformats.org/drawingml/2006/main">
              <a:ext uri="{FF2B5EF4-FFF2-40B4-BE49-F238E27FC236}">
                <a16:creationId xmlns:a16="http://schemas.microsoft.com/office/drawing/2014/main" id="{4A4DEBE3-9818-4FB2-BCDD-44441552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2593" y="3011157"/>
            <a:ext cx="146685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168270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168270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53" name="adapter-diagram-box-42">
            <a:extLst xmlns:a="http://schemas.openxmlformats.org/drawingml/2006/main">
              <a:ext uri="{FF2B5EF4-FFF2-40B4-BE49-F238E27FC236}">
                <a16:creationId xmlns:a16="http://schemas.microsoft.com/office/drawing/2014/main" id="{4493FB94-9501-4207-929E-F7AC9720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319588"/>
            <a:ext cx="2383631" cy="812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5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54" name="adapter-diagram-box-43">
            <a:extLst xmlns:a="http://schemas.openxmlformats.org/drawingml/2006/main">
              <a:ext uri="{FF2B5EF4-FFF2-40B4-BE49-F238E27FC236}">
                <a16:creationId xmlns:a16="http://schemas.microsoft.com/office/drawing/2014/main" id="{0EC6968B-F794-474F-B86D-B4055314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319588"/>
            <a:ext cx="2383631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B0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55" name="adapter-text-44">
            <a:extLst xmlns:a="http://schemas.openxmlformats.org/drawingml/2006/main">
              <a:ext uri="{FF2B5EF4-FFF2-40B4-BE49-F238E27FC236}">
                <a16:creationId xmlns:a16="http://schemas.microsoft.com/office/drawing/2014/main" id="{29F1514E-0DE7-411B-AE60-075E1A01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721" y="4343476"/>
            <a:ext cx="2174081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模拟执行</a:t>
            </a:r>
          </a:p>
        </p:txBody>
      </p:sp>
      <p:sp>
        <p:nvSpPr>
          <p:cNvPr id="56" name="adapter-text-45">
            <a:extLst xmlns:a="http://schemas.openxmlformats.org/drawingml/2006/main">
              <a:ext uri="{FF2B5EF4-FFF2-40B4-BE49-F238E27FC236}">
                <a16:creationId xmlns:a16="http://schemas.microsoft.com/office/drawing/2014/main" id="{24133321-43D7-4D9A-A558-71C7F0DF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431" y="4650886"/>
            <a:ext cx="2226469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在 Adapter 内模拟指令</a:t>
            </a:r>
          </a:p>
        </p:txBody>
      </p:sp>
      <p:sp>
        <p:nvSpPr>
          <p:cNvPr id="57" name="adapter-text-46">
            <a:extLst xmlns:a="http://schemas.openxmlformats.org/drawingml/2006/main">
              <a:ext uri="{FF2B5EF4-FFF2-40B4-BE49-F238E27FC236}">
                <a16:creationId xmlns:a16="http://schemas.microsoft.com/office/drawing/2014/main" id="{30258444-1F68-4A7B-94DC-ABF863E2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431" y="4865675"/>
            <a:ext cx="2226469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生成模拟状态与数据</a:t>
            </a:r>
          </a:p>
        </p:txBody>
      </p:sp>
      <p:sp>
        <p:nvSpPr>
          <p:cNvPr id="58" name="adapter-diagram-box-47">
            <a:extLst xmlns:a="http://schemas.openxmlformats.org/drawingml/2006/main">
              <a:ext uri="{FF2B5EF4-FFF2-40B4-BE49-F238E27FC236}">
                <a16:creationId xmlns:a16="http://schemas.microsoft.com/office/drawing/2014/main" id="{5DE58EAA-888E-41AD-A1D8-D95EB31D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19588"/>
            <a:ext cx="2383631" cy="812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5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59" name="adapter-diagram-box-48">
            <a:extLst xmlns:a="http://schemas.openxmlformats.org/drawingml/2006/main">
              <a:ext uri="{FF2B5EF4-FFF2-40B4-BE49-F238E27FC236}">
                <a16:creationId xmlns:a16="http://schemas.microsoft.com/office/drawing/2014/main" id="{3CA55EAB-9359-44F7-B482-B74810EE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19588"/>
            <a:ext cx="2383631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B0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60" name="adapter-text-49">
            <a:extLst xmlns:a="http://schemas.openxmlformats.org/drawingml/2006/main">
              <a:ext uri="{FF2B5EF4-FFF2-40B4-BE49-F238E27FC236}">
                <a16:creationId xmlns:a16="http://schemas.microsoft.com/office/drawing/2014/main" id="{D7436864-A153-4AA2-A648-149D624F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203" y="4343476"/>
            <a:ext cx="2174081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真机执行</a:t>
            </a:r>
          </a:p>
        </p:txBody>
      </p:sp>
      <p:sp>
        <p:nvSpPr>
          <p:cNvPr id="61" name="adapter-text-50">
            <a:extLst xmlns:a="http://schemas.openxmlformats.org/drawingml/2006/main">
              <a:ext uri="{FF2B5EF4-FFF2-40B4-BE49-F238E27FC236}">
                <a16:creationId xmlns:a16="http://schemas.microsoft.com/office/drawing/2014/main" id="{B2BDECCD-A983-48AD-A0DE-672B5E0F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912" y="4650886"/>
            <a:ext cx="2226469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映射设备协议并下发指令</a:t>
            </a:r>
          </a:p>
        </p:txBody>
      </p:sp>
      <p:sp>
        <p:nvSpPr>
          <p:cNvPr id="62" name="adapter-text-51">
            <a:extLst xmlns:a="http://schemas.openxmlformats.org/drawingml/2006/main">
              <a:ext uri="{FF2B5EF4-FFF2-40B4-BE49-F238E27FC236}">
                <a16:creationId xmlns:a16="http://schemas.microsoft.com/office/drawing/2014/main" id="{873841A8-7147-4472-88A9-4B62EAAB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912" y="4865675"/>
            <a:ext cx="2226469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接收测量与运行状态</a:t>
            </a:r>
          </a:p>
        </p:txBody>
      </p:sp>
      <p:sp>
        <p:nvSpPr>
          <p:cNvPr id="63" name="adapter-diagram-line-52">
            <a:extLst xmlns:a="http://schemas.openxmlformats.org/drawingml/2006/main">
              <a:ext uri="{FF2B5EF4-FFF2-40B4-BE49-F238E27FC236}">
                <a16:creationId xmlns:a16="http://schemas.microsoft.com/office/drawing/2014/main" id="{BA8F159A-04AC-43E0-AB26-16849C0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366" y="3979069"/>
            <a:ext cx="14669" cy="340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64" name="adapter-diagram-arrow-53">
            <a:extLst xmlns:a="http://schemas.openxmlformats.org/drawingml/2006/main">
              <a:ext uri="{FF2B5EF4-FFF2-40B4-BE49-F238E27FC236}">
                <a16:creationId xmlns:a16="http://schemas.microsoft.com/office/drawing/2014/main" id="{66C57AF1-3BED-43E3-89A5-BF12952A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807268" y="4288155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65" name="adapter-text-54">
            <a:extLst xmlns:a="http://schemas.openxmlformats.org/drawingml/2006/main">
              <a:ext uri="{FF2B5EF4-FFF2-40B4-BE49-F238E27FC236}">
                <a16:creationId xmlns:a16="http://schemas.microsoft.com/office/drawing/2014/main" id="{8DEE8A4A-22DA-4908-BC73-CDDE47FA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133" y="4058488"/>
            <a:ext cx="654844" cy="19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14" b="0">
                <a:solidFill>
                  <a:srgbClr val="235F9A"/>
                </a:solidFill>
                <a:latin typeface="微软雅黑"/>
                <a:ea typeface="微软雅黑"/>
                <a:cs typeface="微软雅黑"/>
              </a:defRPr>
            </a:pPr>
            <a:r>
              <a:rPr sz="1114" b="0">
                <a:solidFill>
                  <a:srgbClr val="235F9A"/>
                </a:solidFill>
                <a:latin typeface="微软雅黑"/>
                <a:ea typeface="微软雅黑"/>
                <a:cs typeface="微软雅黑"/>
              </a:rPr>
              <a:t>先模拟</a:t>
            </a:r>
          </a:p>
        </p:txBody>
      </p:sp>
      <p:sp>
        <p:nvSpPr>
          <p:cNvPr id="66" name="adapter-diagram-line-55">
            <a:extLst xmlns:a="http://schemas.openxmlformats.org/drawingml/2006/main">
              <a:ext uri="{FF2B5EF4-FFF2-40B4-BE49-F238E27FC236}">
                <a16:creationId xmlns:a16="http://schemas.microsoft.com/office/drawing/2014/main" id="{5CEDD415-7FF2-45FA-AD2D-6CE615C0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503" y="3979069"/>
            <a:ext cx="14669" cy="340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67" name="adapter-diagram-arrow-56">
            <a:extLst xmlns:a="http://schemas.openxmlformats.org/drawingml/2006/main">
              <a:ext uri="{FF2B5EF4-FFF2-40B4-BE49-F238E27FC236}">
                <a16:creationId xmlns:a16="http://schemas.microsoft.com/office/drawing/2014/main" id="{B18E1860-6011-4B70-B4EF-1403C67A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7405" y="3947636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68" name="adapter-diagram-line-57">
            <a:extLst xmlns:a="http://schemas.openxmlformats.org/drawingml/2006/main">
              <a:ext uri="{FF2B5EF4-FFF2-40B4-BE49-F238E27FC236}">
                <a16:creationId xmlns:a16="http://schemas.microsoft.com/office/drawing/2014/main" id="{7BF292AE-3A06-45BD-9F00-B1F8FE9C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491" y="3979069"/>
            <a:ext cx="14669" cy="340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69" name="adapter-diagram-arrow-58">
            <a:extLst xmlns:a="http://schemas.openxmlformats.org/drawingml/2006/main">
              <a:ext uri="{FF2B5EF4-FFF2-40B4-BE49-F238E27FC236}">
                <a16:creationId xmlns:a16="http://schemas.microsoft.com/office/drawing/2014/main" id="{0117ADD5-F4D0-4FD2-B655-FEB07B11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474393" y="4288155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70" name="adapter-text-59">
            <a:extLst xmlns:a="http://schemas.openxmlformats.org/drawingml/2006/main">
              <a:ext uri="{FF2B5EF4-FFF2-40B4-BE49-F238E27FC236}">
                <a16:creationId xmlns:a16="http://schemas.microsoft.com/office/drawing/2014/main" id="{5895744F-1767-4129-BA00-7243E1D9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109" y="4063308"/>
            <a:ext cx="890588" cy="19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235F9A"/>
                </a:solidFill>
                <a:latin typeface="微软雅黑"/>
                <a:ea typeface="微软雅黑"/>
                <a:cs typeface="微软雅黑"/>
              </a:defRPr>
            </a:pPr>
            <a:r>
              <a:rPr sz="1073" b="0">
                <a:solidFill>
                  <a:srgbClr val="235F9A"/>
                </a:solidFill>
                <a:latin typeface="微软雅黑"/>
                <a:ea typeface="微软雅黑"/>
                <a:cs typeface="微软雅黑"/>
              </a:rPr>
              <a:t>通过检查后</a:t>
            </a:r>
          </a:p>
        </p:txBody>
      </p:sp>
      <p:sp>
        <p:nvSpPr>
          <p:cNvPr id="71" name="adapter-diagram-line-60">
            <a:extLst xmlns:a="http://schemas.openxmlformats.org/drawingml/2006/main">
              <a:ext uri="{FF2B5EF4-FFF2-40B4-BE49-F238E27FC236}">
                <a16:creationId xmlns:a16="http://schemas.microsoft.com/office/drawing/2014/main" id="{EAEEF50B-7093-42C8-8929-D4892D08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3403" y="3979069"/>
            <a:ext cx="14669" cy="340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72" name="adapter-diagram-arrow-61">
            <a:extLst xmlns:a="http://schemas.openxmlformats.org/drawingml/2006/main">
              <a:ext uri="{FF2B5EF4-FFF2-40B4-BE49-F238E27FC236}">
                <a16:creationId xmlns:a16="http://schemas.microsoft.com/office/drawing/2014/main" id="{F11CA4F1-0409-42C0-AB6C-39F52255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9305" y="3947636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73" name="adapter-diagram-line-62">
            <a:extLst xmlns:a="http://schemas.openxmlformats.org/drawingml/2006/main">
              <a:ext uri="{FF2B5EF4-FFF2-40B4-BE49-F238E27FC236}">
                <a16:creationId xmlns:a16="http://schemas.microsoft.com/office/drawing/2014/main" id="{6CDCA3A3-9D46-443C-8971-8D329CBF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74" name="adapter-diagram-line-63">
            <a:extLst xmlns:a="http://schemas.openxmlformats.org/drawingml/2006/main">
              <a:ext uri="{FF2B5EF4-FFF2-40B4-BE49-F238E27FC236}">
                <a16:creationId xmlns:a16="http://schemas.microsoft.com/office/drawing/2014/main" id="{0B76CDF3-8ECA-4D24-A924-5A2C2AD6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681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75" name="adapter-diagram-line-64">
            <a:extLst xmlns:a="http://schemas.openxmlformats.org/drawingml/2006/main">
              <a:ext uri="{FF2B5EF4-FFF2-40B4-BE49-F238E27FC236}">
                <a16:creationId xmlns:a16="http://schemas.microsoft.com/office/drawing/2014/main" id="{D2768008-A285-4F44-87AD-DDA03A61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263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76" name="adapter-diagram-line-65">
            <a:extLst xmlns:a="http://schemas.openxmlformats.org/drawingml/2006/main">
              <a:ext uri="{FF2B5EF4-FFF2-40B4-BE49-F238E27FC236}">
                <a16:creationId xmlns:a16="http://schemas.microsoft.com/office/drawing/2014/main" id="{663C4995-F5A7-47DE-BC00-1ECF1C6E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844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77" name="adapter-diagram-line-66">
            <a:extLst xmlns:a="http://schemas.openxmlformats.org/drawingml/2006/main">
              <a:ext uri="{FF2B5EF4-FFF2-40B4-BE49-F238E27FC236}">
                <a16:creationId xmlns:a16="http://schemas.microsoft.com/office/drawing/2014/main" id="{16BA36C5-2A5D-4186-A534-6D6328FF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78" name="adapter-diagram-line-67">
            <a:extLst xmlns:a="http://schemas.openxmlformats.org/drawingml/2006/main">
              <a:ext uri="{FF2B5EF4-FFF2-40B4-BE49-F238E27FC236}">
                <a16:creationId xmlns:a16="http://schemas.microsoft.com/office/drawing/2014/main" id="{80FB68CE-AA76-4B7B-A843-B5B8CC51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006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79" name="adapter-diagram-line-68">
            <a:extLst xmlns:a="http://schemas.openxmlformats.org/drawingml/2006/main">
              <a:ext uri="{FF2B5EF4-FFF2-40B4-BE49-F238E27FC236}">
                <a16:creationId xmlns:a16="http://schemas.microsoft.com/office/drawing/2014/main" id="{F66924FC-A31E-4A25-8F91-18396C73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80" name="adapter-diagram-line-69">
            <a:extLst xmlns:a="http://schemas.openxmlformats.org/drawingml/2006/main">
              <a:ext uri="{FF2B5EF4-FFF2-40B4-BE49-F238E27FC236}">
                <a16:creationId xmlns:a16="http://schemas.microsoft.com/office/drawing/2014/main" id="{CE127698-8E6B-4285-B36F-E41122A9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169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81" name="adapter-diagram-line-70">
            <a:extLst xmlns:a="http://schemas.openxmlformats.org/drawingml/2006/main">
              <a:ext uri="{FF2B5EF4-FFF2-40B4-BE49-F238E27FC236}">
                <a16:creationId xmlns:a16="http://schemas.microsoft.com/office/drawing/2014/main" id="{187D8661-270B-4BD5-9156-19C42F40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82" name="adapter-diagram-line-71">
            <a:extLst xmlns:a="http://schemas.openxmlformats.org/drawingml/2006/main">
              <a:ext uri="{FF2B5EF4-FFF2-40B4-BE49-F238E27FC236}">
                <a16:creationId xmlns:a16="http://schemas.microsoft.com/office/drawing/2014/main" id="{8402C91D-584C-4BDC-A266-1DD30276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331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83" name="adapter-diagram-line-72">
            <a:extLst xmlns:a="http://schemas.openxmlformats.org/drawingml/2006/main">
              <a:ext uri="{FF2B5EF4-FFF2-40B4-BE49-F238E27FC236}">
                <a16:creationId xmlns:a16="http://schemas.microsoft.com/office/drawing/2014/main" id="{FD95A6CB-713A-4DC7-AD22-93841CA5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84" name="adapter-diagram-line-73">
            <a:extLst xmlns:a="http://schemas.openxmlformats.org/drawingml/2006/main">
              <a:ext uri="{FF2B5EF4-FFF2-40B4-BE49-F238E27FC236}">
                <a16:creationId xmlns:a16="http://schemas.microsoft.com/office/drawing/2014/main" id="{80EC9381-5C88-4ED3-A7B2-81A929FE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494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85" name="adapter-diagram-line-74">
            <a:extLst xmlns:a="http://schemas.openxmlformats.org/drawingml/2006/main">
              <a:ext uri="{FF2B5EF4-FFF2-40B4-BE49-F238E27FC236}">
                <a16:creationId xmlns:a16="http://schemas.microsoft.com/office/drawing/2014/main" id="{F7463462-C05C-4060-8859-6CC09CD9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86" name="adapter-diagram-line-75">
            <a:extLst xmlns:a="http://schemas.openxmlformats.org/drawingml/2006/main">
              <a:ext uri="{FF2B5EF4-FFF2-40B4-BE49-F238E27FC236}">
                <a16:creationId xmlns:a16="http://schemas.microsoft.com/office/drawing/2014/main" id="{38BC7ADD-9B2F-4EDA-8B75-516EE51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656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87" name="adapter-diagram-line-76">
            <a:extLst xmlns:a="http://schemas.openxmlformats.org/drawingml/2006/main">
              <a:ext uri="{FF2B5EF4-FFF2-40B4-BE49-F238E27FC236}">
                <a16:creationId xmlns:a16="http://schemas.microsoft.com/office/drawing/2014/main" id="{0069CFEF-5E13-4002-813F-9D5698A9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238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88" name="adapter-diagram-line-77">
            <a:extLst xmlns:a="http://schemas.openxmlformats.org/drawingml/2006/main">
              <a:ext uri="{FF2B5EF4-FFF2-40B4-BE49-F238E27FC236}">
                <a16:creationId xmlns:a16="http://schemas.microsoft.com/office/drawing/2014/main" id="{E8671E51-3EDA-4D55-A669-311D824C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819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89" name="adapter-diagram-line-78">
            <a:extLst xmlns:a="http://schemas.openxmlformats.org/drawingml/2006/main">
              <a:ext uri="{FF2B5EF4-FFF2-40B4-BE49-F238E27FC236}">
                <a16:creationId xmlns:a16="http://schemas.microsoft.com/office/drawing/2014/main" id="{C9C1EE79-6687-4BAE-9C99-9F216E51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90" name="adapter-diagram-line-79">
            <a:extLst xmlns:a="http://schemas.openxmlformats.org/drawingml/2006/main">
              <a:ext uri="{FF2B5EF4-FFF2-40B4-BE49-F238E27FC236}">
                <a16:creationId xmlns:a16="http://schemas.microsoft.com/office/drawing/2014/main" id="{62761555-5333-4826-B5E7-BE8FA267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981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91" name="adapter-diagram-line-80">
            <a:extLst xmlns:a="http://schemas.openxmlformats.org/drawingml/2006/main">
              <a:ext uri="{FF2B5EF4-FFF2-40B4-BE49-F238E27FC236}">
                <a16:creationId xmlns:a16="http://schemas.microsoft.com/office/drawing/2014/main" id="{E8F8379C-13E5-427E-8727-97665716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3" y="4731353"/>
            <a:ext cx="47149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92" name="adapter-diagram-arrow-81">
            <a:extLst xmlns:a="http://schemas.openxmlformats.org/drawingml/2006/main">
              <a:ext uri="{FF2B5EF4-FFF2-40B4-BE49-F238E27FC236}">
                <a16:creationId xmlns:a16="http://schemas.microsoft.com/office/drawing/2014/main" id="{216DD209-5AFA-474D-92D3-040333BE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50518" y="4707255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93" name="adapter-text-82">
            <a:extLst xmlns:a="http://schemas.openxmlformats.org/drawingml/2006/main">
              <a:ext uri="{FF2B5EF4-FFF2-40B4-BE49-F238E27FC236}">
                <a16:creationId xmlns:a16="http://schemas.microsoft.com/office/drawing/2014/main" id="{8A4ADC8E-F803-488B-A2A1-2AE226B8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488" y="4446575"/>
            <a:ext cx="136207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0">
                <a:solidFill>
                  <a:srgbClr val="B86626"/>
                </a:solidFill>
                <a:latin typeface="微软雅黑"/>
                <a:ea typeface="微软雅黑"/>
                <a:cs typeface="微软雅黑"/>
              </a:defRPr>
            </a:pPr>
            <a:r>
              <a:rPr sz="1155" b="0">
                <a:solidFill>
                  <a:srgbClr val="B86626"/>
                </a:solidFill>
                <a:latin typeface="微软雅黑"/>
                <a:ea typeface="微软雅黑"/>
                <a:cs typeface="微软雅黑"/>
              </a:rPr>
              <a:t>模拟检查通过</a:t>
            </a:r>
          </a:p>
        </p:txBody>
      </p:sp>
      <p:sp>
        <p:nvSpPr>
          <p:cNvPr id="94" name="adapter-text-83">
            <a:extLst xmlns:a="http://schemas.openxmlformats.org/drawingml/2006/main">
              <a:ext uri="{FF2B5EF4-FFF2-40B4-BE49-F238E27FC236}">
                <a16:creationId xmlns:a16="http://schemas.microsoft.com/office/drawing/2014/main" id="{5002958D-B80C-41CD-801D-1C85BEE1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294" y="4870494"/>
            <a:ext cx="1414463" cy="19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14" b="0">
                <a:solidFill>
                  <a:srgbClr val="B86626"/>
                </a:solidFill>
                <a:latin typeface="微软雅黑"/>
                <a:ea typeface="微软雅黑"/>
                <a:cs typeface="微软雅黑"/>
              </a:defRPr>
            </a:pPr>
            <a:r>
              <a:rPr sz="1114" b="0">
                <a:solidFill>
                  <a:srgbClr val="B86626"/>
                </a:solidFill>
                <a:latin typeface="微软雅黑"/>
                <a:ea typeface="微软雅黑"/>
                <a:cs typeface="微软雅黑"/>
              </a:rPr>
              <a:t>切换为真机模式</a:t>
            </a:r>
          </a:p>
        </p:txBody>
      </p:sp>
      <p:sp>
        <p:nvSpPr>
          <p:cNvPr id="95" name="adapter-text-84">
            <a:extLst xmlns:a="http://schemas.openxmlformats.org/drawingml/2006/main">
              <a:ext uri="{FF2B5EF4-FFF2-40B4-BE49-F238E27FC236}">
                <a16:creationId xmlns:a16="http://schemas.microsoft.com/office/drawing/2014/main" id="{E7FD3193-06E3-46BD-A08B-6A0FDDB3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819" y="5410086"/>
            <a:ext cx="3667125" cy="19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14" b="0">
                <a:solidFill>
                  <a:srgbClr val="B86626"/>
                </a:solidFill>
                <a:latin typeface="微软雅黑"/>
                <a:ea typeface="微软雅黑"/>
                <a:cs typeface="微软雅黑"/>
              </a:defRPr>
            </a:pPr>
            <a:r>
              <a:rPr sz="1114" b="0">
                <a:solidFill>
                  <a:srgbClr val="B86626"/>
                </a:solidFill>
                <a:latin typeface="微软雅黑"/>
                <a:ea typeface="微软雅黑"/>
                <a:cs typeface="微软雅黑"/>
              </a:rPr>
              <a:t>未通过检查：继续模拟与调整</a:t>
            </a:r>
          </a:p>
        </p:txBody>
      </p:sp>
      <p:sp>
        <p:nvSpPr>
          <p:cNvPr id="96" name="adapter-diagram-box-85">
            <a:extLst xmlns:a="http://schemas.openxmlformats.org/drawingml/2006/main">
              <a:ext uri="{FF2B5EF4-FFF2-40B4-BE49-F238E27FC236}">
                <a16:creationId xmlns:a16="http://schemas.microsoft.com/office/drawing/2014/main" id="{D7C3A7FA-8A35-468C-BFA4-B9BD355A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76888"/>
            <a:ext cx="238363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97" name="adapter-text-86">
            <a:extLst xmlns:a="http://schemas.openxmlformats.org/drawingml/2006/main">
              <a:ext uri="{FF2B5EF4-FFF2-40B4-BE49-F238E27FC236}">
                <a16:creationId xmlns:a16="http://schemas.microsoft.com/office/drawing/2014/main" id="{22A50952-D90E-4400-B2E1-E213B248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203" y="5600776"/>
            <a:ext cx="2147888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98" name="adapter-text-87">
            <a:extLst xmlns:a="http://schemas.openxmlformats.org/drawingml/2006/main">
              <a:ext uri="{FF2B5EF4-FFF2-40B4-BE49-F238E27FC236}">
                <a16:creationId xmlns:a16="http://schemas.microsoft.com/office/drawing/2014/main" id="{16FBB37C-CAFE-4AC3-BF89-68701370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5807812"/>
            <a:ext cx="2252663" cy="19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073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执行操作，产生实际反馈</a:t>
            </a:r>
          </a:p>
        </p:txBody>
      </p:sp>
      <p:sp>
        <p:nvSpPr>
          <p:cNvPr id="99" name="adapter-diagram-line-88">
            <a:extLst xmlns:a="http://schemas.openxmlformats.org/drawingml/2006/main">
              <a:ext uri="{FF2B5EF4-FFF2-40B4-BE49-F238E27FC236}">
                <a16:creationId xmlns:a16="http://schemas.microsoft.com/office/drawing/2014/main" id="{7962F280-BC5A-483B-887E-E9FAE978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491" y="5131594"/>
            <a:ext cx="14669" cy="4452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100" name="adapter-diagram-arrow-89">
            <a:extLst xmlns:a="http://schemas.openxmlformats.org/drawingml/2006/main">
              <a:ext uri="{FF2B5EF4-FFF2-40B4-BE49-F238E27FC236}">
                <a16:creationId xmlns:a16="http://schemas.microsoft.com/office/drawing/2014/main" id="{465B4E7D-014E-49EF-AE76-D4D2E224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474393" y="5545455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101" name="adapter-text-90">
            <a:extLst xmlns:a="http://schemas.openxmlformats.org/drawingml/2006/main">
              <a:ext uri="{FF2B5EF4-FFF2-40B4-BE49-F238E27FC236}">
                <a16:creationId xmlns:a16="http://schemas.microsoft.com/office/drawing/2014/main" id="{40A05BAA-B3F7-4270-B408-03EF4AFB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3" y="5320608"/>
            <a:ext cx="523875" cy="19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235F9A"/>
                </a:solidFill>
                <a:latin typeface="微软雅黑"/>
                <a:ea typeface="微软雅黑"/>
                <a:cs typeface="微软雅黑"/>
              </a:defRPr>
            </a:pPr>
            <a:r>
              <a:rPr sz="1073" b="0">
                <a:solidFill>
                  <a:srgbClr val="235F9A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102" name="adapter-diagram-line-91">
            <a:extLst xmlns:a="http://schemas.openxmlformats.org/drawingml/2006/main">
              <a:ext uri="{FF2B5EF4-FFF2-40B4-BE49-F238E27FC236}">
                <a16:creationId xmlns:a16="http://schemas.microsoft.com/office/drawing/2014/main" id="{2EE98E36-F481-4191-BCD7-887A0A98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3403" y="5131594"/>
            <a:ext cx="14669" cy="4452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103" name="adapter-diagram-arrow-92">
            <a:extLst xmlns:a="http://schemas.openxmlformats.org/drawingml/2006/main">
              <a:ext uri="{FF2B5EF4-FFF2-40B4-BE49-F238E27FC236}">
                <a16:creationId xmlns:a16="http://schemas.microsoft.com/office/drawing/2014/main" id="{EC521C5B-D7CC-441A-9E55-EC18D7E9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9305" y="5100161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104" name="adapter-text-93">
            <a:extLst xmlns:a="http://schemas.openxmlformats.org/drawingml/2006/main">
              <a:ext uri="{FF2B5EF4-FFF2-40B4-BE49-F238E27FC236}">
                <a16:creationId xmlns:a16="http://schemas.microsoft.com/office/drawing/2014/main" id="{A6FA5565-B2DF-4190-BA81-C6F0A4E3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028" y="5320608"/>
            <a:ext cx="759619" cy="19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168270"/>
                </a:solidFill>
                <a:latin typeface="微软雅黑"/>
                <a:ea typeface="微软雅黑"/>
                <a:cs typeface="微软雅黑"/>
              </a:defRPr>
            </a:pPr>
            <a:r>
              <a:rPr sz="1073" b="0">
                <a:solidFill>
                  <a:srgbClr val="168270"/>
                </a:solidFill>
                <a:latin typeface="微软雅黑"/>
                <a:ea typeface="微软雅黑"/>
                <a:cs typeface="微软雅黑"/>
              </a:rPr>
              <a:t>实际反馈</a:t>
            </a:r>
          </a:p>
        </p:txBody>
      </p:sp>
    </p:spTree>
    <p:extLst>
      <p:ext uri="{BB962C8B-B14F-4D97-AF65-F5344CB8AC3E}">
        <p14:creationId xmlns:p14="http://schemas.microsoft.com/office/powerpoint/2010/main" val="21031544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EA4E4D-6B0B-4223-B737-0188B203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BA489E6-2D27-4B1A-8642-F3CEB5F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A70110A-2066-4F5A-93CE-49004795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761A17-F8FB-4B5B-92A6-4C5658D0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FB04C9E-3875-411E-B39A-A85ED4D1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075022-5A85-4E19-8396-2E476676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7EC31C0A-743F-4FFA-91FC-ED6A9CCA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统一建模</a:t>
            </a: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CDAE211F-9A04-445B-9104-2E9A3C48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资源、工作流与约束共同描述实验室任务执行。</a:t>
            </a:r>
          </a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FCE1130A-2221-4051-886F-2266AE8B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明确语义</a:t>
            </a: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BA502BB1-5EDA-4A8E-9E45-D8A9DA4B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变量空间、接口、触发器与状态机组织模型运行。</a:t>
            </a:r>
          </a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0A7D212-B7AA-49B7-9DFA-C1E5AD3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共同链路</a:t>
            </a: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85254E97-D705-47FC-9FD8-22A60DE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人工、流程与大模型共用执行机制，并支持仿真扩展。</a:t>
            </a:r>
          </a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724DB0A6-9FA4-4FCF-8CED-0A7A035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以模型表达具体实验室与任务，以统一规则驱动执行。</a:t>
            </a:r>
          </a:p>
        </p:txBody>
      </p:sp>
    </p:spTree>
    <p:extLst>
      <p:ext uri="{BB962C8B-B14F-4D97-AF65-F5344CB8AC3E}">
        <p14:creationId xmlns:p14="http://schemas.microsoft.com/office/powerpoint/2010/main" val="17446272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2026-09-10T06:33:32.2480000Z</dcterms:created>
  <dcterms:modified xsi:type="dcterms:W3CDTF">2026-09-10T06:33:32.2480000Z</dcterms:modified>
</coreProperties>
</file>