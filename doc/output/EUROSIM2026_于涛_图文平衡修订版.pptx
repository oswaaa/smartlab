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dfe677f906456a" /><Relationship Type="http://schemas.openxmlformats.org/officeDocument/2006/relationships/extended-properties" Target="/docProps/app.xml" Id="R3e7afaabc333449a" /><Relationship Type="http://schemas.openxmlformats.org/officeDocument/2006/relationships/officeDocument" Target="/ppt/presentation.xml" Id="R7e653caa50554f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eae74641424f14"/>
  </p:sldMasterIdLst>
  <p:notesMasterIdLst>
    <p:notesMasterId xmlns:r="http://schemas.openxmlformats.org/officeDocument/2006/relationships" r:id="R1b71760d02f5493b"/>
  </p:notesMasterIdLst>
  <p:sldIdLst>
    <p:sldId xmlns:r="http://schemas.openxmlformats.org/officeDocument/2006/relationships" id="256" r:id="R106906ace72c4c14"/>
    <p:sldId xmlns:r="http://schemas.openxmlformats.org/officeDocument/2006/relationships" id="257" r:id="R0d892c5717494b06"/>
    <p:sldId xmlns:r="http://schemas.openxmlformats.org/officeDocument/2006/relationships" id="258" r:id="Rea9c2d8d2ba7456f"/>
    <p:sldId xmlns:r="http://schemas.openxmlformats.org/officeDocument/2006/relationships" id="259" r:id="R41b028388f3745e5"/>
    <p:sldId xmlns:r="http://schemas.openxmlformats.org/officeDocument/2006/relationships" id="260" r:id="R9e1e3d127f5d44b5"/>
    <p:sldId xmlns:r="http://schemas.openxmlformats.org/officeDocument/2006/relationships" id="261" r:id="R73f62bfc05644942"/>
    <p:sldId xmlns:r="http://schemas.openxmlformats.org/officeDocument/2006/relationships" id="262" r:id="R42d28bb9db9b4dc1"/>
    <p:sldId xmlns:r="http://schemas.openxmlformats.org/officeDocument/2006/relationships" id="263" r:id="R52f0184baba441bb"/>
    <p:sldId xmlns:r="http://schemas.openxmlformats.org/officeDocument/2006/relationships" id="264" r:id="Rcb8a2dc8e7e342f7"/>
    <p:sldId xmlns:r="http://schemas.openxmlformats.org/officeDocument/2006/relationships" id="265" r:id="R17f9c71f994142e3"/>
    <p:sldId xmlns:r="http://schemas.openxmlformats.org/officeDocument/2006/relationships" id="266" r:id="R0150777ba8514f6e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06cd276f4d4878" /><Relationship Type="http://schemas.openxmlformats.org/officeDocument/2006/relationships/slideMaster" Target="/ppt/slideMasters/slideMaster1.xml" Id="R52eae74641424f14" /><Relationship Type="http://schemas.openxmlformats.org/officeDocument/2006/relationships/notesMaster" Target="/ppt/notesMasters/notesMaster1.xml" Id="R1b71760d02f5493b" /><Relationship Type="http://schemas.openxmlformats.org/officeDocument/2006/relationships/presProps" Target="/ppt/presProps.xml" Id="R0a84783bc4b746ef" /><Relationship Type="http://schemas.openxmlformats.org/officeDocument/2006/relationships/viewProps" Target="/ppt/viewProps.xml" Id="R15c9d2f4d91946f9" /><Relationship Type="http://schemas.openxmlformats.org/officeDocument/2006/relationships/tableStyles" Target="/ppt/tableStyles.xml" Id="R1db9635b68654a5e" /><Relationship Type="http://schemas.openxmlformats.org/officeDocument/2006/relationships/slide" Target="/ppt/slides/slide1.xml" Id="R106906ace72c4c14" /><Relationship Type="http://schemas.openxmlformats.org/officeDocument/2006/relationships/slide" Target="/ppt/slides/slide2.xml" Id="R0d892c5717494b06" /><Relationship Type="http://schemas.openxmlformats.org/officeDocument/2006/relationships/slide" Target="/ppt/slides/slide3.xml" Id="Rea9c2d8d2ba7456f" /><Relationship Type="http://schemas.openxmlformats.org/officeDocument/2006/relationships/slide" Target="/ppt/slides/slide4.xml" Id="R41b028388f3745e5" /><Relationship Type="http://schemas.openxmlformats.org/officeDocument/2006/relationships/slide" Target="/ppt/slides/slide5.xml" Id="R9e1e3d127f5d44b5" /><Relationship Type="http://schemas.openxmlformats.org/officeDocument/2006/relationships/slide" Target="/ppt/slides/slide6.xml" Id="R73f62bfc05644942" /><Relationship Type="http://schemas.openxmlformats.org/officeDocument/2006/relationships/slide" Target="/ppt/slides/slide7.xml" Id="R42d28bb9db9b4dc1" /><Relationship Type="http://schemas.openxmlformats.org/officeDocument/2006/relationships/slide" Target="/ppt/slides/slide8.xml" Id="R52f0184baba441bb" /><Relationship Type="http://schemas.openxmlformats.org/officeDocument/2006/relationships/slide" Target="/ppt/slides/slide9.xml" Id="Rcb8a2dc8e7e342f7" /><Relationship Type="http://schemas.openxmlformats.org/officeDocument/2006/relationships/slide" Target="/ppt/slides/slide10.xml" Id="R17f9c71f994142e3" /><Relationship Type="http://schemas.openxmlformats.org/officeDocument/2006/relationships/slide" Target="/ppt/slides/slide11.xml" Id="R0150777ba8514f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743c911f9e49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a129d39eb14a61" /><Relationship Type="http://schemas.openxmlformats.org/officeDocument/2006/relationships/notesMaster" Target="/ppt/notesMasters/notesMaster1.xml" Id="R0c1244eb2b544b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d596c9b5e041f2" /><Relationship Type="http://schemas.openxmlformats.org/officeDocument/2006/relationships/notesMaster" Target="/ppt/notesMasters/notesMaster1.xml" Id="R854ef9c3249348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8b39b4b8f242bc" /><Relationship Type="http://schemas.openxmlformats.org/officeDocument/2006/relationships/notesMaster" Target="/ppt/notesMasters/notesMaster1.xml" Id="R70ccbbf5041d42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89c378875f4640" /><Relationship Type="http://schemas.openxmlformats.org/officeDocument/2006/relationships/notesMaster" Target="/ppt/notesMasters/notesMaster1.xml" Id="Ra790807c945f4b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411150f7d34c65" /><Relationship Type="http://schemas.openxmlformats.org/officeDocument/2006/relationships/notesMaster" Target="/ppt/notesMasters/notesMaster1.xml" Id="R20be4144505a47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47c273f94849aa" /><Relationship Type="http://schemas.openxmlformats.org/officeDocument/2006/relationships/notesMaster" Target="/ppt/notesMasters/notesMaster1.xml" Id="Re6d22e8e805c48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f0ec742d3b4756" /><Relationship Type="http://schemas.openxmlformats.org/officeDocument/2006/relationships/notesMaster" Target="/ppt/notesMasters/notesMaster1.xml" Id="R773ae3316a794a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19f14f9d3c426d" /><Relationship Type="http://schemas.openxmlformats.org/officeDocument/2006/relationships/notesMaster" Target="/ppt/notesMasters/notesMaster1.xml" Id="R60d2a6e1b4d242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100d64b7f942d4" /><Relationship Type="http://schemas.openxmlformats.org/officeDocument/2006/relationships/notesMaster" Target="/ppt/notesMasters/notesMaster1.xml" Id="Rdd19b8b5ed4346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bf7f7e8a574ae3" /><Relationship Type="http://schemas.openxmlformats.org/officeDocument/2006/relationships/notesMaster" Target="/ppt/notesMasters/notesMaster1.xml" Id="R2aae8557a83043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029f2768e1453e" /><Relationship Type="http://schemas.openxmlformats.org/officeDocument/2006/relationships/notesMaster" Target="/ppt/notesMasters/notesMaster1.xml" Id="R65d3bcd7ab884f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各位老师、各位同行，大家好。我是于涛，今天汇报的题目是《面向智慧化学实验室的任务导向可执行建模框架》。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项工作关注实验室任务从提出到实际执行的过程：我们怎样用模型明确表达设备、任务逻辑和执行规则，并让这些模型按一套共同的机制运行。大模型开始参与实验室决策和控制后，这个问题也直接关系到它的控制请求应该怎样进入设备执行。下面我按背景、建模、执行和案例这条主线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今天的汇报分为六个部分。首先说明大模型参与后，为什么需要更加明确的执行边界；然后从一次任务的执行需求出发，介绍资源、工作流、约束及跨层协议构成的统一框架。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在框架部分，我会先给出整体组织方式，再分别介绍各层。接着用统一执行链路说明这些模型如何协同运行，并回到人工、流程和大模型共用执行机制这一问题。最后通过 SmartLab 2.0 中的反应釜加热案例说明实现，介绍仿真反馈闭环的扩展方向，并总结这项工作的贡献。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随着大模型发展，智慧化学实验室正在从能够自动执行任务流程，逐步走向大模型参与决策与控制。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但是，无论执行意图来自人工、任务流程还是大模型，一次任务执行始终需要说明四件事：资源如何组织与调用，设备状态如何演化，数据如何产生与传递，以及执行是否落在允许边界内。这些都是任务执行本身需要明确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模型的加入，使执行边界问题更加突出：它可以提出什么控制请求，这些请求又必须在什么条件下才能执行？我们的原则是不能为大模型开特权，也不能另设直达设备的旁路，所有控制请求都使用同一套执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因此，我们需要对任务执行统一建模，让资源、状态、数据和边界能够在共同的机制中被描述和处理。接下来的问题就是：这套模型应该怎样组织？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从一次实验室任务出发，分析需要建模的内容。首先，任务需要调用设备，要说明设备能做什么、有哪些属性以及当前处于什么状态，这些执行对象形成资源模型。其次，任务包含多个步骤，要说明步骤顺序、数据依赖和推进条件，这些任务过程形成工作流模型。第三，执行必须遵守运行规则，需要结合设备状态和任务上下文判断边界，这些规则形成约束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图中不是把四个问题机械地分成四层，而是按建模职责组织为资源、工作流与约束。请先看整体：左侧工作流层组织任务，右侧资源层描述设备，底部约束同时观察两者，并将处理动作返回相应模型。上方的跨层协议 Π 统一约定控制信号、数据类型、端口关系和执行反馈，连接各层的交互。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对应页面下方的概括：资源层承载能力与状态，工作流层组织步骤与数据，约束层界定执行边界。它们共同回应背景中的四个执行问题。状态和数据贯穿各层交互，由协议统一约定表达与交互方式。这样就形成了由 R、F、C 和 Π 构成的统一可执行框架。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这套框架具有明确的建模语言和执行语义。具体实验室的设备与任务逻辑写在模型中，通用机制根据模型解释运行。图中每个模块的内部组成会在后面分别放大说明，最后再把它们连接成完整的执行链路。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先看资源层。图中放大了总览中的设备对象模型，它由能力模型与状态机共同构成。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能力模型回答设备能做什么。它定义设备属性、可用操作、参数要求以及相关接口和内禀约束。例如，反应釜提供加热能力，具有温度属性，加热操作接收目标温度等参数。这样，任务使用的是明确的设备能力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状态机回答操作怎样执行。它接收控制请求，结合能力定义和当前状态判断能否执行，然后按状态转移规则推进操作，通过输出接口发令，并依据反馈更新设备状态和属性。具体设备通信由 Adapter 完成，这一部分稍后在执行链路中展开。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资源模型既描述设备的结构，也描述操作过程。人工、工作流和大模型提出的请求，都从设备模型的共同入口进入，遵守相同的能力要求和状态规则。这为统一执行提供了基础。接下来再看，怎样把多个设备操作组织为一个完整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工作流层首先组织整个任务的步骤及数据依赖。请先看图上方，前序节点、当前节点与后续节点通过接口建立执行关系。设备执行节点绑定具体设备能力，分支、同步和等待等组织逻辑由相应的功能节点承担。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下方展开的当前节点。变量空间保存目标值、当前值和业务标志，生命周期描述节点所处的执行阶段，控制接口传递执行信号，数据端口表达输入和输出。触发器将这些组成部分联系起来：读取变量、接口值与生命周期，判断条件是否成立，再更新变量或状态、发出请求，或者推进后续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部分共同构成一个具有明确语义的节点。例如，加热节点收到前序激活信号，在前置条件成立后向设备模型提出加热请求。温度反馈到达后更新节点变量，触发器再判断是否满足任务的完成条件。反馈到达并不直接等于节点完成，后续步骤由节点规定的条件和动作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任务逻辑因此能够通过变量空间、生命周期、接口和触发规则在模型中表达，执行机制按照这些语义运行。下一步还需要说明：运行过程中，如何共同观察资源与任务，确保执行遵守边界。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约束层关心执行是否处于允许范围。请看图的上半部分：资源侧提供设备状态、属性和测量数据，工作流侧提供当前步骤、任务变量以及执行上下文。绿色箭头表示这些可观察信息进入约束判断。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约束结合观察结果判断条件。条件触发后，系统可以采取警告、报警、停止或中止等相应动作。橙色箭头表示处理动作通过接口返回资源模型或工作流模型，使设备操作和任务推进按照统一语义得到处理。约束是对执行过程的跨层观察与处理，不是控制请求依次通过的串行转发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统一考虑三类规则。内禀约束与设备自身能力和状态相关，由设备状态机本地处理；实验室基线约束持续监督实验室运行；任务约束在具体任务期间生效。例如，同一温度数值可以结合当前任务阶段，判断是否触发相应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至此，执行对象、任务过程和运行规则都已经说明。下面把这些模型合起来，展示一次设备请求怎样下发、反馈怎样返回，以及各层如何协同运行。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这一页把前面的模型组成转成实际运行的链路。先抓住图下方的第一句话：控制请求经设备状态机与 Adapter 执行，反馈返回模型并驱动任务推进。再看图的左侧，横向由工作流组织多个任务步骤，纵向由工作流节点、设备模型、Adapter 和物理设备完成一次设备执行。向下是控制请求与指令，向上是状态和数据反馈。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右侧展开了各单元。工作流节点的触发器读取变量、接口值与生命周期，在条件成立时发出控制请求。设备状态机结合能力定义和当前状态处理请求，按照状态转移规则推进操作，再通过输出接口发令。Adapter 将标准指令映射为设备协议，由物理设备执行。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反馈沿相同结构返回：Adapter 转换设备事件和测量数据，状态机更新设备状态与属性，再将执行状态和相关数据提供给节点。节点根据更新后的信息判断完成条件，并决定是否推进后续步骤。约束同时观察资源与任务上下文，必要时通过相应接口作用于节点或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回到背景中的大模型问题。人工、任务流程和大模型可以提出不同来源的意图，但对设备的请求都进入共同的设备模型与状态机，遵守相同的能力、状态和约束规则。人工或大模型可以直接调用设备模型的共同入口，并不需要先变成某个工作流节点；图中以工作流发起的一次执行展示这套共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这条链路说明，框架不仅定义了各类模型，也明确了模型之间如何交互和执行。大模型能够提出请求和调整方案，其设备控制始终在这套机制内完成。接下来用反应釜加热任务说明具体实现。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这一页先说明实现，再看一次任务执行。在 SmartLab 2.0 原型中，工作流与状态机引擎解释执行模型，MQTT Adapter 完成设备通信。我们以反应釜加热任务实例化这些模型。资源模型给出反应釜的加热能力、属性与状态机；加热节点绑定该能力，保存任务参数，并定义触发和完成条件；约束模型给出运行期间需要检查的规则。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图中的时序从上到下阅读。加热节点首先提出请求，状态机结合当前状态和能力要求处理请求，再通过 Adapter 发出加热指令，反应釜执行操作。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中间的循环表示持续反馈。反应釜返回温度和运行状态，Adapter 转换反馈，状态机与节点更新各自的模型信息；约束同时观察设备状态和任务上下文。这里的重点是，收到反馈并不等于任务已经完成，节点还需要判断完成条件。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方分开展示两种情况。正常执行满足完成条件时，节点完成并激活后续步骤。如果温度越界或设备异常触发了停止、中止类规则，则由约束通过相应接口采取动作，设备状态与任务状态随处理结果更新；这条异常分支不会直接接入正常的后续激活。警告、报警等其他规则则按各自定义的处理语义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因此，这个案例把能力绑定、请求处理、设备执行、持续反馈、完成判断和异常处理连接起来，说明模型怎样参与实际任务运行。沿用相同的执行机制，还可以进一步扩展到仿真执行。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这一页介绍建立在统一执行机制之上的扩展方向：仿真反馈闭环。页面上方先点出扩展的基础：上层模型与规则保持一致，仿真和实机在 Adapter 层分支。图中共同模型区仍然使用同一套工作流、设备能力模型、状态机与约束规则，两种执行方式分别连接模拟设备或环境和物理设备。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左侧的大模型提出方案和控制请求，经过共同模型后进入仿真 Adapter 和模拟环境。模拟状态、数据以及约束结果沿反馈链路回到模型，并提供给大模型评估和调整方案。调整后的方案再次进入同一套机制，形成决策、仿真执行、反馈和调整的闭环。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再看右侧，上机执行经过一个明确的条件判断。仿真评估结果可以作为判断依据，但仍需满足预设上机条件，才由共同的上层模型进入实机 Adapter 和物理设备。仿真 Adapter 不直接向实机 Adapter 下发控制命令。条件未满足时继续评估和调整。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进入实机后，设备状态和数据继续返回共同模型，用于更新模型状态和执行记录，设备请求仍然遵守相同的状态与约束规则。因此，仿真闭环复用的是前面已经说明的建模与执行语义。这也是面向大模型参与的进一步扩展方向，使方案调整与上机控制都在共同的执行边界内进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这项工作的三个要点。第一，统一建模。我们从实验室任务执行出发，用资源、工作流和约束描述执行对象、任务过程与运行规则，并由跨层协议连接它们。第二，明确语义。变量空间、生命周期、接口、触发器和状态机，让任务如何推进、数据如何传递以及设备如何响应，都能在模型层面得到明确解释。第三，共同链路。人工、流程和大模型的设备请求使用同一套执行机制，仿真反馈闭环也可以在此基础上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这套框架的整体意义，是用模型表达具体实验室和任务，用统一的规则驱动执行。具体任务的结构与逻辑写在模型中，框架按照共同的执行语义运行，因此具有清晰的结构、可解释的过程和可复用的机制。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这也回应了汇报开头的问题：大模型可以参与决策与控制，而它对设备的作用始终落在统一的模型、状态和约束机制之内。我的汇报到这里，谢谢各位，欢迎提问。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1f3e5844940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87ff3c08945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526334b7945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dd16dd3ff45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8d5373ec347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bcdd1d86e4e1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24a9a252e4bc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126cbf9fa4df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9b672c4fa4a1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9e503bdf5405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583f3d3a284d1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D82A73-1D70-4EA8-B93C-4C4DA159F69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FA93EEB-B661-4EDD-81D5-CD79941957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9D339E-F950-46F5-BF6F-5069A745BD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CF6EAA-DDD5-456F-B57A-B7B86E8E59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A73E7E-25EF-4DCC-8651-C5E4CEEAED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83F83F-B096-4AA8-94BA-0C0568DE1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333838-3396-43BE-9F42-A8D03D4946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B08A12-2E43-4AB3-A6DC-77B3B55165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A2FA5B-5668-4AAF-8475-37807D1042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2D351C-81E3-4C1B-B0B0-296F108C2C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F9B0F8-B95A-4ACB-94C6-06B35CB1A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9ECAF2-A793-4572-85A7-DA55A135E5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5FC47D-6F2F-4D20-A61B-A32852B634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077E56-7047-4B96-B584-12C11DFB8E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D2185A-71BD-420C-B580-029083234E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CB21B1-C7D9-4C9E-BFF6-A855C71777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6E9FA0-CEE1-4AFA-98EE-58459C4C94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D85E740-79A7-4E92-90E3-F9EE06A11FD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42B17DA-9425-4661-A437-E26B78C6E6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FDE4D5D-2A07-4EA0-875D-B004B14AB4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C64D447-37E0-4EB7-94C8-24D9BFFCF6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7471DB-CF5A-4F38-9F86-5658B19859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FC87918-F7F1-44FC-B171-C7B93D144A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76ED8FC-E8C9-43BE-88E7-3A7D48CC7AB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4E484A0-5A81-40E2-8531-5A18960691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2F006B6-5490-4DFA-9D41-16DF82267C2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7BA0EE3-F332-4412-88A9-48A7BB22F6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0D620C5-D97E-4765-B444-8FE87531DE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B93A624-3AF3-4455-83C8-A0883AF95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A2B114-C293-4650-825A-4CCD13ADC3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A848FA8-5BB7-43F5-875F-2768C51749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2EE4697-08AE-4402-BB0A-2770670ECE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6EC5564-C025-46DC-B099-91C66DC7DB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B7790DA-FFD3-4337-AB7E-FB2DCEEF25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710259B-37DB-41C3-8C74-582F564F01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89C81C5-E923-4EE5-8A63-7CF1D00AD3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400DAA-F612-43C2-8FCD-8A39B019FF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1D15C4-CF18-4C14-A2B0-EEA3606923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E4BFE94-066A-4C6E-B06A-69115A1E54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06328C5-4290-4CC1-B83F-7A39D37A8B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DA8E06A-F85A-4B72-B74A-E20470DDA0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ACEA1F7-CCB5-4C99-85A2-E7E40BC731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362B44-1DF9-4335-9ADD-3FC41D5371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C3E2F39-AB12-4EAA-9FBF-214698AA2A2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2BFD044-FCCC-4D65-A16C-F037BBB2C1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0AC53E7-AF3F-4BC6-B0D4-44E7264120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3933047-B9A2-4F56-AAE1-2F5624829F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9ED09FB-96A3-485D-B3AA-274A991773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BDAF44-C155-487F-A52F-AE7F6E52C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D67D7A-2552-4441-90F9-78C6B0DDE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E485F7-9D44-4737-9232-3DC5BD15C9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33AC8C-0A97-4473-819D-E664238502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25A5AC-3D5B-4F0D-BE5A-38BB0ED933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53751E5-614A-4362-948F-BA88526687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41CDCB4-13A1-4CA0-BD64-611522CDE8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A1F701-4F53-4D05-BA25-C5D9CB33BA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471F97-2BFA-4C80-950B-39721BADE4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1C0C98-B2C0-403A-9644-35DDBC5EC3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59cc9069ea46c5" /><Relationship Type="http://schemas.openxmlformats.org/officeDocument/2006/relationships/slideLayout" Target="/ppt/slideLayouts/slideLayout1.xml" Id="R02c2d9cf7ac348f5" /><Relationship Type="http://schemas.openxmlformats.org/officeDocument/2006/relationships/slideLayout" Target="/ppt/slideLayouts/slideLayout2.xml" Id="Raeaa891e37e54c49" /><Relationship Type="http://schemas.openxmlformats.org/officeDocument/2006/relationships/slideLayout" Target="/ppt/slideLayouts/slideLayout3.xml" Id="R41c6022b288f4379" /><Relationship Type="http://schemas.openxmlformats.org/officeDocument/2006/relationships/slideLayout" Target="/ppt/slideLayouts/slideLayout4.xml" Id="R343febd159c04eac" /><Relationship Type="http://schemas.openxmlformats.org/officeDocument/2006/relationships/slideLayout" Target="/ppt/slideLayouts/slideLayout5.xml" Id="R203c43304e404bd9" /><Relationship Type="http://schemas.openxmlformats.org/officeDocument/2006/relationships/slideLayout" Target="/ppt/slideLayouts/slideLayout6.xml" Id="Ra98873bb2d2a41ae" /><Relationship Type="http://schemas.openxmlformats.org/officeDocument/2006/relationships/slideLayout" Target="/ppt/slideLayouts/slideLayout7.xml" Id="R691e6cdf466d44cb" /><Relationship Type="http://schemas.openxmlformats.org/officeDocument/2006/relationships/slideLayout" Target="/ppt/slideLayouts/slideLayout8.xml" Id="Ra5c878412d40471c" /><Relationship Type="http://schemas.openxmlformats.org/officeDocument/2006/relationships/slideLayout" Target="/ppt/slideLayouts/slideLayout9.xml" Id="Rcef7a8a91b6643f6" /><Relationship Type="http://schemas.openxmlformats.org/officeDocument/2006/relationships/slideLayout" Target="/ppt/slideLayouts/slideLayout10.xml" Id="Rc3e06cd13532441f" /><Relationship Type="http://schemas.openxmlformats.org/officeDocument/2006/relationships/slideLayout" Target="/ppt/slideLayouts/slideLayout11.xml" Id="Rebdbb923f04c4c4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A0F67D8-486A-42CC-A570-A2DB79F91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38B5FE-789D-414D-BC22-FEAF6A43F0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27A10E-1D71-4174-A46D-A1402E39C13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762946-A2F8-4032-A9B1-2A7216007BD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23899D-105E-4CA7-A1A9-F5B6A281323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c2d9cf7ac348f5"/>
    <p:sldLayoutId xmlns:r="http://schemas.openxmlformats.org/officeDocument/2006/relationships" id="2147483650" r:id="Raeaa891e37e54c49"/>
    <p:sldLayoutId xmlns:r="http://schemas.openxmlformats.org/officeDocument/2006/relationships" id="2147483651" r:id="R41c6022b288f4379"/>
    <p:sldLayoutId xmlns:r="http://schemas.openxmlformats.org/officeDocument/2006/relationships" id="2147483652" r:id="R343febd159c04eac"/>
    <p:sldLayoutId xmlns:r="http://schemas.openxmlformats.org/officeDocument/2006/relationships" id="2147483653" r:id="R203c43304e404bd9"/>
    <p:sldLayoutId xmlns:r="http://schemas.openxmlformats.org/officeDocument/2006/relationships" id="2147483654" r:id="Ra98873bb2d2a41ae"/>
    <p:sldLayoutId xmlns:r="http://schemas.openxmlformats.org/officeDocument/2006/relationships" id="2147483655" r:id="R691e6cdf466d44cb"/>
    <p:sldLayoutId xmlns:r="http://schemas.openxmlformats.org/officeDocument/2006/relationships" id="2147483656" r:id="Ra5c878412d40471c"/>
    <p:sldLayoutId xmlns:r="http://schemas.openxmlformats.org/officeDocument/2006/relationships" id="2147483657" r:id="Rcef7a8a91b6643f6"/>
    <p:sldLayoutId xmlns:r="http://schemas.openxmlformats.org/officeDocument/2006/relationships" id="2147483658" r:id="Rc3e06cd13532441f"/>
    <p:sldLayoutId xmlns:r="http://schemas.openxmlformats.org/officeDocument/2006/relationships" id="2147483659" r:id="Rebdbb923f04c4c47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0798de535846d9" /><Relationship Type="http://schemas.openxmlformats.org/officeDocument/2006/relationships/notesSlide" Target="/ppt/notesSlides/notesSlide1.xml" Id="Ra9970a9d03cc4d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547dbe0e36452f" /><Relationship Type="http://schemas.openxmlformats.org/officeDocument/2006/relationships/notesSlide" Target="/ppt/notesSlides/notesSlide2.xml" Id="Rf09883a3cc5c4a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4e672d4afc42a8" /><Relationship Type="http://schemas.openxmlformats.org/officeDocument/2006/relationships/notesSlide" Target="/ppt/notesSlides/notesSlide3.xml" Id="Rb8fa8386b86049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d9678c241548a6" /><Relationship Type="http://schemas.openxmlformats.org/officeDocument/2006/relationships/image" Target="/ppt/media/image.png" Id="R45e7a51418be4ea9" /><Relationship Type="http://schemas.openxmlformats.org/officeDocument/2006/relationships/notesSlide" Target="/ppt/notesSlides/notesSlide4.xml" Id="Rdb3b8a41625e44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df0c4700124b40" /><Relationship Type="http://schemas.openxmlformats.org/officeDocument/2006/relationships/image" Target="/ppt/media/image2.png" Id="Rf7bf0b93644a4493" /><Relationship Type="http://schemas.openxmlformats.org/officeDocument/2006/relationships/notesSlide" Target="/ppt/notesSlides/notesSlide5.xml" Id="Ra05e6c4f2f8244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133dffef734122" /><Relationship Type="http://schemas.openxmlformats.org/officeDocument/2006/relationships/image" Target="/ppt/media/image3.png" Id="R79126b99fd0e400d" /><Relationship Type="http://schemas.openxmlformats.org/officeDocument/2006/relationships/notesSlide" Target="/ppt/notesSlides/notesSlide6.xml" Id="R5f3f8a56b74e43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2f518679aa48f6" /><Relationship Type="http://schemas.openxmlformats.org/officeDocument/2006/relationships/image" Target="/ppt/media/image4.png" Id="Reece29bbe264405a" /><Relationship Type="http://schemas.openxmlformats.org/officeDocument/2006/relationships/notesSlide" Target="/ppt/notesSlides/notesSlide7.xml" Id="Rcf159979b9f547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b901bc68b344dd" /><Relationship Type="http://schemas.openxmlformats.org/officeDocument/2006/relationships/image" Target="/ppt/media/image5.png" Id="R01fa57aad8254ead" /><Relationship Type="http://schemas.openxmlformats.org/officeDocument/2006/relationships/notesSlide" Target="/ppt/notesSlides/notesSlide8.xml" Id="R29d00beebab340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4be90d81434e9a" /><Relationship Type="http://schemas.openxmlformats.org/officeDocument/2006/relationships/image" Target="/ppt/media/image6.png" Id="Rb2c9a634345d4447" /><Relationship Type="http://schemas.openxmlformats.org/officeDocument/2006/relationships/notesSlide" Target="/ppt/notesSlides/notesSlide9.xml" Id="Raeb49a447d4b45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14f52eeb834761" /><Relationship Type="http://schemas.openxmlformats.org/officeDocument/2006/relationships/image" Target="/ppt/media/image7.png" Id="R355e39a250104fe1" /><Relationship Type="http://schemas.openxmlformats.org/officeDocument/2006/relationships/notesSlide" Target="/ppt/notesSlides/notesSlide10.xml" Id="R7ddbf79d414841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2347b934914d46" /><Relationship Type="http://schemas.openxmlformats.org/officeDocument/2006/relationships/notesSlide" Target="/ppt/notesSlides/notesSlide11.xml" Id="R448ce1fd74e441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5C5DCD-87BC-43E2-BBDB-AEF72E4D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0C1B83E-440C-4F71-94C4-A4D46618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DCDD001-6585-48CE-9344-6C573800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7448AEF-2B2E-4CD7-8133-E4336C04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9B0AFD4-E5C9-46ED-9D9C-63C16E84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7008B65-5010-4543-A0D8-DD5A0AC2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845814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26B1B75-1C5E-46B7-9361-F9B830F1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AD1AC5-2B50-4084-AEAF-C916833F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E5A4DF6-BF5E-43B3-84E0-0F2A2BEA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515600" cy="302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背景与问题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统一建模框架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关键执行机制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实现与案例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扩展与展望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总结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4E6B226-3550-4006-BB09-A240DC9F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105156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汇报主线：先说明为什么需要统一建模，再说明模型如何沿共同链路运行。</a:t>
            </a:r>
            <a:endParaRPr sz="17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3D3F77-3321-45FE-B1EA-D64722A3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6ABCC67-3F6A-4719-BA6E-3532B2F0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708866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094F74-2AE9-4D16-9669-CCBCA51C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953B72A-C167-46EE-B5FC-1168B268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背景与问题：大模型参与后的执行边界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84227A1-CC57-411C-85F7-2A0EF9FB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4D2C09-1D21-45B6-B56A-3F1795D8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CD48E652-FF36-4A77-8DE3-2C66887F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1275"/>
            <a:ext cx="10620375" cy="76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303030"/>
                </a:solidFill>
              </a:rPr>
              <a:t>随着大模型发展，智慧化学实验室从自动执行任务流程，逐步走向大模型参与决策与控制。</a:t>
            </a:r>
            <a:endParaRPr sz="20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DADDF087-E004-4D39-9CCC-5CAB5B15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615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一次任务执行始终需要说清四件事：</a:t>
            </a:r>
            <a:endParaRPr sz="20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8AB6B2EF-3B20-4108-B497-90B9B2E1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资源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7ED547A8-CB11-4269-834D-A4E16673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如何组织与调用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nchor-31">
            <a:extLst xmlns:a="http://schemas.openxmlformats.org/drawingml/2006/main">
              <a:ext uri="{FF2B5EF4-FFF2-40B4-BE49-F238E27FC236}">
                <a16:creationId xmlns:a16="http://schemas.microsoft.com/office/drawing/2014/main" id="{00DE64D7-618C-4772-B9F5-7D67869C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32">
            <a:extLst xmlns:a="http://schemas.openxmlformats.org/drawingml/2006/main">
              <a:ext uri="{FF2B5EF4-FFF2-40B4-BE49-F238E27FC236}">
                <a16:creationId xmlns:a16="http://schemas.microsoft.com/office/drawing/2014/main" id="{53F00F1F-C86F-4020-884E-5D95C2CA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" name="直接箭头连接符 42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718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56E4F23E-9CD7-4F62-B568-578FE49D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88C522B4-35FA-465F-BFCD-8B799D89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如何随执行演化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nchor-35">
            <a:extLst xmlns:a="http://schemas.openxmlformats.org/drawingml/2006/main">
              <a:ext uri="{FF2B5EF4-FFF2-40B4-BE49-F238E27FC236}">
                <a16:creationId xmlns:a16="http://schemas.microsoft.com/office/drawing/2014/main" id="{0DC9EB49-BD8E-48C0-9EC0-FC6347DD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36">
            <a:extLst xmlns:a="http://schemas.openxmlformats.org/drawingml/2006/main">
              <a:ext uri="{FF2B5EF4-FFF2-40B4-BE49-F238E27FC236}">
                <a16:creationId xmlns:a16="http://schemas.microsoft.com/office/drawing/2014/main" id="{0B29A7E1-6B07-4AAA-9A1C-AF5431E7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直接箭头连接符 47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89597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9" name="text-37">
            <a:extLst xmlns:a="http://schemas.openxmlformats.org/drawingml/2006/main">
              <a:ext uri="{FF2B5EF4-FFF2-40B4-BE49-F238E27FC236}">
                <a16:creationId xmlns:a16="http://schemas.microsoft.com/office/drawing/2014/main" id="{3311CE27-D4D4-4060-8090-B6185E75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-38">
            <a:extLst xmlns:a="http://schemas.openxmlformats.org/drawingml/2006/main">
              <a:ext uri="{FF2B5EF4-FFF2-40B4-BE49-F238E27FC236}">
                <a16:creationId xmlns:a16="http://schemas.microsoft.com/office/drawing/2014/main" id="{BCB02C0D-BDDC-4A66-B8DB-7A065363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如何产生与传递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nchor-39">
            <a:extLst xmlns:a="http://schemas.openxmlformats.org/drawingml/2006/main">
              <a:ext uri="{FF2B5EF4-FFF2-40B4-BE49-F238E27FC236}">
                <a16:creationId xmlns:a16="http://schemas.microsoft.com/office/drawing/2014/main" id="{83DBB4F6-523B-4BBE-979E-6A3BEA0C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40">
            <a:extLst xmlns:a="http://schemas.openxmlformats.org/drawingml/2006/main">
              <a:ext uri="{FF2B5EF4-FFF2-40B4-BE49-F238E27FC236}">
                <a16:creationId xmlns:a16="http://schemas.microsoft.com/office/drawing/2014/main" id="{E698F993-B339-4050-8689-D54C26CF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直接箭头连接符 52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6201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41">
            <a:extLst xmlns:a="http://schemas.openxmlformats.org/drawingml/2006/main">
              <a:ext uri="{FF2B5EF4-FFF2-40B4-BE49-F238E27FC236}">
                <a16:creationId xmlns:a16="http://schemas.microsoft.com/office/drawing/2014/main" id="{44EC7FE7-2EC4-4B9F-BA54-FE8DE89D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边界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-42">
            <a:extLst xmlns:a="http://schemas.openxmlformats.org/drawingml/2006/main">
              <a:ext uri="{FF2B5EF4-FFF2-40B4-BE49-F238E27FC236}">
                <a16:creationId xmlns:a16="http://schemas.microsoft.com/office/drawing/2014/main" id="{5F25DE97-76BE-4ECB-BA29-90ABC1EB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执行是否处于允许范围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-43">
            <a:extLst xmlns:a="http://schemas.openxmlformats.org/drawingml/2006/main">
              <a:ext uri="{FF2B5EF4-FFF2-40B4-BE49-F238E27FC236}">
                <a16:creationId xmlns:a16="http://schemas.microsoft.com/office/drawing/2014/main" id="{A90D8CF9-049C-4304-A405-06D91414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6535"/>
            <a:ext cx="10648950" cy="71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大模型接入后，执行边界问题更加突出：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大模型可以提出什么请求，这些请求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又必须在什么条件下才能执行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？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188B48C4-314D-4B59-A62F-5FFA87DE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821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基本原则：大模型不能拥有特权旁路，所有控制请求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进入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同一套执行链路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-45">
            <a:extLst xmlns:a="http://schemas.openxmlformats.org/drawingml/2006/main">
              <a:ext uri="{FF2B5EF4-FFF2-40B4-BE49-F238E27FC236}">
                <a16:creationId xmlns:a16="http://schemas.microsoft.com/office/drawing/2014/main" id="{02F1D17F-43DB-4EB0-A3F9-0A238E1B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398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因此，需要一套可执行框架，将资源组织、状态演化、数据传递与边界检查统一建模。</a:t>
            </a:r>
            <a:endParaRPr sz="1950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anchor-46">
            <a:extLst xmlns:a="http://schemas.openxmlformats.org/drawingml/2006/main">
              <a:ext uri="{FF2B5EF4-FFF2-40B4-BE49-F238E27FC236}">
                <a16:creationId xmlns:a16="http://schemas.microsoft.com/office/drawing/2014/main" id="{80434F56-51A4-4BB2-833F-E87FB4FF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47">
            <a:extLst xmlns:a="http://schemas.openxmlformats.org/drawingml/2006/main">
              <a:ext uri="{FF2B5EF4-FFF2-40B4-BE49-F238E27FC236}">
                <a16:creationId xmlns:a16="http://schemas.microsoft.com/office/drawing/2014/main" id="{DE7E533E-7ED3-4F50-9CDC-2D5B9206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" name="直接箭头连接符 60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2" name="text-48">
            <a:extLst xmlns:a="http://schemas.openxmlformats.org/drawingml/2006/main">
              <a:ext uri="{FF2B5EF4-FFF2-40B4-BE49-F238E27FC236}">
                <a16:creationId xmlns:a16="http://schemas.microsoft.com/office/drawing/2014/main" id="{F345A4C0-A3CD-4DBA-A01D-9685BAB9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大模型的参与，使统一执行边界的需求更加突出。</a:t>
            </a:r>
            <a:endParaRPr sz="16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73601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B086AE-5201-491D-A278-E39FC6D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C20172E-F608-485F-8486-A8F3DA5A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统一建模框架：从任务执行到模型组织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70FC69A-8BE7-4707-BB04-E85B8098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CBE421F-8037-42B5-AE25-F9E7C2E7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7a51418be4ea9"/>
          <a:stretch xmlns:a="http://schemas.openxmlformats.org/drawingml/2006/main"/>
        </p:blipFill>
        <p:spPr>
          <a:xfrm xmlns:a="http://schemas.openxmlformats.org/drawingml/2006/main">
            <a:off x="952500" y="1438275"/>
            <a:ext cx="10287000" cy="4665890"/>
          </a:xfrm>
          <a:prstGeom xmlns:a="http://schemas.openxmlformats.org/drawingml/2006/main" prst="rect">
            <a:avLst/>
          </a:prstGeom>
        </p:spPr>
      </p:pic>
      <p:sp>
        <p:nvSpPr>
          <p:cNvPr id="20" name="balance-text-1">
            <a:extLst xmlns:a="http://schemas.openxmlformats.org/drawingml/2006/main">
              <a:ext uri="{FF2B5EF4-FFF2-40B4-BE49-F238E27FC236}">
                <a16:creationId xmlns:a16="http://schemas.microsoft.com/office/drawing/2014/main" id="{C0771CE1-8126-4CDF-9774-258FD0AE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从任务执行出发：执行对象形成资源模型，任务过程形成工作流，运行规则形成约束。</a:t>
            </a:r>
          </a:p>
        </p:txBody>
      </p:sp>
      <p:sp>
        <p:nvSpPr>
          <p:cNvPr id="21" name="balance-text-2">
            <a:extLst xmlns:a="http://schemas.openxmlformats.org/drawingml/2006/main">
              <a:ext uri="{FF2B5EF4-FFF2-40B4-BE49-F238E27FC236}">
                <a16:creationId xmlns:a16="http://schemas.microsoft.com/office/drawing/2014/main" id="{20791451-5E50-4339-9053-580D78B6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626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资源层承载能力与状态，工作流层组织步骤与数据，约束层界定执行边界。</a:t>
            </a:r>
          </a:p>
        </p:txBody>
      </p:sp>
    </p:spTree>
    <p:extLst>
      <p:ext uri="{BB962C8B-B14F-4D97-AF65-F5344CB8AC3E}">
        <p14:creationId xmlns:p14="http://schemas.microsoft.com/office/powerpoint/2010/main" val="10640164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D9BDE3-8A13-44E2-AC20-925D79AF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9C8539E-42AB-4026-96CE-D0090B9E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资源层：设备能力与状态机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553BA0-9F53-4003-84BD-923E5FA0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C461FD1-D3BF-4AC2-9330-93483A9A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final-text-2">
            <a:extLst xmlns:a="http://schemas.openxmlformats.org/drawingml/2006/main">
              <a:ext uri="{FF2B5EF4-FFF2-40B4-BE49-F238E27FC236}">
                <a16:creationId xmlns:a16="http://schemas.microsoft.com/office/drawing/2014/main" id="{CAC247B7-F753-44FA-B11F-AE3BD23F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设备对象模型由能力模型与状态机构成，统一描述设备能做什么、操作如何执行。</a:t>
            </a:r>
          </a:p>
        </p:txBody>
      </p:sp>
      <p:sp>
        <p:nvSpPr>
          <p:cNvPr id="9" name="final-text-3">
            <a:extLst xmlns:a="http://schemas.openxmlformats.org/drawingml/2006/main">
              <a:ext uri="{FF2B5EF4-FFF2-40B4-BE49-F238E27FC236}">
                <a16:creationId xmlns:a16="http://schemas.microsoft.com/office/drawing/2014/main" id="{C0F57144-89C3-4B09-AF87-004B0189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10" name="final-text-4">
            <a:extLst xmlns:a="http://schemas.openxmlformats.org/drawingml/2006/main">
              <a:ext uri="{FF2B5EF4-FFF2-40B4-BE49-F238E27FC236}">
                <a16:creationId xmlns:a16="http://schemas.microsoft.com/office/drawing/2014/main" id="{126F5D4C-A716-4EA4-9B83-637080F3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86025"/>
            <a:ext cx="3914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定义设备能力、属性及操作要求。</a:t>
            </a:r>
          </a:p>
        </p:txBody>
      </p:sp>
      <p:sp>
        <p:nvSpPr>
          <p:cNvPr id="11" name="final-text-5">
            <a:extLst xmlns:a="http://schemas.openxmlformats.org/drawingml/2006/main">
              <a:ext uri="{FF2B5EF4-FFF2-40B4-BE49-F238E27FC236}">
                <a16:creationId xmlns:a16="http://schemas.microsoft.com/office/drawing/2014/main" id="{842E2CCB-68C8-47B0-9AAE-D2AE4310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12" name="final-text-6">
            <a:extLst xmlns:a="http://schemas.openxmlformats.org/drawingml/2006/main">
              <a:ext uri="{FF2B5EF4-FFF2-40B4-BE49-F238E27FC236}">
                <a16:creationId xmlns:a16="http://schemas.microsoft.com/office/drawing/2014/main" id="{36C280EC-1862-4932-A6F9-707A5B09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914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依据当前状态处理请求，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发出指令并接收执行反馈。</a:t>
            </a:r>
          </a:p>
        </p:txBody>
      </p:sp>
      <p:sp>
        <p:nvSpPr>
          <p:cNvPr id="13" name="final-text-7">
            <a:extLst xmlns:a="http://schemas.openxmlformats.org/drawingml/2006/main">
              <a:ext uri="{FF2B5EF4-FFF2-40B4-BE49-F238E27FC236}">
                <a16:creationId xmlns:a16="http://schemas.microsoft.com/office/drawing/2014/main" id="{A60AF2CC-BF94-4B75-976A-EF003124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481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共同入口</a:t>
            </a:r>
          </a:p>
        </p:txBody>
      </p:sp>
      <p:sp>
        <p:nvSpPr>
          <p:cNvPr id="14" name="final-text-8">
            <a:extLst xmlns:a="http://schemas.openxmlformats.org/drawingml/2006/main">
              <a:ext uri="{FF2B5EF4-FFF2-40B4-BE49-F238E27FC236}">
                <a16:creationId xmlns:a16="http://schemas.microsoft.com/office/drawing/2014/main" id="{E495A9C7-E297-45CA-BA38-5284F737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86325"/>
            <a:ext cx="3914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人工、流程与大模型的请求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遵守相同的状态规则。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f0b93644a4493"/>
          <a:stretch xmlns:a="http://schemas.openxmlformats.org/drawingml/2006/main"/>
        </p:blipFill>
        <p:spPr>
          <a:xfrm xmlns:a="http://schemas.openxmlformats.org/drawingml/2006/main">
            <a:off x="4810125" y="1752600"/>
            <a:ext cx="6953250" cy="3916704"/>
          </a:xfrm>
          <a:prstGeom xmlns:a="http://schemas.openxmlformats.org/drawingml/2006/main" prst="rect">
            <a:avLst/>
          </a:prstGeom>
        </p:spPr>
      </p:pic>
      <p:sp>
        <p:nvSpPr>
          <p:cNvPr id="16" name="final-text-9">
            <a:extLst xmlns:a="http://schemas.openxmlformats.org/drawingml/2006/main">
              <a:ext uri="{FF2B5EF4-FFF2-40B4-BE49-F238E27FC236}">
                <a16:creationId xmlns:a16="http://schemas.microsoft.com/office/drawing/2014/main" id="{7280C4AD-BE16-440D-973F-2A6473DA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能力定义与状态演化共同构成设备操作的模型语义。</a:t>
            </a:r>
          </a:p>
        </p:txBody>
      </p:sp>
    </p:spTree>
    <p:extLst>
      <p:ext uri="{BB962C8B-B14F-4D97-AF65-F5344CB8AC3E}">
        <p14:creationId xmlns:p14="http://schemas.microsoft.com/office/powerpoint/2010/main" val="18377754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5248F6-CDBF-4A61-9D16-94411E77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89CE25A-15EB-4BFA-8C46-77C8DD0D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工作流层：节点、接口与触发器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A6914BB-DEFE-495A-BC44-B82AFB21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530816-1304-4C93-91A2-7DAEFD27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final-text-10">
            <a:extLst xmlns:a="http://schemas.openxmlformats.org/drawingml/2006/main">
              <a:ext uri="{FF2B5EF4-FFF2-40B4-BE49-F238E27FC236}">
                <a16:creationId xmlns:a16="http://schemas.microsoft.com/office/drawing/2014/main" id="{CE858742-BD36-4E9D-BE05-7FD74755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工作流组织任务步骤与数据依赖，节点通过接口和触发器协同执行。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26b99fd0e400d"/>
          <a:stretch xmlns:a="http://schemas.openxmlformats.org/drawingml/2006/main"/>
        </p:blipFill>
        <p:spPr>
          <a:xfrm xmlns:a="http://schemas.openxmlformats.org/drawingml/2006/main">
            <a:off x="1409700" y="1514475"/>
            <a:ext cx="9372600" cy="4662451"/>
          </a:xfrm>
          <a:prstGeom xmlns:a="http://schemas.openxmlformats.org/drawingml/2006/main" prst="rect">
            <a:avLst/>
          </a:prstGeom>
        </p:spPr>
      </p:pic>
      <p:sp>
        <p:nvSpPr>
          <p:cNvPr id="9" name="final-text-11">
            <a:extLst xmlns:a="http://schemas.openxmlformats.org/drawingml/2006/main">
              <a:ext uri="{FF2B5EF4-FFF2-40B4-BE49-F238E27FC236}">
                <a16:creationId xmlns:a16="http://schemas.microsoft.com/office/drawing/2014/main" id="{00FB2D06-DCA7-4B7B-A1A4-46BF171F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反馈更新变量，触发器判断条件，再决定发出请求或推进后续步骤。</a:t>
            </a:r>
          </a:p>
        </p:txBody>
      </p:sp>
    </p:spTree>
    <p:extLst>
      <p:ext uri="{BB962C8B-B14F-4D97-AF65-F5344CB8AC3E}">
        <p14:creationId xmlns:p14="http://schemas.microsoft.com/office/powerpoint/2010/main" val="12082133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B1C6A2-9964-4B27-B63C-DC322063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E63012E-0EBE-49EA-BCC5-DB7071EA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约束层：观察执行并采取动作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55386A-3E7C-42AD-9DD2-914F5B96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1B731-590D-4F28-8D1B-BB4B1C5C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final-text-12">
            <a:extLst xmlns:a="http://schemas.openxmlformats.org/drawingml/2006/main">
              <a:ext uri="{FF2B5EF4-FFF2-40B4-BE49-F238E27FC236}">
                <a16:creationId xmlns:a16="http://schemas.microsoft.com/office/drawing/2014/main" id="{AD4E297C-5D1C-4324-9AE1-FF89B58D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同时观察资源状态与任务上下文，通过相应接口返回处理动作。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e29bbe264405a"/>
          <a:stretch xmlns:a="http://schemas.openxmlformats.org/drawingml/2006/main"/>
        </p:blipFill>
        <p:spPr>
          <a:xfrm xmlns:a="http://schemas.openxmlformats.org/drawingml/2006/main">
            <a:off x="457200" y="1609725"/>
            <a:ext cx="11277600" cy="3412958"/>
          </a:xfrm>
          <a:prstGeom xmlns:a="http://schemas.openxmlformats.org/drawingml/2006/main" prst="rect">
            <a:avLst/>
          </a:prstGeom>
        </p:spPr>
      </p:pic>
      <p:sp>
        <p:nvSpPr>
          <p:cNvPr id="10" name="final-text-13">
            <a:extLst xmlns:a="http://schemas.openxmlformats.org/drawingml/2006/main">
              <a:ext uri="{FF2B5EF4-FFF2-40B4-BE49-F238E27FC236}">
                <a16:creationId xmlns:a16="http://schemas.microsoft.com/office/drawing/2014/main" id="{ECED4413-2219-4058-93AC-55EEB2C9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3600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11" name="final-text-14">
            <a:extLst xmlns:a="http://schemas.openxmlformats.org/drawingml/2006/main">
              <a:ext uri="{FF2B5EF4-FFF2-40B4-BE49-F238E27FC236}">
                <a16:creationId xmlns:a16="http://schemas.microsoft.com/office/drawing/2014/main" id="{896675DB-BE98-4B64-A633-892D9814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设备状态机本地处理</a:t>
            </a:r>
          </a:p>
        </p:txBody>
      </p:sp>
      <p:sp>
        <p:nvSpPr>
          <p:cNvPr id="12" name="final-text-15">
            <a:extLst xmlns:a="http://schemas.openxmlformats.org/drawingml/2006/main">
              <a:ext uri="{FF2B5EF4-FFF2-40B4-BE49-F238E27FC236}">
                <a16:creationId xmlns:a16="http://schemas.microsoft.com/office/drawing/2014/main" id="{A018588F-75B9-4337-BDF8-7A0F9E52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24475"/>
            <a:ext cx="3600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</p:txBody>
      </p:sp>
      <p:sp>
        <p:nvSpPr>
          <p:cNvPr id="13" name="final-text-16">
            <a:extLst xmlns:a="http://schemas.openxmlformats.org/drawingml/2006/main">
              <a:ext uri="{FF2B5EF4-FFF2-40B4-BE49-F238E27FC236}">
                <a16:creationId xmlns:a16="http://schemas.microsoft.com/office/drawing/2014/main" id="{2A62C820-D4EE-4DFA-86A7-B4E85C32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743575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持续监督实验室运行</a:t>
            </a:r>
          </a:p>
        </p:txBody>
      </p:sp>
      <p:sp>
        <p:nvSpPr>
          <p:cNvPr id="14" name="final-text-17">
            <a:extLst xmlns:a="http://schemas.openxmlformats.org/drawingml/2006/main">
              <a:ext uri="{FF2B5EF4-FFF2-40B4-BE49-F238E27FC236}">
                <a16:creationId xmlns:a16="http://schemas.microsoft.com/office/drawing/2014/main" id="{CE7DCD56-8B64-421E-B0FE-C90F4F38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24475"/>
            <a:ext cx="3600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任务约束</a:t>
            </a:r>
          </a:p>
        </p:txBody>
      </p:sp>
      <p:sp>
        <p:nvSpPr>
          <p:cNvPr id="15" name="final-text-18">
            <a:extLst xmlns:a="http://schemas.openxmlformats.org/drawingml/2006/main">
              <a:ext uri="{FF2B5EF4-FFF2-40B4-BE49-F238E27FC236}">
                <a16:creationId xmlns:a16="http://schemas.microsoft.com/office/drawing/2014/main" id="{57D1ED2D-9A09-4D22-AF63-D1ED739D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743575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在任务执行期间生效</a:t>
            </a:r>
          </a:p>
        </p:txBody>
      </p:sp>
    </p:spTree>
    <p:extLst>
      <p:ext uri="{BB962C8B-B14F-4D97-AF65-F5344CB8AC3E}">
        <p14:creationId xmlns:p14="http://schemas.microsoft.com/office/powerpoint/2010/main" val="15964549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BD4CE8-8646-4D4E-8FA6-C1AFD6D5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3FB768B-1BCB-4E9E-8BFC-04BD7FA2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关键机制：统一执行链路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DF0FA4-693B-4362-8C15-43CED575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7E7C17B-1DAB-4E2C-BE62-A8E05115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a57aad8254ead"/>
          <a:stretch xmlns:a="http://schemas.openxmlformats.org/drawingml/2006/main"/>
        </p:blipFill>
        <p:spPr>
          <a:xfrm xmlns:a="http://schemas.openxmlformats.org/drawingml/2006/main">
            <a:off x="1438275" y="1028700"/>
            <a:ext cx="9315450" cy="4768394"/>
          </a:xfrm>
          <a:prstGeom xmlns:a="http://schemas.openxmlformats.org/drawingml/2006/main" prst="rect">
            <a:avLst/>
          </a:prstGeom>
        </p:spPr>
      </p:pic>
      <p:sp>
        <p:nvSpPr>
          <p:cNvPr id="16" name="standalone-caption-mask">
            <a:extLst xmlns:a="http://schemas.openxmlformats.org/drawingml/2006/main">
              <a:ext uri="{FF2B5EF4-FFF2-40B4-BE49-F238E27FC236}">
                <a16:creationId xmlns:a16="http://schemas.microsoft.com/office/drawing/2014/main" id="{F2B3B324-A100-4A25-A8C6-C8B90ABE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390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balance-text-3">
            <a:extLst xmlns:a="http://schemas.openxmlformats.org/drawingml/2006/main">
              <a:ext uri="{FF2B5EF4-FFF2-40B4-BE49-F238E27FC236}">
                <a16:creationId xmlns:a16="http://schemas.microsoft.com/office/drawing/2014/main" id="{E198EDB9-85D1-43A2-8857-3122DB72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控制请求经设备状态机与 Adapter 执行，反馈返回模型并驱动任务推进。</a:t>
            </a:r>
          </a:p>
        </p:txBody>
      </p:sp>
      <p:sp>
        <p:nvSpPr>
          <p:cNvPr id="18" name="balance-text-4">
            <a:extLst xmlns:a="http://schemas.openxmlformats.org/drawingml/2006/main">
              <a:ext uri="{FF2B5EF4-FFF2-40B4-BE49-F238E27FC236}">
                <a16:creationId xmlns:a16="http://schemas.microsoft.com/office/drawing/2014/main" id="{A353A946-6BB8-4DB1-8D36-29DB94B0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人工、流程与大模型共用设备模型入口，遵守相同状态规则与约束。</a:t>
            </a:r>
          </a:p>
        </p:txBody>
      </p:sp>
    </p:spTree>
    <p:extLst>
      <p:ext uri="{BB962C8B-B14F-4D97-AF65-F5344CB8AC3E}">
        <p14:creationId xmlns:p14="http://schemas.microsoft.com/office/powerpoint/2010/main" val="20033768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D4173D-788A-4254-A27F-326AFCD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EC755AA-B9CC-425C-8D9B-C6AB820C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实现与案例：反应釜加热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D7FFE68-576C-49EF-AAFA-EA01C175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6455AEF-C84B-4B49-9972-B13531FF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9a634345d4447"/>
          <a:stretch xmlns:a="http://schemas.openxmlformats.org/drawingml/2006/main"/>
        </p:blipFill>
        <p:spPr>
          <a:xfrm xmlns:a="http://schemas.openxmlformats.org/drawingml/2006/main">
            <a:off x="1676400" y="1457325"/>
            <a:ext cx="8839200" cy="4573634"/>
          </a:xfrm>
          <a:prstGeom xmlns:a="http://schemas.openxmlformats.org/drawingml/2006/main" prst="rect">
            <a:avLst/>
          </a:prstGeom>
        </p:spPr>
      </p:pic>
      <p:sp>
        <p:nvSpPr>
          <p:cNvPr id="11" name="balance-text-5">
            <a:extLst xmlns:a="http://schemas.openxmlformats.org/drawingml/2006/main">
              <a:ext uri="{FF2B5EF4-FFF2-40B4-BE49-F238E27FC236}">
                <a16:creationId xmlns:a16="http://schemas.microsoft.com/office/drawing/2014/main" id="{201C3010-8F89-485A-83AB-77A9EDD8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SmartLab 2.0：工作流与状态机引擎执行模型，MQTT Adapter 完成设备通信。</a:t>
            </a:r>
          </a:p>
        </p:txBody>
      </p:sp>
      <p:sp>
        <p:nvSpPr>
          <p:cNvPr id="12" name="balance-text-6">
            <a:extLst xmlns:a="http://schemas.openxmlformats.org/drawingml/2006/main">
              <a:ext uri="{FF2B5EF4-FFF2-40B4-BE49-F238E27FC236}">
                <a16:creationId xmlns:a16="http://schemas.microsoft.com/office/drawing/2014/main" id="{BFCF84B7-E4F8-4996-83ED-EAA15F27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节点满足完成条件后推进；温度越界或设备异常触发相应约束处理。</a:t>
            </a:r>
          </a:p>
        </p:txBody>
      </p:sp>
    </p:spTree>
    <p:extLst>
      <p:ext uri="{BB962C8B-B14F-4D97-AF65-F5344CB8AC3E}">
        <p14:creationId xmlns:p14="http://schemas.microsoft.com/office/powerpoint/2010/main" val="250676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52EAF-7527-46E2-9F8F-7C4DDBF8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C5C650-05CF-496F-94D7-2FF086A9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扩展与展望：仿真反馈闭环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1E13634-CBED-478A-A5B6-0A091E0A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13FD1DE-4213-4DD4-BB35-350FC595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e39a250104fe1"/>
          <a:stretch xmlns:a="http://schemas.openxmlformats.org/drawingml/2006/main"/>
        </p:blipFill>
        <p:spPr>
          <a:xfrm xmlns:a="http://schemas.openxmlformats.org/drawingml/2006/main">
            <a:off x="1390650" y="1438275"/>
            <a:ext cx="9410700" cy="4632587"/>
          </a:xfrm>
          <a:prstGeom xmlns:a="http://schemas.openxmlformats.org/drawingml/2006/main" prst="rect">
            <a:avLst/>
          </a:prstGeom>
        </p:spPr>
      </p:pic>
      <p:sp>
        <p:nvSpPr>
          <p:cNvPr id="13" name="balance-text-7">
            <a:extLst xmlns:a="http://schemas.openxmlformats.org/drawingml/2006/main">
              <a:ext uri="{FF2B5EF4-FFF2-40B4-BE49-F238E27FC236}">
                <a16:creationId xmlns:a16="http://schemas.microsoft.com/office/drawing/2014/main" id="{F6939B7C-9800-430D-B54C-44A92841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上层模型与规则保持一致，仿真和实机在 Adapter 层分支。</a:t>
            </a:r>
          </a:p>
        </p:txBody>
      </p:sp>
      <p:sp>
        <p:nvSpPr>
          <p:cNvPr id="14" name="balance-text-8">
            <a:extLst xmlns:a="http://schemas.openxmlformats.org/drawingml/2006/main">
              <a:ext uri="{FF2B5EF4-FFF2-40B4-BE49-F238E27FC236}">
                <a16:creationId xmlns:a16="http://schemas.microsoft.com/office/drawing/2014/main" id="{59BF0379-9A44-4BE3-A56A-2E948138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大模型依据仿真反馈调整方案，满足预设条件后进入实机执行。</a:t>
            </a:r>
          </a:p>
        </p:txBody>
      </p:sp>
    </p:spTree>
    <p:extLst>
      <p:ext uri="{BB962C8B-B14F-4D97-AF65-F5344CB8AC3E}">
        <p14:creationId xmlns:p14="http://schemas.microsoft.com/office/powerpoint/2010/main" val="21031544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EA4E4D-6B0B-4223-B737-0188B203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BA489E6-2D27-4B1A-8642-F3CEB5FF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总结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A70110A-2066-4F5A-93CE-49004795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B761A17-F8FB-4B5B-92A6-4C5658D0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谢谢各位，欢迎提问。</a:t>
            </a:r>
            <a:endParaRPr sz="22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FB04C9E-3875-411E-B39A-A85ED4D1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5075022-5A85-4E19-8396-2E476676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ed-text-30">
            <a:extLst xmlns:a="http://schemas.openxmlformats.org/drawingml/2006/main">
              <a:ext uri="{FF2B5EF4-FFF2-40B4-BE49-F238E27FC236}">
                <a16:creationId xmlns:a16="http://schemas.microsoft.com/office/drawing/2014/main" id="{7EC31C0A-743F-4FFA-91FC-ED6A9CCA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6215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统一建模</a:t>
            </a:r>
          </a:p>
        </p:txBody>
      </p:sp>
      <p:sp>
        <p:nvSpPr>
          <p:cNvPr id="10" name="edited-text-31">
            <a:extLst xmlns:a="http://schemas.openxmlformats.org/drawingml/2006/main">
              <a:ext uri="{FF2B5EF4-FFF2-40B4-BE49-F238E27FC236}">
                <a16:creationId xmlns:a16="http://schemas.microsoft.com/office/drawing/2014/main" id="{CDAE211F-9A04-445B-9104-2E9A3C48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7167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资源、工作流与约束共同描述实验室任务执行。</a:t>
            </a:r>
          </a:p>
        </p:txBody>
      </p:sp>
      <p:sp>
        <p:nvSpPr>
          <p:cNvPr id="11" name="edited-text-32">
            <a:extLst xmlns:a="http://schemas.openxmlformats.org/drawingml/2006/main">
              <a:ext uri="{FF2B5EF4-FFF2-40B4-BE49-F238E27FC236}">
                <a16:creationId xmlns:a16="http://schemas.microsoft.com/office/drawing/2014/main" id="{FCE1130A-2221-4051-886F-2266AE8B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28925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明确语义</a:t>
            </a:r>
          </a:p>
        </p:txBody>
      </p:sp>
      <p:sp>
        <p:nvSpPr>
          <p:cNvPr id="12" name="edited-text-33">
            <a:extLst xmlns:a="http://schemas.openxmlformats.org/drawingml/2006/main">
              <a:ext uri="{FF2B5EF4-FFF2-40B4-BE49-F238E27FC236}">
                <a16:creationId xmlns:a16="http://schemas.microsoft.com/office/drawing/2014/main" id="{BA502BB1-5EDA-4A8E-9E45-D8A9DA4B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8450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变量空间、接口、触发器与状态机组织模型运行。</a:t>
            </a:r>
          </a:p>
        </p:txBody>
      </p:sp>
      <p:sp>
        <p:nvSpPr>
          <p:cNvPr id="13" name="edited-text-34">
            <a:extLst xmlns:a="http://schemas.openxmlformats.org/drawingml/2006/main">
              <a:ext uri="{FF2B5EF4-FFF2-40B4-BE49-F238E27FC236}">
                <a16:creationId xmlns:a16="http://schemas.microsoft.com/office/drawing/2014/main" id="{30A7D212-B7AA-49B7-9DFA-C1E5AD32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共同链路</a:t>
            </a:r>
          </a:p>
        </p:txBody>
      </p:sp>
      <p:sp>
        <p:nvSpPr>
          <p:cNvPr id="14" name="edited-text-35">
            <a:extLst xmlns:a="http://schemas.openxmlformats.org/drawingml/2006/main">
              <a:ext uri="{FF2B5EF4-FFF2-40B4-BE49-F238E27FC236}">
                <a16:creationId xmlns:a16="http://schemas.microsoft.com/office/drawing/2014/main" id="{85254E97-D705-47FC-9FD8-22A60DEA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0522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人工、流程与大模型共用执行机制，并支持仿真扩展。</a:t>
            </a:r>
          </a:p>
        </p:txBody>
      </p:sp>
      <p:sp>
        <p:nvSpPr>
          <p:cNvPr id="15" name="edited-text-36">
            <a:extLst xmlns:a="http://schemas.openxmlformats.org/drawingml/2006/main">
              <a:ext uri="{FF2B5EF4-FFF2-40B4-BE49-F238E27FC236}">
                <a16:creationId xmlns:a16="http://schemas.microsoft.com/office/drawing/2014/main" id="{724DB0A6-9FA4-4FCF-8CED-0A7A035F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以模型表达具体实验室与任务，以统一规则驱动执行。</a:t>
            </a:r>
          </a:p>
        </p:txBody>
      </p:sp>
    </p:spTree>
    <p:extLst>
      <p:ext uri="{BB962C8B-B14F-4D97-AF65-F5344CB8AC3E}">
        <p14:creationId xmlns:p14="http://schemas.microsoft.com/office/powerpoint/2010/main" val="17446272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2026-09-10T01:53:35.6850000Z</dcterms:created>
  <dcterms:modified xsi:type="dcterms:W3CDTF">2026-09-10T01:53:35.6850000Z</dcterms:modified>
</coreProperties>
</file>